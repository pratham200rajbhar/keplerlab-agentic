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Cryptography &amp; Data Integrity in 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B82F6"/>
                </a:solidFill>
              </a:defRPr>
            </a:pPr>
            <a:r>
              <a:t>Foundational Concepts and Structural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Cryptography secures communication via encryption, decryption, keys, and ciphers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Two core types: symmetric-key and asymmetric-key cryptography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Hash functions ensure deterministic, efficient, collision-resistant, irreversible data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 split visual: left side shows plaintext being transformed into ciphertext via a cipher function with a key; right side shows a Merkle tree with leaf nodes labeled 'TX1', 'TX2', etc., and internal nodes labeled 'H(TX1||TX2)', 'H(TX3||TX4)', converging to a root hash labeled 'Merkle Root'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Hash Functions: Core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Deterministic: Same input always produces identical output hash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Pre-image resistant: Given a hash, it is computationally infeasible to reverse-engineer the original input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Collision resistant: It is computationally infeasible to find two distinct inputs that produce the same 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Computationally efficient: Hashing any-sized input is fast and scalable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Cannot be reverse engineered: No practical method to reconstruct input from hash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 stylized hash function diagram: three input blocks labeled 'A', 'B', 'C' each feed into a black box labeled 'H(x)', outputting hashes 'hA', 'hB', 'hC'. Arrows indicate no reverse path from hash to input. A small inset shows two different inputs 'X' and 'Y' both attempting to map to same hash 'Z' with a red 'X' over the collision to indicate infeasibility.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Merkle Trees: Structure and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A Merkle tree is a hash-based tree data structure where each non-leaf node is the hash of its child nodes, used for efficient and secure data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Leaf nodes represent data blocks (e.g., transaction IDs); internal nodes aggregate hashes upward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All leaf nodes are at same depth and left-aligned, enabling balanced verification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Validates data integrity: Detects tampering via hash mismatch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Efficient verification: Only O(log n) hashes needed to verify a leaf node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Minimal disk and bandwidth usage: Only root hash and small proof needed for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 binary Merkle tree with 4 leaf nodes labeled 'TX1', 'TX2', 'TX3', 'TX4', each with 64-character hex strings. Internal nodes labeled 'H12 = H(TX1 || TX2)', 'H34 = H(TX3 || TX4)', and root 'H1234 = H(H12 || H34)'. A highlighted path from TX2 to root shows only two hashes needed for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Consensus Protocols: Byzantine Fault Tolerance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Definition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All correct processes must agree on the same output 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Weak 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Each correct process’s output must be the input of some correct process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Strong 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If all correct processes receive the same input, all must output that 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All processes must eventually decide on an output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These four properties define robust agreement in the presence of Byzantine (malicious or faulty) nodes.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 network of 7 nodes: 4 labeled 'Correct', 2 labeled 'Byzantine', 1 labeled 'Crashed'. Arrows show messages between nodes converging to a single decision value at all correct nodes. A legend box highlights the four properties with icons: lock for Agreement, checkmark for Validity, clock for Termination.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Consensus Mechanisms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Key Mechanism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Proof of Work (PoW)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Miners solve computationally hard puzzles to propose blocks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Proof of Stake (PoS)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Block proposer selected based on amount of cryptocurrency held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Practical Byzantine Fault Tolerance (PBFT)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Replicas reach consensus via message exchange with ≤(n−1)/3 faulty nodes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Delegated Proof of Stake (DPoS)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Token holders elect delegates to validate blocks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Proof of Burn (PoB)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Miners prove commitment by burning coins (sending to unspendable address)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Proof of Elapsed Time (PoET)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Nodes wait a random time; shortest wait wins block creation (for permissioned ledgers)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Each mechanism balances security, scalability, and decentralization differently, suited to specific network trust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 circular diagram with 7 consensus mechanisms arranged radially. Each labeled with its name and a small icon: hammer for PoW, coin stack for PoS, shield for PBFT, crown for DPoS, flame for PoB, hard drive for PoC, hourglass for PoET. Arrows point inward to a central node labeled 'Consensus Goal'.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Zero-Knowledge Proofs vs. Zero Trust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Zero-Knowledge Proof (ZKP)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Cryptographic method where prover convinces verifier of a statement’s truth without revealing underlying data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Zero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 model assuming no implicit trust; all users/devices must be authenticated and continuously validated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ZKPs can be embedded in zero-trust frameworks—for example, passwordless authentication without exposing credentials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ZKPs enable privacy-preserving verification; zero trust enables secure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While conceptually distinct, ZKPs serve as a technical enabler within zero-trust architectures.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Two side-by-side panels. Left: A prover holds a secret 'X', shows a proof 'π' to a verifier, who nods in acceptance—no secret revealed. Right: A user at a firewall gate must present credentials, re-authenticate, and be continuously monitored before accessing internal resources. A label 'ZKP → Zero Trust' connects the two panels.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Hash Chains in 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Hash chains link data blocks sequentially using cryptographic hash functions, forming tamper-evident sequences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Each block contains hash of prior block, making retroactive modification detectable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Widely used in blockchain and distributed ledgers to ensure decentralized integrity and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Unlike Merkle trees, hash chains preserve temporal ordering and are ideal for append-only logs and audit trails.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 linear chain of 5 blocks: Block 1 → Block 2 → Block 3 → Block 4 → Block 5. Each block labeled with 'Data + H(prev_hash)'. A red 'X' overlays Block 3’s data to show tampering, with a warning icon at Block 4 indicating hash mismatch. Arrows point forward only—no backward modification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Blockchain Protocol Vulnerabilities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Vulnerabilities arise from poor protocol, procedure, or system design—not just implementation flaws.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Design flaws include consensus manipulation, incentive misalignment, and insufficient access control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Defense infrastructure must integrate cryptographic best practices, formal verification, and layered access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 shield icon with cracks, labeled 'Protocol Vulnerability'. Arrows point from three sources: 'Poor Consensus Design', 'Insecure IAM', 'Weak Hash Usage'—each feeding into the shield. A second set of arrows from 'Formal Verification', 'Zero Trust IAM', 'Merkle Tree Integrity' points into the shield to repair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Blockchain Benefits in Insurance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Faster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Processing reduced from days/weeks to minutes/hours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Reduced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Duplicate or false claims easily detected via transparent ledger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Full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All actions visible to authorized participants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Better Recordkeeping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Every change permanently recorded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Cuts paperwork and human error via smart contracts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Cost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Lowers administrative overhead for insurers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Immutable, shared ledger enables real-time auditability and automated validation across stakeholders.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An insurance claim flow: Claim submitted → Smart contract validates → Ledger updates → Payout triggered. At each step, icons show transparency: a magnifying glass over the ledger, a lock icon, a clock ticking fast, and a dollar sign with a downward arrow. Three stakeholders—insurer, insured, regulator—stand around the ledger, all seeing the same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Decentralization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No single entity controls blockchain; governance is distributed among nodes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Ledger access requires an IAM system for full administrative and monitoring capabilities</a:t>
            </a:r>
          </a:p>
          <a:p>
            <a:pPr>
              <a:spcAft>
                <a:spcPts val="1000"/>
              </a:spcAft>
              <a:defRPr sz="2200">
                <a:solidFill>
                  <a:srgbClr val="94A3B8"/>
                </a:solidFill>
              </a:defRPr>
            </a:pPr>
            <a:r>
              <a:t>  •  Authorized participants can monitor and analyze transaction state throughout its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Decentralization enhances resilience and trust, while IAM ensures least-privilege access and auditability.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94A3B8"/>
                </a:solidFill>
              </a:defRPr>
            </a:pPr>
            <a:r>
              <a:t>Visual suggested: A globe with interconnected nodes (no central node highlighted). Each node labeled 'Validator', 'Miner', or 'Full Node'. Arrows show bidirectional consensus. Overlay: an IAM dashboard with user roles (Admin, Auditor, Insurer), permission toggles, and real-time session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