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752990" cy="975299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1F5F9"/>
                </a:solidFill>
              </a:defRPr>
            </a:pPr>
            <a:r>
              <a:t>Distributed Systems &amp; Cloud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38BDF8"/>
                </a:solidFill>
              </a:defRPr>
            </a:pPr>
            <a:r>
              <a:t>From RPC to Web Services and IaaS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94A3B8"/>
                </a:solidFill>
              </a:defRPr>
            </a:pPr>
            <a:r>
              <a:t>  •  Distributed systems hide heterogeneity via transparency</a:t>
            </a:r>
          </a:p>
          <a:p>
            <a:pPr>
              <a:spcAft>
                <a:spcPts val="1000"/>
              </a:spcAft>
              <a:defRPr sz="2000">
                <a:solidFill>
                  <a:srgbClr val="94A3B8"/>
                </a:solidFill>
              </a:defRPr>
            </a:pPr>
            <a:r>
              <a:t>  •  Middleware enables cross-platform communication</a:t>
            </a:r>
          </a:p>
          <a:p>
            <a:pPr>
              <a:spcAft>
                <a:spcPts val="1000"/>
              </a:spcAft>
              <a:defRPr sz="2000">
                <a:solidFill>
                  <a:srgbClr val="94A3B8"/>
                </a:solidFill>
              </a:defRPr>
            </a:pPr>
            <a:r>
              <a:t>  •  Web services standardize interoperability over HTTP/XML</a:t>
            </a:r>
          </a:p>
          <a:p>
            <a:pPr>
              <a:spcAft>
                <a:spcPts val="1000"/>
              </a:spcAft>
              <a:defRPr sz="2000">
                <a:solidFill>
                  <a:srgbClr val="94A3B8"/>
                </a:solidFill>
              </a:defRPr>
            </a:pPr>
            <a:r>
              <a:t>  •  IaaS delivers infrastructure as a utility-based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This presentation explores the evolution from local/remote procedure calls to modern cloud infrastructure, emphasizing how distributed computing principles underpin cloud service models.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8412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94A3B8"/>
                </a:solidFill>
              </a:defRPr>
            </a:pPr>
            <a:r>
              <a:t>Visual suggested: A layered architecture diagram showing hardware at the bottom, hypervisor above it, virtual machines above that, and middleware on top connecting to client applications via HTTP/XML. Arrows indicate message passing between layers.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1F5F9"/>
                </a:solidFill>
              </a:defRPr>
            </a:pPr>
            <a:r>
              <a:t>Distributed Systems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A distributed system is a collection of independent computers that appears to users as a single coherent system. It enables resource sharing, collaboration, and fault tolerance.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3108960"/>
          <a:ext cx="8412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Description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Transparency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Hides distribution from users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Openness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Supports interoperability across platforms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Remains effective with growth in users/resources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Concurrency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Manages simultaneous access to shared resources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Heterogeneity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Integrates diverse hardware/software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Fault Tolerance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Maintains service despite component failures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8412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94A3B8"/>
                </a:solidFill>
              </a:defRPr>
            </a:pPr>
            <a:r>
              <a:t>Visual suggested: A conceptual illustration of a distributed system: multiple computers connected via network lines, each labeled with OS/hardware (Linux, Windows, ARM, x86), all presenting a unified interface to a user at the top. A shield icon overlays the system to represent fault tolerance.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1F5F9"/>
                </a:solidFill>
              </a:defRPr>
            </a:pPr>
            <a:r>
              <a:t>Remote Procedure Call (RPC)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RPC enables a process to execute code on a remote machine as if it were local. It uses stubs and skeletons to marshal/unmarshal parameters and manage network communication.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8412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94A3B8"/>
                </a:solidFill>
              </a:defRPr>
            </a:pPr>
            <a:r>
              <a:t>  •  Client stub serializes parameters and sends message over network</a:t>
            </a:r>
          </a:p>
          <a:p>
            <a:pPr>
              <a:spcAft>
                <a:spcPts val="1000"/>
              </a:spcAft>
              <a:defRPr sz="2000">
                <a:solidFill>
                  <a:srgbClr val="94A3B8"/>
                </a:solidFill>
              </a:defRPr>
            </a:pPr>
            <a:r>
              <a:t>  •  Server stub receives message and deserializes parameters</a:t>
            </a:r>
          </a:p>
          <a:p>
            <a:pPr>
              <a:spcAft>
                <a:spcPts val="1000"/>
              </a:spcAft>
              <a:defRPr sz="2000">
                <a:solidFill>
                  <a:srgbClr val="94A3B8"/>
                </a:solidFill>
              </a:defRPr>
            </a:pPr>
            <a:r>
              <a:t>  •  Server executes the requested function</a:t>
            </a:r>
          </a:p>
          <a:p>
            <a:pPr>
              <a:spcAft>
                <a:spcPts val="1000"/>
              </a:spcAft>
              <a:defRPr sz="2000">
                <a:solidFill>
                  <a:srgbClr val="94A3B8"/>
                </a:solidFill>
              </a:defRPr>
            </a:pPr>
            <a:r>
              <a:t>  •  Response follows reverse path: server stub → network → client stub</a:t>
            </a:r>
          </a:p>
          <a:p>
            <a:pPr>
              <a:spcAft>
                <a:spcPts val="1000"/>
              </a:spcAft>
              <a:defRPr sz="2000">
                <a:solidFill>
                  <a:srgbClr val="94A3B8"/>
                </a:solidFill>
              </a:defRPr>
            </a:pPr>
            <a:r>
              <a:t>  •  Client resumes execution with returned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577840"/>
            <a:ext cx="8412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94A3B8"/>
                </a:solidFill>
              </a:defRPr>
            </a:pPr>
            <a:r>
              <a:t>Visual suggested: A side-by-side diagram of client and server machines with labeled processes: client process calls client stub, which sends a message over network to server stub, which calls server function. Arrows show data flow with labels: 'marshal', 'network', 'unmarshal'.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1F5F9"/>
                </a:solidFill>
              </a:defRPr>
            </a:pPr>
            <a:r>
              <a:t>Distributed Object Technologies: CORBA vs RMI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Distributed objects allow method calls across machines. CORBA and RMI are two prominent mechanisms, differing significantly in scope and complexity.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3108960"/>
          <a:ext cx="8412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CORBA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RMI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Language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Multi-language (C++, Java, etc.)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Java-only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Interface 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IDL (similar to C++)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Java interfaces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 (complex configuration, learning curve)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Low (Java-native, simpler setup)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Language-neutral, vendor-neutral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Java Virtual Machine only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212080"/>
            <a:ext cx="8412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94A3B8"/>
                </a:solidFill>
              </a:defRPr>
            </a:pPr>
            <a:r>
              <a:t>Visual suggested: A split-screen visual: left side shows CORBA with multiple language icons (C++, Python, Java) connecting via IDL to a central ORB icon; right side shows Java-to-Java connection via RMI registry and stubs. Use color coding: orange for CORBA, blue for RMI.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1F5F9"/>
                </a:solidFill>
              </a:defRPr>
            </a:pPr>
            <a:r>
              <a:t>Web Services: Architecture &amp;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Web services solve interoperability, firewall traversal, and complexity issues of earlier distributed systems by using HTTP and XML-based protocols.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94A3B8"/>
                </a:solidFill>
              </a:defRPr>
            </a:pPr>
            <a:r>
              <a:t>  •  Self-contained, platform-independent, loosely coupled</a:t>
            </a:r>
          </a:p>
          <a:p>
            <a:pPr>
              <a:spcAft>
                <a:spcPts val="1000"/>
              </a:spcAft>
              <a:defRPr sz="2000">
                <a:solidFill>
                  <a:srgbClr val="94A3B8"/>
                </a:solidFill>
              </a:defRPr>
            </a:pPr>
            <a:r>
              <a:t>  •  Use WSDL to describe interfaces, UDDI for service discovery</a:t>
            </a:r>
          </a:p>
          <a:p>
            <a:pPr>
              <a:spcAft>
                <a:spcPts val="1000"/>
              </a:spcAft>
              <a:defRPr sz="2000">
                <a:solidFill>
                  <a:srgbClr val="94A3B8"/>
                </a:solidFill>
              </a:defRPr>
            </a:pPr>
            <a:r>
              <a:t>  •  SOAP for structured messaging, REST for lightweight access</a:t>
            </a:r>
          </a:p>
          <a:p>
            <a:pPr>
              <a:spcAft>
                <a:spcPts val="1000"/>
              </a:spcAft>
              <a:defRPr sz="2000">
                <a:solidFill>
                  <a:srgbClr val="94A3B8"/>
                </a:solidFill>
              </a:defRPr>
            </a:pPr>
            <a:r>
              <a:t>  •  Accessible over standard HTTP (port 80), enabling firewall-friendly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8412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94A3B8"/>
                </a:solidFill>
              </a:defRPr>
            </a:pPr>
            <a:r>
              <a:t>Visual suggested: A three-layer architecture: bottom layer shows physical servers and network; middle layer shows XML/SOAP/WSDL/UDDI icons; top layer shows client applications (web browser, mobile app) calling services. Include a firewall icon with HTTP traffic arrows passing through.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1F5F9"/>
                </a:solidFill>
              </a:defRPr>
            </a:pPr>
            <a:r>
              <a:t>SOAP vs REST: A Comparative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SOAP is a protocol with strict standards; REST is an architectural style emphasizing simplicity and scalability. Both enable web service communication but differ in design philosophy and usage.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3108960"/>
          <a:ext cx="8412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SOAP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Architectural style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Data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XML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XML, JSON, HTML, text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Bandwidth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Higher (verbose XML, headers)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Lower (lightweight, flexible)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Built-in WS-Security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Inherits from transport (e.g., HTTPS)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JAX-WS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JAX-RS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Adoption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Enterprise, legacy integrations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Modern web/mobile APIs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8412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94A3B8"/>
                </a:solidFill>
              </a:defRPr>
            </a:pPr>
            <a:r>
              <a:t>Visual suggested: A balanced scale graphic: left side labeled 'SOAP' with XML envelope icon, heavy chain links, and enterprise shield; right side labeled 'REST' with URL bar, JSON/HTML icons, and lightweight feather. Background gradient from dark (enterprise) to light (modern).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1F5F9"/>
                </a:solidFill>
              </a:defRPr>
            </a:pPr>
            <a:r>
              <a:t>Web Services Lifecycle &amp;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Web services follow a publish-find-bind-invoke pattern. UDDI acts as a directory service, enabling dynamic discovery and integration across organizations.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94A3B8"/>
                </a:solidFill>
              </a:defRPr>
            </a:pPr>
            <a:r>
              <a:t>  •  Publish: Service provider registers in UDDI with WSDL</a:t>
            </a:r>
          </a:p>
          <a:p>
            <a:pPr>
              <a:spcAft>
                <a:spcPts val="1000"/>
              </a:spcAft>
              <a:defRPr sz="2000">
                <a:solidFill>
                  <a:srgbClr val="94A3B8"/>
                </a:solidFill>
              </a:defRPr>
            </a:pPr>
            <a:r>
              <a:t>  •  Find: Client queries UDDI to locate suitable services</a:t>
            </a:r>
          </a:p>
          <a:p>
            <a:pPr>
              <a:spcAft>
                <a:spcPts val="1000"/>
              </a:spcAft>
              <a:defRPr sz="2000">
                <a:solidFill>
                  <a:srgbClr val="94A3B8"/>
                </a:solidFill>
              </a:defRPr>
            </a:pPr>
            <a:r>
              <a:t>  •  Bind: Client retrieves WSDL and binds to service endpoint</a:t>
            </a:r>
          </a:p>
          <a:p>
            <a:pPr>
              <a:spcAft>
                <a:spcPts val="1000"/>
              </a:spcAft>
              <a:defRPr sz="2000">
                <a:solidFill>
                  <a:srgbClr val="94A3B8"/>
                </a:solidFill>
              </a:defRPr>
            </a:pPr>
            <a:r>
              <a:t>  •  Invoke: Client sends SOAP messages to execute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8412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94A3B8"/>
                </a:solidFill>
              </a:defRPr>
            </a:pPr>
            <a:r>
              <a:t>Visual suggested: A circular workflow diagram: four nodes labeled 'Publish', 'Find', 'Bind', 'Invoke', connected by arrows. UDDI registry sits at center, with arrows to/from it. Include icons: cloud for service provider, magnifying glass for client, document for WSDL.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1F5F9"/>
                </a:solidFill>
              </a:defRPr>
            </a:pPr>
            <a:r>
              <a:t>XML in Web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XML is foundational to web services: it enables platform-independent data exchange, supports validation via schemas, and allows structured messaging for interoperability.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94A3B8"/>
                </a:solidFill>
              </a:defRPr>
            </a:pPr>
            <a:r>
              <a:t>  •  Well-formed syntax ensures correct tag nesting and closure</a:t>
            </a:r>
          </a:p>
          <a:p>
            <a:pPr>
              <a:spcAft>
                <a:spcPts val="1000"/>
              </a:spcAft>
              <a:defRPr sz="2000">
                <a:solidFill>
                  <a:srgbClr val="94A3B8"/>
                </a:solidFill>
              </a:defRPr>
            </a:pPr>
            <a:r>
              <a:t>  •  Valid XML conforms to XSD or DTD schema definitions</a:t>
            </a:r>
          </a:p>
          <a:p>
            <a:pPr>
              <a:spcAft>
                <a:spcPts val="1000"/>
              </a:spcAft>
              <a:defRPr sz="2000">
                <a:solidFill>
                  <a:srgbClr val="94A3B8"/>
                </a:solidFill>
              </a:defRPr>
            </a:pPr>
            <a:r>
              <a:t>  •  Supports simple types (int, boolean, date) and complex user-defined types</a:t>
            </a:r>
          </a:p>
          <a:p>
            <a:pPr>
              <a:spcAft>
                <a:spcPts val="1000"/>
              </a:spcAft>
              <a:defRPr sz="2000">
                <a:solidFill>
                  <a:srgbClr val="94A3B8"/>
                </a:solidFill>
              </a:defRPr>
            </a:pPr>
            <a:r>
              <a:t>  •  Parsers (DOM, SAX) enable programmatic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8412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94A3B8"/>
                </a:solidFill>
              </a:defRPr>
            </a:pPr>
            <a:r>
              <a:t>Visual suggested: A side-by-side comparison: left shows XML snippet with tags like &lt;book&gt;&lt;author&gt;John Doe&lt;/author&gt;&lt;/book&gt;, annotated with 'content-oriented, extensible, self-describing'; right shows HTML snippet with &lt;h1&gt;, &lt;p&gt;, &lt;font&gt; tags, annotated with 'presentation-oriented, rigid tags'. Use green checkmark over XML, amber warning over HTML.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1F5F9"/>
                </a:solidFill>
              </a:defRPr>
            </a:pPr>
            <a:r>
              <a:t>Cloud Computing: Core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Cloud computing shifts computing from local devices to shared, virtualized resources accessible over the internet. It emphasizes elasticity, self-service, and utility-based pricing.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94A3B8"/>
                </a:solidFill>
              </a:defRPr>
            </a:pPr>
            <a:r>
              <a:t>  •  Virtualization decouples OS from hardware, enabling migration and consolidation</a:t>
            </a:r>
          </a:p>
          <a:p>
            <a:pPr>
              <a:spcAft>
                <a:spcPts val="1000"/>
              </a:spcAft>
              <a:defRPr sz="2000">
                <a:solidFill>
                  <a:srgbClr val="94A3B8"/>
                </a:solidFill>
              </a:defRPr>
            </a:pPr>
            <a:r>
              <a:t>  •  Essential characteristics: on-demand self-service, broad network access, resource pooling, rapid elasticity, measured service</a:t>
            </a:r>
          </a:p>
          <a:p>
            <a:pPr>
              <a:spcAft>
                <a:spcPts val="1000"/>
              </a:spcAft>
              <a:defRPr sz="2000">
                <a:solidFill>
                  <a:srgbClr val="94A3B8"/>
                </a:solidFill>
              </a:defRPr>
            </a:pPr>
            <a:r>
              <a:t>  •  Service models: IaaS, PaaS, SaaS</a:t>
            </a:r>
          </a:p>
          <a:p>
            <a:pPr>
              <a:spcAft>
                <a:spcPts val="1000"/>
              </a:spcAft>
              <a:defRPr sz="2000">
                <a:solidFill>
                  <a:srgbClr val="94A3B8"/>
                </a:solidFill>
              </a:defRPr>
            </a:pPr>
            <a:r>
              <a:t>  •  Deployment models: public, private, community, hybrid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8412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94A3B8"/>
                </a:solidFill>
              </a:defRPr>
            </a:pPr>
            <a:r>
              <a:t>Visual suggested: A cloud-shaped icon with arrows pointing inward to a data center floorplan. Inside, show stacked virtual machines, hypervisor layer, and physical hardware. Overlay labels: 'Elasticity', 'Self-Service', 'Multi-Tenant'. Use light blue glow around cloud.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1F5F9"/>
                </a:solidFill>
              </a:defRPr>
            </a:pPr>
            <a:r>
              <a:t>Virtualization &amp; Hypervisors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Virtualization abstracts hardware resources into virtual machines. Hypervisors manage this abstraction, with Type 1 (bare-metal) offering better performance than Type 2 (hosted).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3108960"/>
          <a:ext cx="8412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Use Case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Full Virtualization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Unmodified guest OS via binary translation or direct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VMware, VirtualBox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Para-Virtualization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Modified guest OS with optimized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Xen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Hardware-Assisted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CPU extensions (Intel VT-x, AMD-V) for efficient trapping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Modern cloud infrastructures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846320"/>
            <a:ext cx="8412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94A3B8"/>
                </a:solidFill>
              </a:defRPr>
            </a:pPr>
            <a:r>
              <a:t>Visual suggested: A vertical stack: Hardware → Hypervisor (Type 1: bare-metal) → VMs; vs. Hardware → Host OS → Hypervisor (Type 2) → VMs. Use arrows to show overhead in Type 2 path. Include icons: bare-metal chip for Type 1, laptop for Type 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1F5F9"/>
                </a:solidFill>
              </a:defRPr>
            </a:pPr>
            <a:r>
              <a:t>Infrastructure as a Service (IaaS)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IaaS delivers virtualized computing resources over the internet. It abstracts physical infrastructure, enabling scalable, on-demand access to VMs, storage, and networking.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94A3B8"/>
                </a:solidFill>
              </a:defRPr>
            </a:pPr>
            <a:r>
              <a:t>  •  Key features: dynamic scaling, utility pricing, self-service provisioning, metered usage</a:t>
            </a:r>
          </a:p>
          <a:p>
            <a:pPr>
              <a:spcAft>
                <a:spcPts val="1000"/>
              </a:spcAft>
              <a:defRPr sz="2000">
                <a:solidFill>
                  <a:srgbClr val="94A3B8"/>
                </a:solidFill>
              </a:defRPr>
            </a:pPr>
            <a:r>
              <a:t>  •  Examples: Amazon EC2, Microsoft Azure, Google Compute Engine, Rackspace</a:t>
            </a:r>
          </a:p>
          <a:p>
            <a:pPr>
              <a:spcAft>
                <a:spcPts val="1000"/>
              </a:spcAft>
              <a:defRPr sz="2000">
                <a:solidFill>
                  <a:srgbClr val="94A3B8"/>
                </a:solidFill>
              </a:defRPr>
            </a:pPr>
            <a:r>
              <a:t>  •  Supports enterprise infrastructure, cloud hosting, and virtual data centers</a:t>
            </a:r>
          </a:p>
          <a:p>
            <a:pPr>
              <a:spcAft>
                <a:spcPts val="1000"/>
              </a:spcAft>
              <a:defRPr sz="2000">
                <a:solidFill>
                  <a:srgbClr val="94A3B8"/>
                </a:solidFill>
              </a:defRPr>
            </a:pPr>
            <a:r>
              <a:t>  •  Enables VM migration (live, cold, storage) for maintenance and load balancing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8412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94A3B8"/>
                </a:solidFill>
              </a:defRPr>
            </a:pPr>
            <a:r>
              <a:t>Visual suggested: A user interface mockup showing a cloud dashboard with sliders for CPU/memory, instance types (small, large, extra-large), and billing metrics (hourly rate). Include icons: VMs, storage disks, network switches, and a meter gauge.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88720"/>
            <a:ext cx="27432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1F5F9"/>
                </a:solidFill>
              </a:defRPr>
            </a:pPr>
            <a:r>
              <a:t>IaaS: Benefits &amp; Tradeoffs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IaaS offers cost efficiency, scalability, and reduced operational overhead—but introduces dependencies on provider reliability, network connectivity, and potential vendor lock-in.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3108960"/>
          <a:ext cx="8412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Advantage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Disadvantage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 hardware 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Requires constant internet connection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Elastic scaling for demand spikes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Performance may lag behind local apps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Built-in redundancy &amp; failover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Security concerns with shared infrastructure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Automated backups &amp; updates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Legal/regulatory constraints on data location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 data center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Limited control over underlying hardware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577840"/>
            <a:ext cx="8412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94A3B8"/>
                </a:solidFill>
              </a:defRPr>
            </a:pPr>
            <a:r>
              <a:t>Visual suggested: A seesaw graphic: left side labeled 'Benefits' with icons (dollar sign, scale, shield); right side labeled 'Tradeoffs' with icons (cloud with lock, Wi-Fi with red X, server rack with padlock). Balanced at center with 'IaaS' label.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