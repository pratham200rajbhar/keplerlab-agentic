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D3748"/>
                </a:solidFill>
              </a:defRPr>
            </a:pPr>
            <a:r>
              <a:t>Distributed Systems: Core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182CE"/>
                </a:solidFill>
              </a:defRPr>
            </a:pPr>
            <a:r>
              <a:t>Independence, Interoperability, and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Independence from heterogeneity: hardware, platforms, and languages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Interoperability across open systems via standardized interfaces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Transparency as a key desired property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18096"/>
                </a:solidFill>
              </a:defRPr>
            </a:pPr>
            <a:r>
              <a:t>Distributed systems must abstract environmental diversity while enabling seamless interaction across heterogeneous components.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18096"/>
                </a:solidFill>
              </a:defRPr>
            </a:pPr>
            <a:r>
              <a:t>Visual suggested: A layered architecture diagram showing hardware (servers, storage), platforms (OS, middleware), and languages (Python, Java, C++) at the bottom, with a transparent shield labeled 'Abstraction Layer' above them, and services on top interacting via standardized interfaces (WSDL, UDDI)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D3748"/>
                </a:solidFill>
              </a:defRPr>
            </a:pPr>
            <a:r>
              <a:t>Transparency in Distributed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182CE"/>
                </a:solidFill>
              </a:defRPr>
            </a:pPr>
            <a:r>
              <a:t>Eight Key Forms of Transparency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Transparency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differences in data representation and resource access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where a resource is located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that a resource may move to another location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that a resource is replicated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that a resource may be shared by several competitive users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the failure and recovery of a resource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18096"/>
                </a:solidFill>
              </a:defRPr>
            </a:pPr>
            <a:r>
              <a:t>Transparency ensures users and applications interact with resources without needing to know underlying implementation details.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6751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18096"/>
                </a:solidFill>
              </a:defRPr>
            </a:pPr>
            <a:r>
              <a:t>Visual suggested: A user interface with a single icon labeled 'Data Resource' that, when clicked, opens a panel showing multiple hidden layers: location markers, replication nodes, failure recovery logs, and concurrent access indicators—all visually abstracted behind a clean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D3748"/>
                </a:solidFill>
              </a:defRPr>
            </a:pPr>
            <a:r>
              <a:t>Desired Properties of Distributed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182CE"/>
                </a:solidFill>
              </a:defRPr>
            </a:pPr>
            <a:r>
              <a:t>Core Objectives for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Transparency: Uniform access regardless of location or implementation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Openness: Conformance to well-defined interfaces and portability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Scalability: Ability to grow in size and complexity without degradation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Enhanced Availability: Fault tolerance and redundancy support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Concurrency: Support for multiple users accessing shared resources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Heterogeneity: Independence from underlying platform differences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18096"/>
                </a:solidFill>
              </a:defRPr>
            </a:pPr>
            <a:r>
              <a:t>These properties collectively enable robust, scalable, and maintainable distributed systems that serve users and resources efficiently.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766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18096"/>
                </a:solidFill>
              </a:defRPr>
            </a:pPr>
            <a:r>
              <a:t>Visual suggested: A circular diagram with six labeled nodes (Transparency, Openness, Scalability, Availability, Concurrency, Heterogeneity) connected by arrows, each node containing a small icon: e.g., a globe for openness, a scaling slider for scalability, a heartbeat for availability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D3748"/>
                </a:solidFill>
              </a:defRPr>
            </a:pPr>
            <a:r>
              <a:t>Web Services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182CE"/>
                </a:solidFill>
              </a:defRPr>
            </a:pPr>
            <a:r>
              <a:t>Standards-Based Interaction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WSDL defines the interface for service interaction (external IDL)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UDDI serves as a registry for discovering and publishing services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SOAP enables structured message exchange with built-in security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XML provides extensible, content-oriented data 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18096"/>
                </a:solidFill>
              </a:defRPr>
            </a:pPr>
            <a:r>
              <a:t>Web services rely on standardized, XML-based protocols to enable application-to-application communication across heterogeneous environments.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18096"/>
                </a:solidFill>
              </a:defRPr>
            </a:pPr>
            <a:r>
              <a:t>Visual suggested: A flow diagram: Web Service Requester → UDDI Registry (search icon) → Web Service Provider (server icon) → SOAP Request/Response (envelope icon). Include WSDL document icon attached to the provider, and XML tags (e.g., &lt;book&gt;, &lt;author&gt;) floating near the SOAP envelope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D3748"/>
                </a:solidFill>
              </a:defRPr>
            </a:pPr>
            <a:r>
              <a:t>WSDL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182CE"/>
                </a:solidFill>
              </a:defRPr>
            </a:pPr>
            <a:r>
              <a:t>What WSDL Describes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Data types used by the service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Parameters required and returned by operations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Groupings of functionality (portTypes)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Protocol used to access the service (e.g., SOAP over HTTP)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Service endpoint location (address)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18096"/>
                </a:solidFill>
              </a:defRPr>
            </a:pPr>
            <a:r>
              <a:t>WSDL acts as a contract that enables clients to understand how to interact with a service without prior knowledge of its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18096"/>
                </a:solidFill>
              </a:defRPr>
            </a:pPr>
            <a:r>
              <a:t>Visual suggested: A WSDL document rendered as a structured XML file with highlighted sections: &lt;types&gt;, &lt;message&gt;, &lt;portType&gt;, &lt;binding&gt;, and &lt;service&gt;. Arrows from each section point to real-world equivalents: e.g., &lt;types&gt; → database schema icon, &lt;service&gt; → URL bar icon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D3748"/>
                </a:solidFill>
              </a:defRPr>
            </a:pPr>
            <a:r>
              <a:t>XML vs.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182CE"/>
                </a:solidFill>
              </a:defRPr>
            </a:pPr>
            <a:r>
              <a:t>Purpose, Structure, and Use Cases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HTML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Extensible, user-defined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Fixed, pre-defined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Orientation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Content-oriented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Presentation-oriented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Supports schema validation (XSD)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built-in validation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Primary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Transport and store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Display data to humans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97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18096"/>
                </a:solidFill>
              </a:defRPr>
            </a:pPr>
            <a:r>
              <a:t>XML is designed for data transport and validation; HTML is designed for visual presentation and rendering.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18096"/>
                </a:solidFill>
              </a:defRPr>
            </a:pPr>
            <a:r>
              <a:t>Visual suggested: Split-screen comparison: left side shows XML with custom tags like &lt;book&gt;&lt;author&gt;John Doe&lt;/author&gt;&lt;/book&gt; and an XSD schema icon; right side shows HTML with &lt;h1&gt;, &lt;p&gt;, &lt;font&gt; tags and a browser window rendering styled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D3748"/>
                </a:solidFill>
              </a:defRPr>
            </a:pPr>
            <a:r>
              <a:t>Cloud Service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182CE"/>
                </a:solidFill>
              </a:defRPr>
            </a:pPr>
            <a:r>
              <a:t>IaaS, PaaS, SaaS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SaaS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What You 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Infrastructure only (VMs, storage, networks)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Platform (runtimes, databases, web servers)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Ready-to-use applications (email, social media)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Technical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 (OS, middleware, apps managed by user)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Medium (apps managed by user; platform by provider)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 (provider handles all technical aspects)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Target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Skilled developers, researchers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Application developers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End users, businesses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31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18096"/>
                </a:solidFill>
              </a:defRPr>
            </a:pPr>
            <a:r>
              <a:t>Each model offers different levels of abstraction and responsibility, enabling users to choose based on technical capacity and operational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18096"/>
                </a:solidFill>
              </a:defRPr>
            </a:pPr>
            <a:r>
              <a:t>Visual suggested: Three vertical layers stacked: bottom layer labeled 'IaaS' with icons for VM, disk, server rack; middle layer 'PaaS' with icons for Java runtime, MySQL, Tomcat; top layer 'SaaS' with icons for email envelope, social network nodes. Arrows show upward dependency and decreasing user responsibility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D3748"/>
                </a:solidFill>
              </a:defRPr>
            </a:pPr>
            <a:r>
              <a:t>Self-Service in IaaS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182CE"/>
                </a:solidFill>
              </a:defRPr>
            </a:pPr>
            <a:r>
              <a:t>Business Value and Operational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Self-service is a core imperative in IaaS—enables direct user control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Analogous to banking ATMs: reduces need for manual intervention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Customers make routine requests conforming to predefined business rules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Enables automation, reduces operational overhead, and improves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18096"/>
                </a:solidFill>
              </a:defRPr>
            </a:pPr>
            <a:r>
              <a:t>Self-service interfaces empower users to provision and manage resources on demand, mirroring the efficiency of automated service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18096"/>
                </a:solidFill>
              </a:defRPr>
            </a:pPr>
            <a:r>
              <a:t>Visual suggested: Side-by-side: left side shows a bank branch with long queue and tellers; right side shows a user interacting with an ATM labeled 'Self-Service Portal' with icons for VM provisioning, storage allocation, and network configuration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D3748"/>
                </a:solidFill>
              </a:defRPr>
            </a:pPr>
            <a:r>
              <a:t>Web Services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182CE"/>
                </a:solidFill>
              </a:defRPr>
            </a:pPr>
            <a:r>
              <a:t>Key Architectural Traits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Loose Coupling: Minimizes dependencies between services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Standard-Based: Ensures interoperability via open standards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Flexibility &amp; Reusability: Services can be composed and reused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Scalability &amp; Programmatically Accessible: Designed for growth and automation</a:t>
            </a:r>
          </a:p>
          <a:p>
            <a:pPr>
              <a:spcAft>
                <a:spcPts val="1000"/>
              </a:spcAft>
              <a:defRPr sz="2200">
                <a:solidFill>
                  <a:srgbClr val="718096"/>
                </a:solidFill>
              </a:defRPr>
            </a:pPr>
            <a:r>
              <a:t>  •  Application-to-Application Communication: Enables enterprise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18096"/>
                </a:solidFill>
              </a:defRPr>
            </a:pPr>
            <a:r>
              <a:t>These traits support resilient, maintainable, and evolvable service-oriented architectures.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18096"/>
                </a:solidFill>
              </a:defRPr>
            </a:pPr>
            <a:r>
              <a:t>Visual suggested: A network of interconnected nodes (services), each labeled (e.g., 'Auth', 'Payment', 'Inventory'), with dashed lines indicating loose coupling, and icons for standards (W3C logo), scalability (arrows), and automation (robot arm)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