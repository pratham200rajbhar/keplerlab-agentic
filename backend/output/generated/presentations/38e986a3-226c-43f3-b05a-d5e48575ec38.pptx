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Blockchain Consensus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Formal Agreement Protocols and Fault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All correct processes must agree on the same value (Agreement)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Each correct process output must be the input of some correct process (Weak Validity)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If all inputs are identical, outputs must match (Strong Validity)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All processes must eventually decide (Termination)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644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6F1FF"/>
                </a:solidFill>
                <a:latin typeface="Roboto"/>
              </a:defRPr>
            </a:pPr>
            <a:r>
              <a:t>These four properties define Byzantine Fault Tolerant consensus in permissioned blockchains.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Byzantine Fault Tolerance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Byzantine Fault Tolerance ensures correct operation despite arbitrary node failures, including malicious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1. Fail-stop: Node ceases operation entirely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2. Arbitrary failure: Node behaves unpredictably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3. Examples include: returning no result, incorrect result, misleading result, or inconsistent responses to different nodes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081528"/>
          <a:ext cx="11094414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469392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Failure Type</a:t>
                      </a:r>
                    </a:p>
                  </a:txBody>
                  <a:tcPr>
                    <a:solidFill>
                      <a:srgbClr val="64B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64B5F6"/>
                    </a:solidFill>
                  </a:tcPr>
                </a:tc>
              </a:tr>
              <a:tr h="46939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Fail-stop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Node stops operating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6939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Arbitrary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Node returns incorrect, misleading, or inconsistent results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Consensus Algorithm Families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Pluggable Protocol Options in Hyperledger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Proof of Work (PoW)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Practical Byzantine Fault Tolerance (PBFT)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Proof of Stake (PoS)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Delegated Proof of Stake (DPoS)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Proof of Burn (PoB)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Proof of Capacity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Proof of Elapsed Time (PoET)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Proof of Authority (PoA)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Proof of Space (PoSpace)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Byzantine Fault Tolerance (BFT)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45736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6F1FF"/>
                </a:solidFill>
                <a:latin typeface="Roboto"/>
              </a:defRPr>
            </a:pPr>
            <a:r>
              <a:t>The system supports pluggable consensus to accommodate diverse economic and operational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Merkle Trees in Blockchain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Efficient Data Integrity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Validate data integrity effectively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Take minimal disk space compared to alternatives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Enable tiny data chunks for network verification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Support efficient verification in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64408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Each transaction ID is 64 characters long, making Merkle Trees essential for scalable integrity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Hash Chains and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Cryptographic Chain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Link data values (blocks) using hash functions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Create resilience against tampering and manipulation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Widely used in blockchain and distributed ledgers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Enable decentralized security and trust in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64408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6F1FF"/>
                </a:solidFill>
                <a:latin typeface="Roboto"/>
              </a:defRPr>
            </a:pPr>
            <a:r>
              <a:t>Hash chains form the backbone of tamper-evident transaction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Cryptography in Blockchain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Two Core Cryptographic Paradigms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4414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469392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64B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64B5F6"/>
                    </a:solidFill>
                  </a:tcPr>
                </a:tc>
              </a:tr>
              <a:tr h="46939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Symmetric-key cryptography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Single key for encryption and decryption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6939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Asymmetric-key cryptography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Public-private key pair for security and authentication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47472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6F1FF"/>
                </a:solidFill>
                <a:latin typeface="Roboto"/>
              </a:defRPr>
            </a:pPr>
            <a:r>
              <a:t>Protocols define data structure and secure data from malicious users using these methods.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Supply Chain Use Case: Hyperledger 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Enhanced Traceability and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Global or regional supplier-manufacturer-retailer networks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Authorized participants access and monitor transaction lifecycle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Previous transactions visible to improve traceability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Real-time production and shipping updates reduce counterfeiting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64408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E6F1FF"/>
                </a:solidFill>
                <a:latin typeface="Roboto"/>
              </a:defRPr>
            </a:pPr>
            <a:r>
              <a:t>A layered supply chain diagram with nodes connected via blockchain ledger, showing real-time updates from factory to retailer, with transparent data flow and anti-counterfeit verification icons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Insurance Industry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Operational Efficiency Gains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4414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373597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64B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64B5F6"/>
                    </a:solidFill>
                  </a:tcPr>
                </a:tc>
              </a:tr>
              <a:tr h="37359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Faster Claims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Processing reduced from days/weeks to minutes/hours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7359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Reduced Fraud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Duplicate or false claims detected easily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7359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Full Transparency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All actions visible to all parties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7359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Better Recordkeeping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Every change recorded permanently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7359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Cuts paperwork and human error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7360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Cost Reduction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6F1FF"/>
                          </a:solidFill>
                          <a:latin typeface="Roboto"/>
                        </a:defRPr>
                      </a:pPr>
                      <a:r>
                        <a:t>Reduces administrative overhead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System Architecture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Performance and Design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Network size affects transaction throughput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Network configuration impacts scalability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Chaincode complexity limits high-volume handling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Requires IAM system for full admin and monitoring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644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6F1FF"/>
                </a:solidFill>
                <a:latin typeface="Roboto"/>
              </a:defRPr>
            </a:pPr>
            <a:r>
              <a:t>Defense infrastructure design must address protocol, procedure, and system vulnerabilities.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Decentralization and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E6F1FF"/>
                </a:solidFill>
                <a:latin typeface="Roboto"/>
              </a:defRPr>
            </a:pPr>
            <a:r>
              <a:t>There is no single person, group, or entity controlling this technology. Rather, it is a group of nodes that manage the whole transaction.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This distributed control model underpins trustless operation in permissioned and permissionless systems alike.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2615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6F1FF"/>
                </a:solidFill>
                <a:latin typeface="Roboto"/>
              </a:defRPr>
            </a:pPr>
            <a:r>
              <a:t>No central authority—consensus emerges from coordinated node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Zero-Knowledge Proofs (ZKPs)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Privacy-Preserving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Various implementations exist with trade-offs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Each balances proof size, prover time, and verification time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Enable verification without revealing underlying data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Support privacy-critical applications in finance and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64408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6F1FF"/>
                </a:solidFill>
                <a:latin typeface="Roboto"/>
              </a:defRPr>
            </a:pPr>
            <a:r>
              <a:t>ZKPs allow proving knowledge of a fact without revealing the fact itself.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6F1FF"/>
                </a:solidFill>
                <a:latin typeface="Inter"/>
              </a:defRPr>
            </a:pPr>
            <a:r>
              <a:t>Block Structure and Transaction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64B5F6"/>
                </a:solidFill>
                <a:latin typeface="Inter"/>
              </a:defRPr>
            </a:pPr>
            <a:r>
              <a:t>Cryptographic Records and Hash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Blocks act as record books storing transactions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Transactions encrypted into hash trees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Handle massive daily transaction volumes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6F1FF"/>
                </a:solidFill>
                <a:latin typeface="Roboto"/>
              </a:defRPr>
            </a:pPr>
            <a:r>
              <a:t>• Users track transactions via block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64408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2E4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E6F1FF"/>
                </a:solidFill>
                <a:latin typeface="Roboto"/>
              </a:defRPr>
            </a:pPr>
            <a:r>
              <a:t>A visual of a blockchain block containing multiple transaction IDs, each hashed and merged into a Merkle root, with cryptographic links to previous blocks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