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0E0E0"/>
                </a:solidFill>
              </a:defRPr>
            </a:pPr>
            <a:r>
              <a:t>Web Services &amp; Cloud Computing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00FF"/>
                </a:solidFill>
              </a:defRPr>
            </a:pPr>
            <a:r>
              <a:t>Interoperability, RPC, and Distributed Systems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8888AA"/>
                </a:solidFill>
              </a:defRPr>
            </a:pPr>
            <a:r>
              <a:t>Visual suggested: Neon cyberpunk cityscape with glowing server racks, floating SOAP and REST icons, and a central holographic cloud with interconnected nodes in bright cyan and neon pink. Background grid lines pulse rhythmically.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0E0E0"/>
                </a:solidFill>
              </a:defRPr>
            </a:pPr>
            <a:r>
              <a:t>Web Services vs. SOA vs. Cloud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8888AA"/>
                </a:solidFill>
              </a:defRPr>
            </a:pPr>
            <a:r>
              <a:t>Web Services, SOA, and Cloud Computing are independent approaches, though Web Services often serve as the connection mechanism for Cloud Computing.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8888AA"/>
                </a:solidFill>
              </a:defRPr>
            </a:pPr>
            <a:r>
              <a:t>  •  Cloud Computing: Broad term for any Web service software, hardware, and applications.</a:t>
            </a:r>
          </a:p>
          <a:p>
            <a:pPr>
              <a:spcAft>
                <a:spcPts val="1000"/>
              </a:spcAft>
              <a:defRPr sz="2200">
                <a:solidFill>
                  <a:srgbClr val="8888AA"/>
                </a:solidFill>
              </a:defRPr>
            </a:pPr>
            <a:r>
              <a:t>  •  SOA: Focuses mainly on software services and service-oriented architecture.</a:t>
            </a:r>
          </a:p>
          <a:p>
            <a:pPr>
              <a:spcAft>
                <a:spcPts val="1000"/>
              </a:spcAft>
              <a:defRPr sz="2200">
                <a:solidFill>
                  <a:srgbClr val="8888AA"/>
                </a:solidFill>
              </a:defRPr>
            </a:pPr>
            <a:r>
              <a:t>  •  Web Services: Encapsulate Cloud services; used for connections in Cloud Computing.</a:t>
            </a:r>
          </a:p>
          <a:p>
            <a:pPr>
              <a:spcAft>
                <a:spcPts val="1000"/>
              </a:spcAft>
              <a:defRPr sz="2200">
                <a:solidFill>
                  <a:srgbClr val="8888AA"/>
                </a:solidFill>
              </a:defRPr>
            </a:pPr>
            <a:r>
              <a:t>  •  Web Services can be used outside Cloud Computing, as part of a service-oriented architecture.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8888AA"/>
                </a:solidFill>
              </a:defRPr>
            </a:pPr>
            <a:r>
              <a:t>Visual suggested: Venn diagram with three overlapping neon-lit circles labeled 'Web Services', 'SOA', and 'Cloud Computing'. Overlap between Web Services and Cloud Computing is highlighted in bright cyan. Background dark with subtle circuit patterns.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0E0E0"/>
                </a:solidFill>
              </a:defRPr>
            </a:pPr>
            <a:r>
              <a:t>RPC: Remote Procedure Call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8888AA"/>
                </a:solidFill>
              </a:defRPr>
            </a:pPr>
            <a:r>
              <a:t>RPC enables distributed computation by allowing a client process to invoke a procedure on a remote server through stubs and network communication.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8888AA"/>
                </a:solidFill>
              </a:defRPr>
            </a:pPr>
            <a:r>
              <a:t>Visual suggested: Split-screen diagram: left side shows client process calling stub, right side shows server process with skeleton. Arrows labeled 'marshal', 'network', 'unmarshal' in neon pink and cyan. Background dark with subtle wireframe grid.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8888AA"/>
                </a:solidFill>
              </a:defRPr>
            </a:pPr>
            <a:r>
              <a:t>  •  Client calls client stub, which marshals parameters and sends message over network.</a:t>
            </a:r>
          </a:p>
          <a:p>
            <a:pPr>
              <a:spcAft>
                <a:spcPts val="1000"/>
              </a:spcAft>
              <a:defRPr sz="2200">
                <a:solidFill>
                  <a:srgbClr val="8888AA"/>
                </a:solidFill>
              </a:defRPr>
            </a:pPr>
            <a:r>
              <a:t>  •  Server stub unmarshals parameters and calls server function.</a:t>
            </a:r>
          </a:p>
          <a:p>
            <a:pPr>
              <a:spcAft>
                <a:spcPts val="1000"/>
              </a:spcAft>
              <a:defRPr sz="2200">
                <a:solidFill>
                  <a:srgbClr val="8888AA"/>
                </a:solidFill>
              </a:defRPr>
            </a:pPr>
            <a:r>
              <a:t>  •  Server returns result; stub marshals and sends response back to client stub.</a:t>
            </a:r>
          </a:p>
          <a:p>
            <a:pPr>
              <a:spcAft>
                <a:spcPts val="1000"/>
              </a:spcAft>
              <a:defRPr sz="2200">
                <a:solidFill>
                  <a:srgbClr val="8888AA"/>
                </a:solidFill>
              </a:defRPr>
            </a:pPr>
            <a:r>
              <a:t>  •  Client stub unmarshals return value and returns to client code.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0E0E0"/>
                </a:solidFill>
              </a:defRPr>
            </a:pPr>
            <a:r>
              <a:t>Distributed Object Mechanisms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8888AA"/>
                </a:solidFill>
              </a:defRPr>
            </a:pPr>
            <a:r>
              <a:t>Distributed objects allow processes on different hosts to invoke remote methods. Key implementations include RMI, CORBA, and DCOM.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310896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CORBA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RMI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Language 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Virtually any 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Java only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Interface 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IDL (C++-like)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Java interfaces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Low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Evolution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COM → .NET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Native Java support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2120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8888AA"/>
                </a:solidFill>
              </a:defRPr>
            </a:pPr>
            <a:r>
              <a:t>  •  CORBA supports cross-language object transmission but is complex.</a:t>
            </a:r>
          </a:p>
          <a:p>
            <a:pPr>
              <a:spcAft>
                <a:spcPts val="1000"/>
              </a:spcAft>
              <a:defRPr sz="2200">
                <a:solidFill>
                  <a:srgbClr val="8888AA"/>
                </a:solidFill>
              </a:defRPr>
            </a:pPr>
            <a:r>
              <a:t>  •  RMI is Java-specific and simpler, enabling Java-to-Java communication.</a:t>
            </a:r>
          </a:p>
          <a:p>
            <a:pPr>
              <a:spcAft>
                <a:spcPts val="1000"/>
              </a:spcAft>
              <a:defRPr sz="2200">
                <a:solidFill>
                  <a:srgbClr val="8888AA"/>
                </a:solidFill>
              </a:defRPr>
            </a:pPr>
            <a:r>
              <a:t>  •  Distributed objects are accessed via remote methods, with client-server roles defined.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7665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8888AA"/>
                </a:solidFill>
              </a:defRPr>
            </a:pPr>
            <a:r>
              <a:t>Visual suggested: Two servers labeled 'Host A' and 'Host B' connected by glowing fiber optic cable. A method call arrow labeled 'remote method' travels from Host A to Host B. Neon pink and cyan highlights on interfaces and data structures.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0E0E0"/>
                </a:solidFill>
              </a:defRPr>
            </a:pPr>
            <a:r>
              <a:t>Web Services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8888AA"/>
                </a:solidFill>
              </a:defRPr>
            </a:pPr>
            <a:r>
              <a:t>Web services solve interoperability, firewall traversal, and complexity issues of earlier distributed systems like RMI and CORBA.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8888AA"/>
                </a:solidFill>
              </a:defRPr>
            </a:pPr>
            <a:r>
              <a:t>  •  Interoperability: Web services use HTTP and XML, avoiding vendor-specific on-wire formats.</a:t>
            </a:r>
          </a:p>
          <a:p>
            <a:pPr>
              <a:spcAft>
                <a:spcPts val="1000"/>
              </a:spcAft>
              <a:defRPr sz="2200">
                <a:solidFill>
                  <a:srgbClr val="8888AA"/>
                </a:solidFill>
              </a:defRPr>
            </a:pPr>
            <a:r>
              <a:t>  •  Firewall Traversal: Use standard HTTP port 80, enabling easier collaboration across firewalls.</a:t>
            </a:r>
          </a:p>
          <a:p>
            <a:pPr>
              <a:spcAft>
                <a:spcPts val="1000"/>
              </a:spcAft>
              <a:defRPr sz="2200">
                <a:solidFill>
                  <a:srgbClr val="8888AA"/>
                </a:solidFill>
              </a:defRPr>
            </a:pPr>
            <a:r>
              <a:t>  •  Reduced Complexity: Developer-friendly compared to RMI/CORBA learning curves.</a:t>
            </a:r>
          </a:p>
          <a:p>
            <a:pPr>
              <a:spcAft>
                <a:spcPts val="1000"/>
              </a:spcAft>
              <a:defRPr sz="2200">
                <a:solidFill>
                  <a:srgbClr val="8888AA"/>
                </a:solidFill>
              </a:defRPr>
            </a:pPr>
            <a:r>
              <a:t>  •  Platform independence: Language-neutral protocols enable cross-platform communication.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8888AA"/>
                </a:solidFill>
              </a:defRPr>
            </a:pPr>
            <a:r>
              <a:t>Visual suggested: Three-tier architecture diagram: 'Client (VB/JSP)', 'Java Service on Solaris', 'Database'. Arrows labeled 'SOAP over HTTP' in neon pink. Background with subtle firewall icon and port 80 badge.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0E0E0"/>
                </a:solidFill>
              </a:defRPr>
            </a:pPr>
            <a:r>
              <a:t>SOAP vs REST Web Services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SOAP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REST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Architectural style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Data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XML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XML, JSON, HTML, text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Bandwidth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Higher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Lower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Built-in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Transport-dependent (e.g., HTTPS)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Standards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Strict, comprehensive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Flexible, minimal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Java APIs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JAX-WS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JAX-RS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297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8888AA"/>
                </a:solidFill>
              </a:defRPr>
            </a:pPr>
            <a:r>
              <a:t>  •  SOAP is a protocol using XML for messaging; REST is an architectural style.</a:t>
            </a:r>
          </a:p>
          <a:p>
            <a:pPr>
              <a:spcAft>
                <a:spcPts val="1000"/>
              </a:spcAft>
              <a:defRPr sz="2200">
                <a:solidFill>
                  <a:srgbClr val="8888AA"/>
                </a:solidFill>
              </a:defRPr>
            </a:pPr>
            <a:r>
              <a:t>  •  REST is more preferred due to simplicity, lower bandwidth, and flexibility.</a:t>
            </a:r>
          </a:p>
          <a:p>
            <a:pPr>
              <a:spcAft>
                <a:spcPts val="1000"/>
              </a:spcAft>
              <a:defRPr sz="2200">
                <a:solidFill>
                  <a:srgbClr val="8888AA"/>
                </a:solidFill>
              </a:defRPr>
            </a:pPr>
            <a:r>
              <a:t>  •  SOAP defines its own security; REST inherits security from underlying transport.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8888AA"/>
                </a:solidFill>
              </a:defRPr>
            </a:pPr>
            <a:r>
              <a:t>Visual suggested: Split neon sign: left side 'SOAP' with XML envelope icon in bright cyan, right side 'REST' with URL path icon in neon pink. Background with subtle HTTP headers and JSON/XML tags.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0E0E0"/>
                </a:solidFill>
              </a:defRPr>
            </a:pPr>
            <a:r>
              <a:t>Web Services Stack &amp; XML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8888AA"/>
                </a:solidFill>
              </a:defRPr>
            </a:pPr>
            <a:r>
              <a:t>Web services rely on XML-based technologies for messaging, description, and registry functions.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8888AA"/>
                </a:solidFill>
              </a:defRPr>
            </a:pPr>
            <a:r>
              <a:t>  •  XML Messaging: SOAP uses XML for remote calls across heterogeneous systems.</a:t>
            </a:r>
          </a:p>
          <a:p>
            <a:pPr>
              <a:spcAft>
                <a:spcPts val="1000"/>
              </a:spcAft>
              <a:defRPr sz="2200">
                <a:solidFill>
                  <a:srgbClr val="8888AA"/>
                </a:solidFill>
              </a:defRPr>
            </a:pPr>
            <a:r>
              <a:t>  •  WSDL: XML-based language defining service interface, parameters, protocols, and location.</a:t>
            </a:r>
          </a:p>
          <a:p>
            <a:pPr>
              <a:spcAft>
                <a:spcPts val="1000"/>
              </a:spcAft>
              <a:defRPr sz="2200">
                <a:solidFill>
                  <a:srgbClr val="8888AA"/>
                </a:solidFill>
              </a:defRPr>
            </a:pPr>
            <a:r>
              <a:t>  •  UDDI: XML-based registry for publishing and discovering web services.</a:t>
            </a:r>
          </a:p>
          <a:p>
            <a:pPr>
              <a:spcAft>
                <a:spcPts val="1000"/>
              </a:spcAft>
              <a:defRPr sz="2200">
                <a:solidFill>
                  <a:srgbClr val="8888AA"/>
                </a:solidFill>
              </a:defRPr>
            </a:pPr>
            <a:r>
              <a:t>  •  XML is pure text, enabling cross-platform data exchange without binary compatibility issues.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8888AA"/>
                </a:solidFill>
              </a:defRPr>
            </a:pPr>
            <a:r>
              <a:t>Visual suggested: Three-layer stack: bottom 'XML Messaging (SOAP)', middle 'WSDL Interface Definition', top 'UDDI Registry'. Neon pink and cyan borders with glowing arrows between layers. Background dark with subtle XML tags.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0E0E0"/>
                </a:solidFill>
              </a:defRPr>
            </a:pPr>
            <a:r>
              <a:t>WSDL Structure &amp;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8888AA"/>
                </a:solidFill>
              </a:defRPr>
            </a:pPr>
            <a:r>
              <a:t>WSDL defines how clients interact with web services through abstract operations, bindings, and service endpoints.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3108960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WSDL Element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Purpose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&lt;types&gt;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Data type definitions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&lt;message&gt;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Abstract data being transmitted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&lt;portType&gt;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Abstract set of operations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&lt;binding&gt;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Concrete protocol and format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&lt;service&gt;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Aggregates related ports with address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5778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8888AA"/>
                </a:solidFill>
              </a:defRPr>
            </a:pPr>
            <a:r>
              <a:t>  •  Service available at http://www.examples.com/SayHello/.</a:t>
            </a:r>
          </a:p>
          <a:p>
            <a:pPr>
              <a:spcAft>
                <a:spcPts val="1000"/>
              </a:spcAft>
              <a:defRPr sz="2200">
                <a:solidFill>
                  <a:srgbClr val="8888AA"/>
                </a:solidFill>
              </a:defRPr>
            </a:pPr>
            <a:r>
              <a:t>  •  Binding specifies SOAP over HTTP transport.</a:t>
            </a:r>
          </a:p>
          <a:p>
            <a:pPr>
              <a:spcAft>
                <a:spcPts val="1000"/>
              </a:spcAft>
              <a:defRPr sz="2200">
                <a:solidFill>
                  <a:srgbClr val="8888AA"/>
                </a:solidFill>
              </a:defRPr>
            </a:pPr>
            <a:r>
              <a:t>  •  Port associates binding with URI endpoint.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1323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8888AA"/>
                </a:solidFill>
              </a:defRPr>
            </a:pPr>
            <a:r>
              <a:t>Visual suggested: XML code snippet with highlighted &lt;definitions&gt;, &lt;binding&gt;, and &lt;service&gt; tags in neon pink. Background with subtle server icon and URL badge.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0E0E0"/>
                </a:solidFill>
              </a:defRPr>
            </a:pPr>
            <a:r>
              <a:t>UDDI: Universal Description, Discovery, and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8888AA"/>
                </a:solidFill>
              </a:defRPr>
            </a:pPr>
            <a:r>
              <a:t>UDDI serves as a business and service registry essential for widespread web service use, enabling discovery and integration.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8888AA"/>
                </a:solidFill>
              </a:defRPr>
            </a:pPr>
            <a:r>
              <a:t>Visual suggested: Three-step flowchart: 'Publish' (business registers service), 'Find' (client queries registry), 'Interact' (client invokes service via WSDL). Neon pink and cyan arrows with glowing UDDI logo in center.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8888AA"/>
                </a:solidFill>
              </a:defRPr>
            </a:pPr>
            <a:r>
              <a:t>  •  Businesses populate UDDI with service descriptions.</a:t>
            </a:r>
          </a:p>
          <a:p>
            <a:pPr>
              <a:spcAft>
                <a:spcPts val="1000"/>
              </a:spcAft>
              <a:defRPr sz="2200">
                <a:solidFill>
                  <a:srgbClr val="8888AA"/>
                </a:solidFill>
              </a:defRPr>
            </a:pPr>
            <a:r>
              <a:t>  •  Marketplaces and search engines query UDDI to discover services.</a:t>
            </a:r>
          </a:p>
          <a:p>
            <a:pPr>
              <a:spcAft>
                <a:spcPts val="1000"/>
              </a:spcAft>
              <a:defRPr sz="2200">
                <a:solidFill>
                  <a:srgbClr val="8888AA"/>
                </a:solidFill>
              </a:defRPr>
            </a:pPr>
            <a:r>
              <a:t>  •  UDDI supports integration across organizations via standardized descriptions.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0E0E0"/>
                </a:solidFill>
              </a:defRPr>
            </a:pPr>
            <a:r>
              <a:t>Cloud Computing Layers &amp; Service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8888AA"/>
                </a:solidFill>
              </a:defRPr>
            </a:pPr>
            <a:r>
              <a:t>Cloud computing delivers computing resources over the internet through layered service models.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3108960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What You 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Key Components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IaaS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Infrastructure &amp; pay-per-use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VMs, storage, servers, load balancers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PaaS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Platform &amp; runtime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Runtimes, databases, web servers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SaaS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Pre-configured applications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Email, CRM, social networking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8463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8888AA"/>
                </a:solidFill>
              </a:defRPr>
            </a:pPr>
            <a:r>
              <a:t>  •  IaaS: Basic layer; requires technical knowledge of OS and infrastructure.</a:t>
            </a:r>
          </a:p>
          <a:p>
            <a:pPr>
              <a:spcAft>
                <a:spcPts val="1000"/>
              </a:spcAft>
              <a:defRPr sz="2200">
                <a:solidFill>
                  <a:srgbClr val="8888AA"/>
                </a:solidFill>
              </a:defRPr>
            </a:pPr>
            <a:r>
              <a:t>  •  PaaS: Platform layer; developers focus on apps without managing infrastructure.</a:t>
            </a:r>
          </a:p>
          <a:p>
            <a:pPr>
              <a:spcAft>
                <a:spcPts val="1000"/>
              </a:spcAft>
              <a:defRPr sz="2200">
                <a:solidFill>
                  <a:srgbClr val="8888AA"/>
                </a:solidFill>
              </a:defRPr>
            </a:pPr>
            <a:r>
              <a:t>  •  SaaS: Application layer; users access software without technical concerns.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8888AA"/>
                </a:solidFill>
              </a:defRPr>
            </a:pPr>
            <a:r>
              <a:t>Visual suggested: Three-tier cloud stack: bottom 'IaaS (Hardware)', middle 'PaaS (Runtime)', top 'SaaS (Apps)'. Neon pink and cyan gradients with glowing arrows upward. Background with subtle server racks and database icons.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0E0E0"/>
                </a:solidFill>
              </a:defRPr>
            </a:pPr>
            <a:r>
              <a:t>Virtualization &amp; Hypervisors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8888AA"/>
                </a:solidFill>
              </a:defRPr>
            </a:pPr>
            <a:r>
              <a:t>Virtualization decouples OS from hardware, enabling migration, isolation, and efficient resource utilization.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8888AA"/>
                </a:solidFill>
              </a:defRPr>
            </a:pPr>
            <a:r>
              <a:t>  •  Virtual Machine: Software implementation of a machine executing programs like a physical machine.</a:t>
            </a:r>
          </a:p>
          <a:p>
            <a:pPr>
              <a:spcAft>
                <a:spcPts val="1000"/>
              </a:spcAft>
              <a:defRPr sz="2200">
                <a:solidFill>
                  <a:srgbClr val="8888AA"/>
                </a:solidFill>
              </a:defRPr>
            </a:pPr>
            <a:r>
              <a:t>  •  Hypervisor: Thin software layer enabling multiple OS to share hardware (Type 1: bare-metal; Type 2: hosted).</a:t>
            </a:r>
          </a:p>
          <a:p>
            <a:pPr>
              <a:spcAft>
                <a:spcPts val="1000"/>
              </a:spcAft>
              <a:defRPr sz="2200">
                <a:solidFill>
                  <a:srgbClr val="8888AA"/>
                </a:solidFill>
              </a:defRPr>
            </a:pPr>
            <a:r>
              <a:t>  •  Full Virtualization: Guest OS unaware; uses binary translation or direct execution.</a:t>
            </a:r>
          </a:p>
          <a:p>
            <a:pPr>
              <a:spcAft>
                <a:spcPts val="1000"/>
              </a:spcAft>
              <a:defRPr sz="2200">
                <a:solidFill>
                  <a:srgbClr val="8888AA"/>
                </a:solidFill>
              </a:defRPr>
            </a:pPr>
            <a:r>
              <a:t>  •  Para-Virtualization: Guest OS modified for optimization; stub drivers improve performance.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8888AA"/>
                </a:solidFill>
              </a:defRPr>
            </a:pPr>
            <a:r>
              <a:t>Visual suggested: Layered architecture: hardware (bottom), hypervisor (middle), multiple VMs (top). Neon pink highlights hypervisor, cyan highlights VMs. Background with subtle circuit board pattern.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0E0E0"/>
                </a:solidFill>
              </a:defRPr>
            </a:pPr>
            <a:r>
              <a:t>IaaS Characteristics &amp;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8888AA"/>
                </a:solidFill>
              </a:defRPr>
            </a:pPr>
            <a:r>
              <a:t>IaaS provides virtualized hardware resources on-demand, with dynamic scaling, utility-style costing, and self-service provisioning.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3108960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Description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Dynamic Scaling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Resources automatically scale based on application needs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Service Levels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SLAs guarantee availability (e.g., 99.999%)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Rental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Pay for usage; no physical hardware delivery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Metering &amp;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Instance-based billing (e.g., $0.02–$2.60/hour)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Self-Service Provisioning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Users provision resources without IT intervention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5778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8888AA"/>
                </a:solidFill>
              </a:defRPr>
            </a:pPr>
            <a:r>
              <a:t>  •  No hardware investment; provider manages data centers and backups.</a:t>
            </a:r>
          </a:p>
          <a:p>
            <a:pPr>
              <a:spcAft>
                <a:spcPts val="1000"/>
              </a:spcAft>
              <a:defRPr sz="2200">
                <a:solidFill>
                  <a:srgbClr val="8888AA"/>
                </a:solidFill>
              </a:defRPr>
            </a:pPr>
            <a:r>
              <a:t>  •  Location independence: Accessible from anywhere with internet.</a:t>
            </a:r>
          </a:p>
          <a:p>
            <a:pPr>
              <a:spcAft>
                <a:spcPts val="1000"/>
              </a:spcAft>
              <a:defRPr sz="2200">
                <a:solidFill>
                  <a:srgbClr val="8888AA"/>
                </a:solidFill>
              </a:defRPr>
            </a:pPr>
            <a:r>
              <a:t>  •  No single point of failure: Redundancy ensures service continuity.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1323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8888AA"/>
                </a:solidFill>
              </a:defRPr>
            </a:pPr>
            <a:r>
              <a:t>Visual suggested: Neon cyberpunk dashboard with sliders labeled 'CPU', 'Memory', 'Storage' that auto-adjust. Background with glowing server racks and 'Pay-per-use' badge in neon pink.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0E0E0"/>
                </a:solidFill>
              </a:defRPr>
            </a:pPr>
            <a:r>
              <a:t>VM Migration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8888AA"/>
                </a:solidFill>
              </a:defRPr>
            </a:pPr>
            <a:r>
              <a:t>VM migration enables movement of virtual machines between hosts for load balancing, maintenance, and high availability.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3108960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Migration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Conditions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Use Case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Live Migration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VM powered on; shared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Proactive maintenance, load balancing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Cold Migration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VM powered off; no shared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Simple migration, no CPU compatibility checks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Live Storage Migration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Running VM; new data 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Storage reorganization without downtime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8463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8888AA"/>
                </a:solidFill>
              </a:defRPr>
            </a:pPr>
            <a:r>
              <a:t>  •  Live migration: No noticeable downtime; used by VMware VMotion and Citrix XenMotion.</a:t>
            </a:r>
          </a:p>
          <a:p>
            <a:pPr>
              <a:spcAft>
                <a:spcPts val="1000"/>
              </a:spcAft>
              <a:defRPr sz="2200">
                <a:solidFill>
                  <a:srgbClr val="8888AA"/>
                </a:solidFill>
              </a:defRPr>
            </a:pPr>
            <a:r>
              <a:t>  •  Cold migration: Simple process; moves configuration files, disks, and logs.</a:t>
            </a:r>
          </a:p>
          <a:p>
            <a:pPr>
              <a:spcAft>
                <a:spcPts val="1000"/>
              </a:spcAft>
              <a:defRPr sz="2200">
                <a:solidFill>
                  <a:srgbClr val="8888AA"/>
                </a:solidFill>
              </a:defRPr>
            </a:pPr>
            <a:r>
              <a:t>  •  All VM components (CPU, memory, storage, networking) are virtualized for easy migration.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8888AA"/>
                </a:solidFill>
              </a:defRPr>
            </a:pPr>
            <a:r>
              <a:t>Visual suggested: Three animated panels: VM moving between servers with 'Live', 'Cold', and 'Storage' labels in neon pink and cyan. Background with subtle network topology map.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0E0E0"/>
                </a:solidFill>
              </a:defRPr>
            </a:pPr>
            <a:r>
              <a:t>Distributed Systems &amp; Middleware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8888AA"/>
                </a:solidFill>
              </a:defRPr>
            </a:pPr>
            <a:r>
              <a:t>Distributed systems appear as a single coherent system, with middleware masking heterogeneity and enabling transparent communication.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8888AA"/>
                </a:solidFill>
              </a:defRPr>
            </a:pPr>
            <a:r>
              <a:t>  •  Transparency: Hides distribution aspects (access, location, migration, replication, failure).</a:t>
            </a:r>
          </a:p>
          <a:p>
            <a:pPr>
              <a:spcAft>
                <a:spcPts val="1000"/>
              </a:spcAft>
              <a:defRPr sz="2200">
                <a:solidFill>
                  <a:srgbClr val="8888AA"/>
                </a:solidFill>
              </a:defRPr>
            </a:pPr>
            <a:r>
              <a:t>  •  Openness: Enables interoperability across heterogeneous environments.</a:t>
            </a:r>
          </a:p>
          <a:p>
            <a:pPr>
              <a:spcAft>
                <a:spcPts val="1000"/>
              </a:spcAft>
              <a:defRPr sz="2200">
                <a:solidFill>
                  <a:srgbClr val="8888AA"/>
                </a:solidFill>
              </a:defRPr>
            </a:pPr>
            <a:r>
              <a:t>  •  Scalability: System remains effective with increased users and resources.</a:t>
            </a:r>
          </a:p>
          <a:p>
            <a:pPr>
              <a:spcAft>
                <a:spcPts val="1000"/>
              </a:spcAft>
              <a:defRPr sz="2200">
                <a:solidFill>
                  <a:srgbClr val="8888AA"/>
                </a:solidFill>
              </a:defRPr>
            </a:pPr>
            <a:r>
              <a:t>  •  Middleware: Software layer above OS, below apps, masking heterogeneity (e.g., RPC, CORBA).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8888AA"/>
                </a:solidFill>
              </a:defRPr>
            </a:pPr>
            <a:r>
              <a:t>Visual suggested: Distributed system with multiple nodes connected by glowing arrows labeled 'messages'. Middleware layer in neon pink overlays OS and hardware. Background with subtle globe and network map.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0E0E0"/>
                </a:solidFill>
              </a:defRPr>
            </a:pPr>
            <a:r>
              <a:t>Grid vs. Cloud Computing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Grid Computing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Cloud Computing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Utility computing for complex problems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Utility computing for scalable apps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Resource Allocation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Negotiated, managed schedulers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Simple user-provider model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Domains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Multiple domains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Single domain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Character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Non-commercial, publicly funded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Commercial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Heterogeneity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Heterogeneous, geographically dispersed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Virtualized, homogeneous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9319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8888AA"/>
                </a:solidFill>
              </a:defRPr>
            </a:pPr>
            <a:r>
              <a:t>  •  Grid: Heterogeneous, autonomous nodes; used for scientific computing.</a:t>
            </a:r>
          </a:p>
          <a:p>
            <a:pPr>
              <a:spcAft>
                <a:spcPts val="1000"/>
              </a:spcAft>
              <a:defRPr sz="2200">
                <a:solidFill>
                  <a:srgbClr val="8888AA"/>
                </a:solidFill>
              </a:defRPr>
            </a:pPr>
            <a:r>
              <a:t>  •  Cloud: Virtualized, unified resources; designed for network-centric application development.</a:t>
            </a:r>
          </a:p>
          <a:p>
            <a:pPr>
              <a:spcAft>
                <a:spcPts val="1000"/>
              </a:spcAft>
              <a:defRPr sz="2200">
                <a:solidFill>
                  <a:srgbClr val="8888AA"/>
                </a:solidFill>
              </a:defRPr>
            </a:pPr>
            <a:r>
              <a:t>  •  Both use utility computing, but cloud emphasizes standardization and ease of use.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8888AA"/>
                </a:solidFill>
              </a:defRPr>
            </a:pPr>
            <a:r>
              <a:t>Visual suggested: Split screen: left side 'Grid' with scattered nodes and complex arrows, right side 'Cloud' with centralized VMs and simple arrows. Neon pink and cyan highlights with subtle circuit patterns.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0E0E0"/>
                </a:solidFill>
              </a:defRPr>
            </a:pPr>
            <a:r>
              <a:t>Cloud Deployment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8888AA"/>
                </a:solidFill>
              </a:defRPr>
            </a:pPr>
            <a:r>
              <a:t>  •  Public Cloud: Accessible to general public; less secure but cost-effective (e.g., AWS, Azure).</a:t>
            </a:r>
          </a:p>
          <a:p>
            <a:pPr>
              <a:spcAft>
                <a:spcPts val="1000"/>
              </a:spcAft>
              <a:defRPr sz="2200">
                <a:solidFill>
                  <a:srgbClr val="8888AA"/>
                </a:solidFill>
              </a:defRPr>
            </a:pPr>
            <a:r>
              <a:t>  •  Private Cloud: Exclusive to single organization; enhanced security and control.</a:t>
            </a:r>
          </a:p>
          <a:p>
            <a:pPr>
              <a:spcAft>
                <a:spcPts val="1000"/>
              </a:spcAft>
              <a:defRPr sz="2200">
                <a:solidFill>
                  <a:srgbClr val="8888AA"/>
                </a:solidFill>
              </a:defRPr>
            </a:pPr>
            <a:r>
              <a:t>  •  Community Cloud: Shared by organizations with common concerns (e.g., security, compliance).</a:t>
            </a:r>
          </a:p>
          <a:p>
            <a:pPr>
              <a:spcAft>
                <a:spcPts val="1000"/>
              </a:spcAft>
              <a:defRPr sz="2200">
                <a:solidFill>
                  <a:srgbClr val="8888AA"/>
                </a:solidFill>
              </a:defRPr>
            </a:pPr>
            <a:r>
              <a:t>  •  Hybrid Cloud: Mix of public and private; critical tasks use private, non-critical use public.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8888AA"/>
                </a:solidFill>
              </a:defRPr>
            </a:pPr>
            <a:r>
              <a:t>Hybrid clouds enable 'cloud bursting'—releasing public cloud resources during sudden demand spikes.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8888AA"/>
                </a:solidFill>
              </a:defRPr>
            </a:pPr>
            <a:r>
              <a:t>Visual suggested: Four icons: 'Public' (globe), 'Private' (building), 'Community' (group), 'Hybrid' (merge). Neon pink and cyan borders with glowing firewall and cloud icons. Background with subtle network map.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