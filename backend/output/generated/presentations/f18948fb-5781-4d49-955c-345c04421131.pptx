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Distributed Systems &amp; Cloud Computing 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 i="0">
                <a:solidFill>
                  <a:srgbClr val="2563EB"/>
                </a:solidFill>
                <a:latin typeface="Inter"/>
              </a:defRPr>
            </a:pPr>
            <a:r>
              <a:t>Core Concepts, Architectures, and Service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Based on authoritative definitions from Buyya and W3C standards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4016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1A2639"/>
                </a:solidFill>
                <a:latin typeface="Open Sans"/>
              </a:defRPr>
            </a:pPr>
            <a:r>
              <a:t>A conceptual diagram showing interconnected computers forming a unified resource, with arrows indicating communication paths and virtualization layers overlaying physical hardware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Distributed System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“a collection of interconnected stand-alone computers cooperatively working together as a single, integrated computing resource”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84248"/>
            <a:ext cx="11094415" cy="694944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“a collection of interconnected and virtualized computers that are dynamically provisioned and presented as one or more unified computing resources based on service-level agreements”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0720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Key distinction: Distributed systems emphasize cooperation; cloud computing adds virtualization and dynamic provisioning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65576"/>
            <a:ext cx="1109441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Both models rely on loose coupling, standard interfaces, and service abstraction to manage heterogeneity and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Middleware: The Abstraction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694944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“a software layer between applications and the OS whose purpose is to mask heterogeneity of the underlying components and to provide a convenient programming model to application programmers”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“a class of software technologies designed to help manage the complexity and heterogeneity inherent in distributed systems”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0720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Middleware resides above OS but below application—providing common programming abstractions across heterogeneous 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65576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1A2639"/>
                </a:solidFill>
                <a:latin typeface="Open Sans"/>
              </a:defRPr>
            </a:pPr>
            <a:r>
              <a:t>A layered architecture diagram: Physical Hardware → Operating System → Middleware (highlighted in blue) → Application Programs, with labels indicating abstraction and masking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Service-Oriented Computing (SOC)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“Service orientation is the core reference model for cloud computing systems”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“This approach adopts the concept of services as the main building blocks of application and system development”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78024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Enables rapid, low-cost development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Supports flexible, interoperable, and evolvable systems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Services are specified through interfaces (often in IDLs) (Excerpt 7, 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75304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SOC underpins cloud computing—services are the atomic units of composition and reuse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Web Services Architecture (WSDL Elements)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4" cy="2916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364617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&lt;types&gt;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Provides data type definitions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&lt;message&gt;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Abstract definition of transmitted data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&lt;portType&gt;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Set of abstract operations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&lt;binding&gt;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Concrete protocol and data format for operations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&lt;port&gt;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Address for a binding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&lt;service&gt;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Aggregates related ports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64617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&lt;serviceType&gt;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Aggregates portTypes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389120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WSDL defines the interface for requester–provider interaction (Excerpt 15, 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Web Services Architecture (WSDL Elements)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1A2639"/>
                </a:solidFill>
                <a:latin typeface="Open Sans"/>
              </a:defRPr>
            </a:pPr>
            <a:r>
              <a:t>A WSDL document structure visualized as nested boxes: &lt;definitions&gt; containing &lt;types&gt;, &lt;message&gt;, &lt;portType&gt;, &lt;binding&gt;, &lt;port&gt;, and &lt;service&gt; elements, with color-coded layers for abstraction (portType) vs concreteness (binding, port)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XML vs HTML: Purpose &amp;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8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XML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HTML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Tag Flexibility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Extensible: user-defined tags and attributes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Fixed: pre-determined tags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Orientation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Content-oriented: designed to transport/store data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Presentation-oriented: designed to display data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Supports schema validation (XSD)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No built-in validation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Data exchange, configuration, service interfaces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Web page rendering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483864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“XML is for computers; HTML is for humans”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7764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XML enables machine-readable, validated data transport; HTML is for human-facing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XML Document Validity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“Well formed: Syntax is correct (all tags opened and closed)”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19656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“Valid: All the elements match the definitions written in the schema”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3432"/>
            <a:ext cx="11094415" cy="365760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“XML Documents (xml) == XML Instances of the Schema (xsd)”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07208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1. Step 1: Ensure well-formedness (balanced tags, proper nesting)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2. Step 2: Validate against XSD schema for structural and semantic correctness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3. Step 3: Confirm conformance to defined data types and constraints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0448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Well-formedness is syntactic; validity is semantic—both required for robust service communication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Transparency Properties in Distributed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335280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Transparency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Hide differences in data representation and access methods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Hide where a resource is located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Migration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Hide that a resource may move to another location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Relocation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Hide that a resource may be moved while in use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Replication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Hide that a resource is replicated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Concurrency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Hide that a resource may be shared by competitive users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Failure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Hide failure and recovery of a resource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Persistence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Hide whether a resource is in memory or on disk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489704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Transparencies collectively enable seamless interaction despite underlying complexity (Excerpt 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Cloud Service Models: IaaS, PaaS, SaaS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2" cy="1709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3"/>
              </a:tblGrid>
              <a:tr h="427482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What You Get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Technical Difficulty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Deals With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2748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IaaS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Infrastructure (VMs, storage, servers, networks)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Virtualization, infrastructure management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2748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PaaS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Platform (runtimes, databases, web servers)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Development environment, deployment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27482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SaaS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Pre-configured applications (email, social media)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End-user software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182112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IaaS is foundational; PaaS builds on it for developers; SaaS delivers ready-to-use applications (Excerpt 13)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Cloud Computing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Loose Coupling: Services interact via well-defined interfaces without tight dependencies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Standard-Based Interoperability: Use open standards (e.g., REST, SOAP, WSDL) for cross-platform compatibility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Flexibility &amp; Scalability: Resources can be dynamically allocated or deallocated based on demand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Reusability: Services and components can be reused across applications and domains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Reduced Complexity: Abstraction hides infrastructure details from end users and developers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Programmatically Accessible: APIs enable automation, integration, and orchestration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Application-to-Application Communication: Services communicate directly via machine-readable protocols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410712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“The main principle behind cloud computing model is to offer computing, storage, and software as a service or as a utility”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06908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Internet access is the only requirement for consumption—services are delivered on-demand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Cloud 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944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3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Ownership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400" b="1" i="0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Private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Owned by single organization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Internal users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Moderate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Community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Owned by community of organizations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Shared mission/concerns (e.g., security)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Higher (custom governance)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Public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Third-party provider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General public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Hybrid Cloud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Combination of two or more models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Mixed internal/external needs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0" i="0">
                          <a:solidFill>
                            <a:srgbClr val="1A2639"/>
                          </a:solidFill>
                          <a:latin typeface="Open Sans"/>
                        </a:defRPr>
                      </a:pPr>
                      <a:r>
                        <a:t>Highest (integration complexity)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3483864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Hybrid clouds support flexibility but increase integration complexity (Excerpt 19)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Web Services Registry: UDDI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“Universal Description, Discovery and Integration (UDDI) serves as a 'business and service' registry essential for the widespread use of Web services”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84248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Businesses populate registry with service descriptions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Enables discovery and integration over the Web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Supports dynamic binding and composition of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81528"/>
            <a:ext cx="11094415" cy="2377440"/>
          </a:xfrm>
          <a:prstGeom prst="roundRect">
            <a:avLst/>
          </a:prstGeom>
          <a:solidFill>
            <a:srgbClr val="F7F9FC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 i="1">
                <a:solidFill>
                  <a:srgbClr val="1A2639"/>
                </a:solidFill>
                <a:latin typeface="Open Sans"/>
              </a:defRPr>
            </a:pPr>
            <a:r>
              <a:t>A registry diagram: three businesses (A, B, C) publishing service descriptions into a central UDDI node; a requester queries UDDI to discover and bind to services, with labeled arrows for publish, find, and bind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Cloud Middleware &amp; Management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“Cloud Middleware: Management and Monitoring, Security, MapReduce Programming” (Excerpt 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84248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Middleware abstracts heterogeneity across virtualized resources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Cloud management includes provisioning, monitoring, scaling, and security enforcement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MapReduce enables distributed data processing at scale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8152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Middleware bridges infrastructure and application layers—critical for elasticity and abstraction in cloud environments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Key Needs &amp; Enablers of Cloud Computing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325880"/>
            <a:ext cx="1098468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1. Virtualization: Enables resource abstraction and multi-tenancy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2. Cloud Architecture: Layered design (network, compute, storage, management)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3. Types of Virtualization: OS, hardware, network, storage virtualization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4. Opportunities &amp; Challenges: Scalability vs. security, cost vs. control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5. Future: Edge integration, AI-driven automation, green computing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916936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Virtualization is the foundational enabler—without it, cloud elasticity and resource pooling are impossible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 i="0">
                <a:solidFill>
                  <a:srgbClr val="1A2639"/>
                </a:solidFill>
                <a:latin typeface="Inter"/>
              </a:defRPr>
            </a:pPr>
            <a:r>
              <a:t>Summary: Interoperability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109441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0" i="1">
                <a:solidFill>
                  <a:srgbClr val="1A2639"/>
                </a:solidFill>
                <a:latin typeface="Open Sans"/>
              </a:defRPr>
            </a:pPr>
            <a:r>
              <a:t>“Systems should conform to well-defined interfaces, support portability, and easily interoperate” (Excerpt 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84248"/>
            <a:ext cx="10984687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Interfaces must be standardized (e.g., WSDL, REST, SOAP)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Applications must be portable across environments</a:t>
            </a:r>
          </a:p>
          <a:p>
            <a:pPr>
              <a:spcAft>
                <a:spcPts val="600"/>
              </a:spcAft>
              <a:defRPr sz="1800" b="0" i="0">
                <a:solidFill>
                  <a:srgbClr val="1A2639"/>
                </a:solidFill>
                <a:latin typeface="Open Sans"/>
              </a:defRPr>
            </a:pPr>
            <a:r>
              <a:t>• Interoperability requires semantic and syntactic alignment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81528"/>
            <a:ext cx="11094415" cy="530352"/>
          </a:xfrm>
          <a:prstGeom prst="roundRect">
            <a:avLst/>
          </a:prstGeom>
          <a:solidFill>
            <a:srgbClr val="F5F7FA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 i="0">
                <a:solidFill>
                  <a:srgbClr val="1A2639"/>
                </a:solidFill>
                <a:latin typeface="Open Sans"/>
              </a:defRPr>
            </a:pPr>
            <a:r>
              <a:t>Interoperability is non-negotiable in distributed and cloud systems—enabled by SOC, XML, and middleware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