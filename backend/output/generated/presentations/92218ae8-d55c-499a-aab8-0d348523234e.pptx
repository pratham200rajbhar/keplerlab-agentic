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pPr>
              <a:defRPr sz="3600">
                <a:solidFill>
                  <a:srgbClr val="0F766E"/>
                </a:solidFill>
              </a:defRPr>
            </a:pPr>
            <a:r>
              <a:t>XML vs HTML: Purpose and Structure</a:t>
            </a:r>
          </a:p>
        </p:txBody>
      </p:sp>
      <p:sp>
        <p:nvSpPr>
          <p:cNvPr id="3" name="TextBox 2"/>
          <p:cNvSpPr txBox="1"/>
          <p:nvPr/>
        </p:nvSpPr>
        <p:spPr>
          <a:xfrm>
            <a:off x="731520" y="1554480"/>
            <a:ext cx="10789920" cy="548640"/>
          </a:xfrm>
          <a:prstGeom prst="rect">
            <a:avLst/>
          </a:prstGeom>
          <a:noFill/>
        </p:spPr>
        <p:txBody>
          <a:bodyPr wrap="none">
            <a:spAutoFit/>
          </a:bodyPr>
          <a:lstStyle/>
          <a:p>
            <a:pPr>
              <a:defRPr sz="2400">
                <a:solidFill>
                  <a:srgbClr val="0F766E"/>
                </a:solidFill>
              </a:defRPr>
            </a:pPr>
            <a:r>
              <a:t>Data Transport vs. Data Presentation</a:t>
            </a:r>
          </a:p>
        </p:txBody>
      </p:sp>
      <p:sp>
        <p:nvSpPr>
          <p:cNvPr id="4" name="TextBox 3"/>
          <p:cNvSpPr txBox="1"/>
          <p:nvPr/>
        </p:nvSpPr>
        <p:spPr>
          <a:xfrm>
            <a:off x="822960" y="2194560"/>
            <a:ext cx="10424160" cy="2057400"/>
          </a:xfrm>
          <a:prstGeom prst="rect">
            <a:avLst/>
          </a:prstGeom>
          <a:noFill/>
        </p:spPr>
        <p:txBody>
          <a:bodyPr wrap="none">
            <a:spAutoFit/>
          </a:bodyPr>
          <a:lstStyle/>
          <a:p>
            <a:pPr>
              <a:defRPr sz="2000">
                <a:solidFill>
                  <a:srgbClr val="0F172A"/>
                </a:solidFill>
              </a:defRPr>
            </a:pPr>
            <a:r>
              <a:t>XML is content-oriented and designed to transport and store data; HTML is presentation-oriented and designed to display data.</a:t>
            </a:r>
          </a:p>
          <a:p>
            <a:pPr>
              <a:defRPr sz="2000">
                <a:solidFill>
                  <a:srgbClr val="0F172A"/>
                </a:solidFill>
              </a:defRPr>
            </a:pPr>
            <a:r>
              <a:t>XML allows users to define custom tags and attributes with semantic meaning; HTML uses a fixed, pre-determined set of tags.</a:t>
            </a:r>
          </a:p>
          <a:p>
            <a:pPr>
              <a:defRPr sz="2000">
                <a:solidFill>
                  <a:srgbClr val="0F172A"/>
                </a:solidFill>
              </a:defRPr>
            </a:pPr>
            <a:r>
              <a:t>XML supports validation through schemas (e.g., XSD); HTML has no built-in data validation capabilities.</a:t>
            </a:r>
          </a:p>
          <a:p>
            <a:pPr>
              <a:defRPr sz="2000">
                <a:solidFill>
                  <a:srgbClr val="0F172A"/>
                </a:solidFill>
              </a:defRPr>
            </a:pPr>
            <a:r>
              <a:t>XML documents require explicit declaration of encoding and version (e.g., &lt;?xml version="1.0" encoding="UTF-8"?&gt;).</a:t>
            </a:r>
          </a:p>
          <a:p>
            <a:pPr>
              <a:defRPr sz="2000">
                <a:solidFill>
                  <a:srgbClr val="0F172A"/>
                </a:solidFill>
              </a:defRPr>
            </a:pPr>
            <a:r>
              <a:t>XML enforces strict well-formedness rules (e.g., proper nesting, closing tags); HTML is more tolerant of syntax errors.</a:t>
            </a:r>
          </a:p>
        </p:txBody>
      </p:sp>
      <p:sp>
        <p:nvSpPr>
          <p:cNvPr id="5" name="TextBox 4"/>
          <p:cNvSpPr txBox="1"/>
          <p:nvPr/>
        </p:nvSpPr>
        <p:spPr>
          <a:xfrm>
            <a:off x="822960" y="4434840"/>
            <a:ext cx="10424160" cy="1280160"/>
          </a:xfrm>
          <a:prstGeom prst="rect">
            <a:avLst/>
          </a:prstGeom>
          <a:noFill/>
        </p:spPr>
        <p:txBody>
          <a:bodyPr wrap="none">
            <a:spAutoFit/>
          </a:bodyPr>
          <a:lstStyle/>
          <a:p>
            <a:pPr>
              <a:defRPr sz="1800">
                <a:solidFill>
                  <a:srgbClr val="0F172A"/>
                </a:solidFill>
              </a:defRPr>
            </a:pPr>
            <a:r>
              <a:t>The distinction between XML and HTML reflects a fundamental division in web technologies: XML serves as a meta-language for structuring data exchange between systems, while HTML is a markup language for rendering content in browsers. XML’s extensibility enables domain-specific vocabularies (e.g., DocBook, RSS), whereas HTML’s static tag set focuses on visual layout and semantics for human consumption. This separation allows systems to decouple data representation from presentation, supporting interoperability across heterogeneous platforms.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pPr>
              <a:defRPr sz="3600">
                <a:solidFill>
                  <a:srgbClr val="0F766E"/>
                </a:solidFill>
              </a:defRPr>
            </a:pPr>
            <a:r>
              <a:t>Web Service Communication: SOAP Message Structure</a:t>
            </a:r>
          </a:p>
        </p:txBody>
      </p:sp>
      <p:sp>
        <p:nvSpPr>
          <p:cNvPr id="3" name="TextBox 2"/>
          <p:cNvSpPr txBox="1"/>
          <p:nvPr/>
        </p:nvSpPr>
        <p:spPr>
          <a:xfrm>
            <a:off x="731520" y="1554480"/>
            <a:ext cx="10789920" cy="548640"/>
          </a:xfrm>
          <a:prstGeom prst="rect">
            <a:avLst/>
          </a:prstGeom>
          <a:noFill/>
        </p:spPr>
        <p:txBody>
          <a:bodyPr wrap="none">
            <a:spAutoFit/>
          </a:bodyPr>
          <a:lstStyle/>
          <a:p>
            <a:pPr>
              <a:defRPr sz="2400">
                <a:solidFill>
                  <a:srgbClr val="0F766E"/>
                </a:solidFill>
              </a:defRPr>
            </a:pPr>
            <a:r>
              <a:t>Envelope, Header, Body, and Encoding</a:t>
            </a:r>
          </a:p>
        </p:txBody>
      </p:sp>
      <p:sp>
        <p:nvSpPr>
          <p:cNvPr id="4" name="TextBox 3"/>
          <p:cNvSpPr txBox="1"/>
          <p:nvPr/>
        </p:nvSpPr>
        <p:spPr>
          <a:xfrm>
            <a:off x="822960" y="2194560"/>
            <a:ext cx="10424160" cy="2057400"/>
          </a:xfrm>
          <a:prstGeom prst="rect">
            <a:avLst/>
          </a:prstGeom>
          <a:noFill/>
        </p:spPr>
        <p:txBody>
          <a:bodyPr wrap="none">
            <a:spAutoFit/>
          </a:bodyPr>
          <a:lstStyle/>
          <a:p>
            <a:pPr>
              <a:defRPr sz="2000">
                <a:solidFill>
                  <a:srgbClr val="0F172A"/>
                </a:solidFill>
              </a:defRPr>
            </a:pPr>
            <a:r>
              <a:t>A SOAP message is an XML document wrapped in an Envelope element that defines the start and end of the message.</a:t>
            </a:r>
          </a:p>
          <a:p>
            <a:pPr>
              <a:defRPr sz="2000">
                <a:solidFill>
                  <a:srgbClr val="0F172A"/>
                </a:solidFill>
              </a:defRPr>
            </a:pPr>
            <a:r>
              <a:t>The Envelope declares XML namespaces for SOAP standards (e.g., xmlns:SOAP-ENV="http://schemas.xmlsoap.org/soap/envelope/").</a:t>
            </a:r>
          </a:p>
          <a:p>
            <a:pPr>
              <a:defRPr sz="2000">
                <a:solidFill>
                  <a:srgbClr val="0F172A"/>
                </a:solidFill>
              </a:defRPr>
            </a:pPr>
            <a:r>
              <a:t>The Body element contains the actual request or response data, such as the calculateCarPayment operation with loanAmount, loanTerm, and loanRate parameters.</a:t>
            </a:r>
          </a:p>
          <a:p>
            <a:pPr>
              <a:defRPr sz="2000">
                <a:solidFill>
                  <a:srgbClr val="0F172A"/>
                </a:solidFill>
              </a:defRPr>
            </a:pPr>
            <a:r>
              <a:t>Type information is explicitly encoded using xsi:type="xsd:string" to ensure unambiguous interpretation by the receiver.</a:t>
            </a:r>
          </a:p>
          <a:p>
            <a:pPr>
              <a:defRPr sz="2000">
                <a:solidFill>
                  <a:srgbClr val="0F172A"/>
                </a:solidFill>
              </a:defRPr>
            </a:pPr>
            <a:r>
              <a:t>The encodingStyle attribute specifies the serialization rules (e.g., http://schemas.xmlsoap.org/soap/encoding/).</a:t>
            </a:r>
          </a:p>
        </p:txBody>
      </p:sp>
      <p:graphicFrame>
        <p:nvGraphicFramePr>
          <p:cNvPr id="5" name="Table 4"/>
          <p:cNvGraphicFramePr>
            <a:graphicFrameLocks noGrp="1"/>
          </p:cNvGraphicFramePr>
          <p:nvPr/>
        </p:nvGraphicFramePr>
        <p:xfrm>
          <a:off x="822960" y="4434840"/>
          <a:ext cx="10424160" cy="2286000"/>
        </p:xfrm>
        <a:graphic>
          <a:graphicData uri="http://schemas.openxmlformats.org/drawingml/2006/table">
            <a:tbl>
              <a:tblPr firstRow="1" bandRow="1">
                <a:tableStyleId>{5C22544A-7EE6-4342-B048-85BDC9FD1C3A}</a:tableStyleId>
              </a:tblPr>
              <a:tblGrid>
                <a:gridCol w="5212080"/>
                <a:gridCol w="5212080"/>
              </a:tblGrid>
              <a:tr h="457200">
                <a:tc>
                  <a:txBody>
                    <a:bodyPr/>
                    <a:lstStyle/>
                    <a:p>
                      <a:r>
                        <a:t>SOAP Component</a:t>
                      </a:r>
                    </a:p>
                  </a:txBody>
                  <a:tcPr/>
                </a:tc>
                <a:tc>
                  <a:txBody>
                    <a:bodyPr/>
                    <a:lstStyle/>
                    <a:p>
                      <a:r>
                        <a:t>Purpose</a:t>
                      </a:r>
                    </a:p>
                  </a:txBody>
                  <a:tcPr/>
                </a:tc>
              </a:tr>
              <a:tr h="457200">
                <a:tc>
                  <a:txBody>
                    <a:bodyPr/>
                    <a:lstStyle/>
                    <a:p>
                      <a:r>
                        <a:t>Envelope</a:t>
                      </a:r>
                    </a:p>
                  </a:txBody>
                  <a:tcPr/>
                </a:tc>
                <a:tc>
                  <a:txBody>
                    <a:bodyPr/>
                    <a:lstStyle/>
                    <a:p>
                      <a:r>
                        <a:t>Root element defining message boundaries and namespaces</a:t>
                      </a:r>
                    </a:p>
                  </a:txBody>
                  <a:tcPr/>
                </a:tc>
              </a:tr>
              <a:tr h="457200">
                <a:tc>
                  <a:txBody>
                    <a:bodyPr/>
                    <a:lstStyle/>
                    <a:p>
                      <a:r>
                        <a:t>Header (optional)</a:t>
                      </a:r>
                    </a:p>
                  </a:txBody>
                  <a:tcPr/>
                </a:tc>
                <a:tc>
                  <a:txBody>
                    <a:bodyPr/>
                    <a:lstStyle/>
                    <a:p>
                      <a:r>
                        <a:t>Carries metadata (e.g., authentication, routing)</a:t>
                      </a:r>
                    </a:p>
                  </a:txBody>
                  <a:tcPr/>
                </a:tc>
              </a:tr>
              <a:tr h="457200">
                <a:tc>
                  <a:txBody>
                    <a:bodyPr/>
                    <a:lstStyle/>
                    <a:p>
                      <a:r>
                        <a:t>Body</a:t>
                      </a:r>
                    </a:p>
                  </a:txBody>
                  <a:tcPr/>
                </a:tc>
                <a:tc>
                  <a:txBody>
                    <a:bodyPr/>
                    <a:lstStyle/>
                    <a:p>
                      <a:r>
                        <a:t>Contains the core message payload (request/response data)</a:t>
                      </a:r>
                    </a:p>
                  </a:txBody>
                  <a:tcPr/>
                </a:tc>
              </a:tr>
              <a:tr h="457200">
                <a:tc>
                  <a:txBody>
                    <a:bodyPr/>
                    <a:lstStyle/>
                    <a:p>
                      <a:r>
                        <a:t>Fault (optional)</a:t>
                      </a:r>
                    </a:p>
                  </a:txBody>
                  <a:tcPr/>
                </a:tc>
                <a:tc>
                  <a:txBody>
                    <a:bodyPr/>
                    <a:lstStyle/>
                    <a:p>
                      <a:r>
                        <a:t>Reports errors in processing (not shown in example)</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pPr>
              <a:defRPr sz="3600">
                <a:solidFill>
                  <a:srgbClr val="0F766E"/>
                </a:solidFill>
              </a:defRPr>
            </a:pPr>
            <a:r>
              <a:t>Full Virtualization: Techniques and Examples</a:t>
            </a:r>
          </a:p>
        </p:txBody>
      </p:sp>
      <p:sp>
        <p:nvSpPr>
          <p:cNvPr id="3" name="TextBox 2"/>
          <p:cNvSpPr txBox="1"/>
          <p:nvPr/>
        </p:nvSpPr>
        <p:spPr>
          <a:xfrm>
            <a:off x="731520" y="1554480"/>
            <a:ext cx="10789920" cy="548640"/>
          </a:xfrm>
          <a:prstGeom prst="rect">
            <a:avLst/>
          </a:prstGeom>
          <a:noFill/>
        </p:spPr>
        <p:txBody>
          <a:bodyPr wrap="none">
            <a:spAutoFit/>
          </a:bodyPr>
          <a:lstStyle/>
          <a:p>
            <a:pPr>
              <a:defRPr sz="2400">
                <a:solidFill>
                  <a:srgbClr val="0F766E"/>
                </a:solidFill>
              </a:defRPr>
            </a:pPr>
            <a:r>
              <a:t>No Guest OS Modification Required</a:t>
            </a:r>
          </a:p>
        </p:txBody>
      </p:sp>
      <p:sp>
        <p:nvSpPr>
          <p:cNvPr id="4" name="TextBox 3"/>
          <p:cNvSpPr txBox="1"/>
          <p:nvPr/>
        </p:nvSpPr>
        <p:spPr>
          <a:xfrm>
            <a:off x="822960" y="2194560"/>
            <a:ext cx="10424160" cy="2057400"/>
          </a:xfrm>
          <a:prstGeom prst="rect">
            <a:avLst/>
          </a:prstGeom>
          <a:noFill/>
        </p:spPr>
        <p:txBody>
          <a:bodyPr wrap="none">
            <a:spAutoFit/>
          </a:bodyPr>
          <a:lstStyle/>
          <a:p>
            <a:pPr>
              <a:defRPr sz="2000">
                <a:solidFill>
                  <a:srgbClr val="0F172A"/>
                </a:solidFill>
              </a:defRPr>
            </a:pPr>
            <a:r>
              <a:t>Full virtualization uses binary translation to replace non-virtualizable privileged instructions with safe equivalents, while direct execution handles user-level instructions for performance.</a:t>
            </a:r>
          </a:p>
          <a:p>
            <a:pPr>
              <a:defRPr sz="2000">
                <a:solidFill>
                  <a:srgbClr val="0F172A"/>
                </a:solidFill>
              </a:defRPr>
            </a:pPr>
            <a:r>
              <a:t>It provides a complete simulation of the underlying hardware, creating an exact copy of the physical system for the guest OS.</a:t>
            </a:r>
          </a:p>
          <a:p>
            <a:pPr>
              <a:defRPr sz="2000">
                <a:solidFill>
                  <a:srgbClr val="0F172A"/>
                </a:solidFill>
              </a:defRPr>
            </a:pPr>
            <a:r>
              <a:t>The guest operating system runs unmodified and is unaware of the virtualized environment.</a:t>
            </a:r>
          </a:p>
          <a:p>
            <a:pPr>
              <a:defRPr sz="2000">
                <a:solidFill>
                  <a:srgbClr val="0F172A"/>
                </a:solidFill>
              </a:defRPr>
            </a:pPr>
            <a:r>
              <a:t>Significant virtualization overhead arises due to instruction interception and translation, especially for privileged operations.</a:t>
            </a:r>
          </a:p>
          <a:p>
            <a:pPr>
              <a:defRPr sz="2000">
                <a:solidFill>
                  <a:srgbClr val="0F172A"/>
                </a:solidFill>
              </a:defRPr>
            </a:pPr>
            <a:r>
              <a:t>Examples include commercial solutions like VMware ESX, Microsoft Virtual Server, and Citrix XenServer; open-source options include Linux Xen HVM and KVM.</a:t>
            </a:r>
          </a:p>
        </p:txBody>
      </p:sp>
      <p:sp>
        <p:nvSpPr>
          <p:cNvPr id="5" name="TextBox 4"/>
          <p:cNvSpPr txBox="1"/>
          <p:nvPr/>
        </p:nvSpPr>
        <p:spPr>
          <a:xfrm>
            <a:off x="822960" y="4434840"/>
            <a:ext cx="10424160" cy="1280160"/>
          </a:xfrm>
          <a:prstGeom prst="rect">
            <a:avLst/>
          </a:prstGeom>
          <a:noFill/>
        </p:spPr>
        <p:txBody>
          <a:bodyPr wrap="none">
            <a:spAutoFit/>
          </a:bodyPr>
          <a:lstStyle/>
          <a:p>
            <a:pPr>
              <a:defRPr sz="1800">
                <a:solidFill>
                  <a:srgbClr val="0F172A"/>
                </a:solidFill>
              </a:defRPr>
            </a:pPr>
            <a:r>
              <a:t>Full virtualization achieves hardware abstraction by decoupling the guest OS from the physical hardware, enabling portability and isolation. The hypervisor layer intercepts sensitive instructions and translates them at runtime, ensuring security and stability without requiring changes to the guest OS. This approach supports diverse operating systems—including unmodified Windows and Linux distributions—on the same host, making it ideal for enterprise server consolidation and cloud infrastructure where flexibility and compatibility are critical.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pPr>
              <a:defRPr sz="3600">
                <a:solidFill>
                  <a:srgbClr val="0F766E"/>
                </a:solidFill>
              </a:defRPr>
            </a:pPr>
            <a:r>
              <a:t>Distributed System Interoperability Requirements</a:t>
            </a:r>
          </a:p>
        </p:txBody>
      </p:sp>
      <p:sp>
        <p:nvSpPr>
          <p:cNvPr id="3" name="TextBox 2"/>
          <p:cNvSpPr txBox="1"/>
          <p:nvPr/>
        </p:nvSpPr>
        <p:spPr>
          <a:xfrm>
            <a:off x="731520" y="1554480"/>
            <a:ext cx="10789920" cy="548640"/>
          </a:xfrm>
          <a:prstGeom prst="rect">
            <a:avLst/>
          </a:prstGeom>
          <a:noFill/>
        </p:spPr>
        <p:txBody>
          <a:bodyPr wrap="none">
            <a:spAutoFit/>
          </a:bodyPr>
          <a:lstStyle/>
          <a:p>
            <a:pPr>
              <a:defRPr sz="2400">
                <a:solidFill>
                  <a:srgbClr val="0F766E"/>
                </a:solidFill>
              </a:defRPr>
            </a:pPr>
            <a:r>
              <a:t>Cross-Platform and Cross-Technology Compatibility</a:t>
            </a:r>
          </a:p>
        </p:txBody>
      </p:sp>
      <p:sp>
        <p:nvSpPr>
          <p:cNvPr id="4" name="TextBox 3"/>
          <p:cNvSpPr txBox="1"/>
          <p:nvPr/>
        </p:nvSpPr>
        <p:spPr>
          <a:xfrm>
            <a:off x="822960" y="2194560"/>
            <a:ext cx="10424160" cy="2057400"/>
          </a:xfrm>
          <a:prstGeom prst="rect">
            <a:avLst/>
          </a:prstGeom>
          <a:noFill/>
        </p:spPr>
        <p:txBody>
          <a:bodyPr wrap="none">
            <a:spAutoFit/>
          </a:bodyPr>
          <a:lstStyle/>
          <a:p>
            <a:pPr>
              <a:defRPr sz="2000">
                <a:solidFill>
                  <a:srgbClr val="0F172A"/>
                </a:solidFill>
              </a:defRPr>
            </a:pPr>
            <a:r>
              <a:t>Interoperability must span operating systems (e.g., Windows, Linux, macOS), hardware architectures (e.g., x86, ARM), and communication protocols (e.g., TCP/IP, HTTP).</a:t>
            </a:r>
          </a:p>
          <a:p>
            <a:pPr>
              <a:defRPr sz="2000">
                <a:solidFill>
                  <a:srgbClr val="0F172A"/>
                </a:solidFill>
              </a:defRPr>
            </a:pPr>
            <a:r>
              <a:t>Distributed systems must operate across programming languages (e.g., Java, C++, Python) and software interfaces (e.g., APIs, RPCs).</a:t>
            </a:r>
          </a:p>
          <a:p>
            <a:pPr>
              <a:defRPr sz="2000">
                <a:solidFill>
                  <a:srgbClr val="0F172A"/>
                </a:solidFill>
              </a:defRPr>
            </a:pPr>
            <a:r>
              <a:t>Security measures and information representation formats (e.g., JSON, XML, ASN.1) must be standardized or translated to ensure consistent data interpretation.</a:t>
            </a:r>
          </a:p>
          <a:p>
            <a:pPr>
              <a:defRPr sz="2000">
                <a:solidFill>
                  <a:srgbClr val="0F172A"/>
                </a:solidFill>
              </a:defRPr>
            </a:pPr>
            <a:r>
              <a:t>Achieving openness requires independence from underlying heterogeneity in hardware, platforms, and programming languages.</a:t>
            </a:r>
          </a:p>
          <a:p>
            <a:pPr>
              <a:defRPr sz="2000">
                <a:solidFill>
                  <a:srgbClr val="0F172A"/>
                </a:solidFill>
              </a:defRPr>
            </a:pPr>
            <a:r>
              <a:t>Middleware standards like CORBA, DCOM, and DCE provide frameworks for cross-platform object communication and remote procedure calls.</a:t>
            </a:r>
          </a:p>
        </p:txBody>
      </p:sp>
      <p:graphicFrame>
        <p:nvGraphicFramePr>
          <p:cNvPr id="5" name="Table 4"/>
          <p:cNvGraphicFramePr>
            <a:graphicFrameLocks noGrp="1"/>
          </p:cNvGraphicFramePr>
          <p:nvPr/>
        </p:nvGraphicFramePr>
        <p:xfrm>
          <a:off x="822960" y="4434840"/>
          <a:ext cx="10424160" cy="2743200"/>
        </p:xfrm>
        <a:graphic>
          <a:graphicData uri="http://schemas.openxmlformats.org/drawingml/2006/table">
            <a:tbl>
              <a:tblPr firstRow="1" bandRow="1">
                <a:tableStyleId>{5C22544A-7EE6-4342-B048-85BDC9FD1C3A}</a:tableStyleId>
              </a:tblPr>
              <a:tblGrid>
                <a:gridCol w="5212080"/>
                <a:gridCol w="5212080"/>
              </a:tblGrid>
              <a:tr h="457200">
                <a:tc>
                  <a:txBody>
                    <a:bodyPr/>
                    <a:lstStyle/>
                    <a:p>
                      <a:r>
                        <a:t>Heterogeneity Dimension</a:t>
                      </a:r>
                    </a:p>
                  </a:txBody>
                  <a:tcPr/>
                </a:tc>
                <a:tc>
                  <a:txBody>
                    <a:bodyPr/>
                    <a:lstStyle/>
                    <a:p>
                      <a:r>
                        <a:t>Example Technologies</a:t>
                      </a:r>
                    </a:p>
                  </a:txBody>
                  <a:tcPr/>
                </a:tc>
              </a:tr>
              <a:tr h="457200">
                <a:tc>
                  <a:txBody>
                    <a:bodyPr/>
                    <a:lstStyle/>
                    <a:p>
                      <a:r>
                        <a:t>Operating Systems</a:t>
                      </a:r>
                    </a:p>
                  </a:txBody>
                  <a:tcPr/>
                </a:tc>
                <a:tc>
                  <a:txBody>
                    <a:bodyPr/>
                    <a:lstStyle/>
                    <a:p>
                      <a:r>
                        <a:t>Linux, Windows, macOS, Android</a:t>
                      </a:r>
                    </a:p>
                  </a:txBody>
                  <a:tcPr/>
                </a:tc>
              </a:tr>
              <a:tr h="457200">
                <a:tc>
                  <a:txBody>
                    <a:bodyPr/>
                    <a:lstStyle/>
                    <a:p>
                      <a:r>
                        <a:t>Hardware Architectures</a:t>
                      </a:r>
                    </a:p>
                  </a:txBody>
                  <a:tcPr/>
                </a:tc>
                <a:tc>
                  <a:txBody>
                    <a:bodyPr/>
                    <a:lstStyle/>
                    <a:p>
                      <a:r>
                        <a:t>x86, ARM, RISC-V</a:t>
                      </a:r>
                    </a:p>
                  </a:txBody>
                  <a:tcPr/>
                </a:tc>
              </a:tr>
              <a:tr h="457200">
                <a:tc>
                  <a:txBody>
                    <a:bodyPr/>
                    <a:lstStyle/>
                    <a:p>
                      <a:r>
                        <a:t>Communication Architectures</a:t>
                      </a:r>
                    </a:p>
                  </a:txBody>
                  <a:tcPr/>
                </a:tc>
                <a:tc>
                  <a:txBody>
                    <a:bodyPr/>
                    <a:lstStyle/>
                    <a:p>
                      <a:r>
                        <a:t>HTTP/REST, gRPC, SOAP, MQTT</a:t>
                      </a:r>
                    </a:p>
                  </a:txBody>
                  <a:tcPr/>
                </a:tc>
              </a:tr>
              <a:tr h="457200">
                <a:tc>
                  <a:txBody>
                    <a:bodyPr/>
                    <a:lstStyle/>
                    <a:p>
                      <a:r>
                        <a:t>Programming Languages</a:t>
                      </a:r>
                    </a:p>
                  </a:txBody>
                  <a:tcPr/>
                </a:tc>
                <a:tc>
                  <a:txBody>
                    <a:bodyPr/>
                    <a:lstStyle/>
                    <a:p>
                      <a:r>
                        <a:t>Java, Python, C#, JavaScript</a:t>
                      </a:r>
                    </a:p>
                  </a:txBody>
                  <a:tcPr/>
                </a:tc>
              </a:tr>
              <a:tr h="457200">
                <a:tc>
                  <a:txBody>
                    <a:bodyPr/>
                    <a:lstStyle/>
                    <a:p>
                      <a:r>
                        <a:t>Security Measures</a:t>
                      </a:r>
                    </a:p>
                  </a:txBody>
                  <a:tcPr/>
                </a:tc>
                <a:tc>
                  <a:txBody>
                    <a:bodyPr/>
                    <a:lstStyle/>
                    <a:p>
                      <a:r>
                        <a:t>TLS, OAuth 2.0, SAML, Kerberos</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