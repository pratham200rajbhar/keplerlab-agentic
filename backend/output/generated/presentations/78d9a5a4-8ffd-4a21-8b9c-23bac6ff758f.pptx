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Distributed Systems &amp; Cloud Computing Foundations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4415" cy="484632"/>
          </a:xfrm>
          <a:prstGeom prst="rect">
            <a:avLst/>
          </a:prstGeom>
          <a:noFill/>
        </p:spPr>
        <p:txBody>
          <a:bodyPr wrap="square">
            <a:spAutoFit/>
          </a:bodyPr>
          <a:lstStyle/>
          <a:p>
            <a:pPr>
              <a:defRPr sz="2400" b="1" i="0">
                <a:solidFill>
                  <a:srgbClr val="3182CE"/>
                </a:solidFill>
                <a:latin typeface="Inter"/>
              </a:defRPr>
            </a:pPr>
            <a:r>
              <a:t>Core Concepts, Architectures, and Service Models</a:t>
            </a:r>
          </a:p>
        </p:txBody>
      </p:sp>
      <p:sp>
        <p:nvSpPr>
          <p:cNvPr id="5" name="Rounded Rectangle 4"/>
          <p:cNvSpPr/>
          <p:nvPr/>
        </p:nvSpPr>
        <p:spPr>
          <a:xfrm>
            <a:off x="548640" y="1920240"/>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A distributed system is a collection of interconnected stand-alone computers working cooperatively as a single integrated computing resource [Buyya].</a:t>
            </a:r>
          </a:p>
        </p:txBody>
      </p:sp>
      <p:sp>
        <p:nvSpPr>
          <p:cNvPr id="6" name="Rounded Rectangle 5"/>
          <p:cNvSpPr/>
          <p:nvPr/>
        </p:nvSpPr>
        <p:spPr>
          <a:xfrm>
            <a:off x="548640" y="2578608"/>
            <a:ext cx="11094415" cy="2377440"/>
          </a:xfrm>
          <a:prstGeom prst="roundRect">
            <a:avLst/>
          </a:prstGeom>
          <a:solidFill>
            <a:srgbClr val="F7F9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i="1">
                <a:solidFill>
                  <a:srgbClr val="2D3748"/>
                </a:solidFill>
                <a:latin typeface="Open Sans"/>
              </a:defRPr>
            </a:pPr>
            <a:r>
              <a:t>A network diagram showing multiple interconnected computers (nodes) with arrows indicating bidirectional communication, forming a unified cloud-like structure labeled 'Single Integrated Resource'. Background gradient from light blue to white.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Key Design Principles of Distributed Systems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25880"/>
            <a:ext cx="10984687" cy="1709928"/>
          </a:xfrm>
          <a:prstGeom prst="rect">
            <a:avLst/>
          </a:prstGeom>
          <a:noFill/>
        </p:spPr>
        <p:txBody>
          <a:bodyPr wrap="square">
            <a:spAutoFit/>
          </a:bodyPr>
          <a:lstStyle/>
          <a:p>
            <a:pPr>
              <a:spcAft>
                <a:spcPts val="600"/>
              </a:spcAft>
              <a:defRPr sz="1800" b="0" i="0">
                <a:solidFill>
                  <a:srgbClr val="2D3748"/>
                </a:solidFill>
                <a:latin typeface="Open Sans"/>
              </a:defRPr>
            </a:pPr>
            <a:r>
              <a:t>• Loose Coupling: Minimizes dependencies between components</a:t>
            </a:r>
          </a:p>
          <a:p>
            <a:pPr>
              <a:spcAft>
                <a:spcPts val="600"/>
              </a:spcAft>
              <a:defRPr sz="1800" b="0" i="0">
                <a:solidFill>
                  <a:srgbClr val="2D3748"/>
                </a:solidFill>
                <a:latin typeface="Open Sans"/>
              </a:defRPr>
            </a:pPr>
            <a:r>
              <a:t>• Standard-Based: Ensures interoperability via open standards</a:t>
            </a:r>
          </a:p>
          <a:p>
            <a:pPr>
              <a:spcAft>
                <a:spcPts val="600"/>
              </a:spcAft>
              <a:defRPr sz="1800" b="0" i="0">
                <a:solidFill>
                  <a:srgbClr val="2D3748"/>
                </a:solidFill>
                <a:latin typeface="Open Sans"/>
              </a:defRPr>
            </a:pPr>
            <a:r>
              <a:t>• Flexibility: Adapts to changing requirements and environments</a:t>
            </a:r>
          </a:p>
          <a:p>
            <a:pPr>
              <a:spcAft>
                <a:spcPts val="600"/>
              </a:spcAft>
              <a:defRPr sz="1800" b="0" i="0">
                <a:solidFill>
                  <a:srgbClr val="2D3748"/>
                </a:solidFill>
                <a:latin typeface="Open Sans"/>
              </a:defRPr>
            </a:pPr>
            <a:r>
              <a:t>• Reusability: Components can be reused across systems</a:t>
            </a:r>
          </a:p>
          <a:p>
            <a:pPr>
              <a:spcAft>
                <a:spcPts val="600"/>
              </a:spcAft>
              <a:defRPr sz="1800" b="0" i="0">
                <a:solidFill>
                  <a:srgbClr val="2D3748"/>
                </a:solidFill>
                <a:latin typeface="Open Sans"/>
              </a:defRPr>
            </a:pPr>
            <a:r>
              <a:t>• Scalability: Supports growth in users, data, or resources</a:t>
            </a:r>
          </a:p>
          <a:p>
            <a:pPr>
              <a:spcAft>
                <a:spcPts val="600"/>
              </a:spcAft>
              <a:defRPr sz="1800" b="0" i="0">
                <a:solidFill>
                  <a:srgbClr val="2D3748"/>
                </a:solidFill>
                <a:latin typeface="Open Sans"/>
              </a:defRPr>
            </a:pPr>
            <a:r>
              <a:t>• Reduced Complexity: Abstracts heterogeneity from developers</a:t>
            </a:r>
          </a:p>
        </p:txBody>
      </p:sp>
      <p:sp>
        <p:nvSpPr>
          <p:cNvPr id="5" name="Rounded Rectangle 4"/>
          <p:cNvSpPr/>
          <p:nvPr/>
        </p:nvSpPr>
        <p:spPr>
          <a:xfrm>
            <a:off x="548640" y="3163824"/>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Systems must conform to well-defined interfaces, support application portability, and enable easy interoperability.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Transparency in Distributed Systems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94414" cy="2916936"/>
        </p:xfrm>
        <a:graphic>
          <a:graphicData uri="http://schemas.openxmlformats.org/drawingml/2006/table">
            <a:tbl>
              <a:tblPr firstRow="1" bandRow="1">
                <a:tableStyleId>{5C22544A-7EE6-4342-B048-85BDC9FD1C3A}</a:tableStyleId>
              </a:tblPr>
              <a:tblGrid>
                <a:gridCol w="5547207"/>
                <a:gridCol w="5547207"/>
              </a:tblGrid>
              <a:tr h="364617">
                <a:tc>
                  <a:txBody>
                    <a:bodyPr wrap="square"/>
                    <a:lstStyle/>
                    <a:p>
                      <a:pPr>
                        <a:defRPr sz="1400" b="1" i="0">
                          <a:solidFill>
                            <a:srgbClr val="FFFFFF"/>
                          </a:solidFill>
                          <a:latin typeface="Open Sans"/>
                        </a:defRPr>
                      </a:pPr>
                      <a:r>
                        <a:t>Transparency Type</a:t>
                      </a:r>
                    </a:p>
                  </a:txBody>
                  <a:tcPr>
                    <a:solidFill>
                      <a:srgbClr val="3182CE"/>
                    </a:solidFill>
                  </a:tcPr>
                </a:tc>
                <a:tc>
                  <a:txBody>
                    <a:bodyPr wrap="square"/>
                    <a:lstStyle/>
                    <a:p>
                      <a:pPr>
                        <a:defRPr sz="1400" b="1" i="0">
                          <a:solidFill>
                            <a:srgbClr val="FFFFFF"/>
                          </a:solidFill>
                          <a:latin typeface="Open Sans"/>
                        </a:defRPr>
                      </a:pPr>
                      <a:r>
                        <a:t>Description</a:t>
                      </a:r>
                    </a:p>
                  </a:txBody>
                  <a:tcPr>
                    <a:solidFill>
                      <a:srgbClr val="3182CE"/>
                    </a:solidFill>
                  </a:tcPr>
                </a:tc>
              </a:tr>
              <a:tr h="364617">
                <a:tc>
                  <a:txBody>
                    <a:bodyPr wrap="square"/>
                    <a:lstStyle/>
                    <a:p>
                      <a:pPr>
                        <a:defRPr sz="1300" b="0" i="0">
                          <a:solidFill>
                            <a:srgbClr val="2D3748"/>
                          </a:solidFill>
                          <a:latin typeface="Open Sans"/>
                        </a:defRPr>
                      </a:pPr>
                      <a:r>
                        <a:t>Access</a:t>
                      </a:r>
                    </a:p>
                  </a:txBody>
                  <a:tcPr>
                    <a:solidFill>
                      <a:srgbClr val="FAFBFC"/>
                    </a:solidFill>
                  </a:tcPr>
                </a:tc>
                <a:tc>
                  <a:txBody>
                    <a:bodyPr wrap="square"/>
                    <a:lstStyle/>
                    <a:p>
                      <a:pPr>
                        <a:defRPr sz="1300" b="0" i="0">
                          <a:solidFill>
                            <a:srgbClr val="2D3748"/>
                          </a:solidFill>
                          <a:latin typeface="Open Sans"/>
                        </a:defRPr>
                      </a:pPr>
                      <a:r>
                        <a:t>Hide differences in data representation and resource access</a:t>
                      </a:r>
                    </a:p>
                  </a:txBody>
                  <a:tcPr>
                    <a:solidFill>
                      <a:srgbClr val="FAFBFC"/>
                    </a:solidFill>
                  </a:tcPr>
                </a:tc>
              </a:tr>
              <a:tr h="364617">
                <a:tc>
                  <a:txBody>
                    <a:bodyPr wrap="square"/>
                    <a:lstStyle/>
                    <a:p>
                      <a:pPr>
                        <a:defRPr sz="1300" b="0" i="0">
                          <a:solidFill>
                            <a:srgbClr val="2D3748"/>
                          </a:solidFill>
                          <a:latin typeface="Open Sans"/>
                        </a:defRPr>
                      </a:pPr>
                      <a:r>
                        <a:t>Location</a:t>
                      </a:r>
                    </a:p>
                  </a:txBody>
                  <a:tcPr>
                    <a:solidFill>
                      <a:srgbClr val="FAFBFC"/>
                    </a:solidFill>
                  </a:tcPr>
                </a:tc>
                <a:tc>
                  <a:txBody>
                    <a:bodyPr wrap="square"/>
                    <a:lstStyle/>
                    <a:p>
                      <a:pPr>
                        <a:defRPr sz="1300" b="0" i="0">
                          <a:solidFill>
                            <a:srgbClr val="2D3748"/>
                          </a:solidFill>
                          <a:latin typeface="Open Sans"/>
                        </a:defRPr>
                      </a:pPr>
                      <a:r>
                        <a:t>Hide where a resource is located</a:t>
                      </a:r>
                    </a:p>
                  </a:txBody>
                  <a:tcPr>
                    <a:solidFill>
                      <a:srgbClr val="FAFBFC"/>
                    </a:solidFill>
                  </a:tcPr>
                </a:tc>
              </a:tr>
              <a:tr h="364617">
                <a:tc>
                  <a:txBody>
                    <a:bodyPr wrap="square"/>
                    <a:lstStyle/>
                    <a:p>
                      <a:pPr>
                        <a:defRPr sz="1300" b="0" i="0">
                          <a:solidFill>
                            <a:srgbClr val="2D3748"/>
                          </a:solidFill>
                          <a:latin typeface="Open Sans"/>
                        </a:defRPr>
                      </a:pPr>
                      <a:r>
                        <a:t>Migration</a:t>
                      </a:r>
                    </a:p>
                  </a:txBody>
                  <a:tcPr>
                    <a:solidFill>
                      <a:srgbClr val="FAFBFC"/>
                    </a:solidFill>
                  </a:tcPr>
                </a:tc>
                <a:tc>
                  <a:txBody>
                    <a:bodyPr wrap="square"/>
                    <a:lstStyle/>
                    <a:p>
                      <a:pPr>
                        <a:defRPr sz="1300" b="0" i="0">
                          <a:solidFill>
                            <a:srgbClr val="2D3748"/>
                          </a:solidFill>
                          <a:latin typeface="Open Sans"/>
                        </a:defRPr>
                      </a:pPr>
                      <a:r>
                        <a:t>Hide that a resource may move to another location</a:t>
                      </a:r>
                    </a:p>
                  </a:txBody>
                  <a:tcPr>
                    <a:solidFill>
                      <a:srgbClr val="FAFBFC"/>
                    </a:solidFill>
                  </a:tcPr>
                </a:tc>
              </a:tr>
              <a:tr h="364617">
                <a:tc>
                  <a:txBody>
                    <a:bodyPr wrap="square"/>
                    <a:lstStyle/>
                    <a:p>
                      <a:pPr>
                        <a:defRPr sz="1300" b="0" i="0">
                          <a:solidFill>
                            <a:srgbClr val="2D3748"/>
                          </a:solidFill>
                          <a:latin typeface="Open Sans"/>
                        </a:defRPr>
                      </a:pPr>
                      <a:r>
                        <a:t>Replication</a:t>
                      </a:r>
                    </a:p>
                  </a:txBody>
                  <a:tcPr>
                    <a:solidFill>
                      <a:srgbClr val="FAFBFC"/>
                    </a:solidFill>
                  </a:tcPr>
                </a:tc>
                <a:tc>
                  <a:txBody>
                    <a:bodyPr wrap="square"/>
                    <a:lstStyle/>
                    <a:p>
                      <a:pPr>
                        <a:defRPr sz="1300" b="0" i="0">
                          <a:solidFill>
                            <a:srgbClr val="2D3748"/>
                          </a:solidFill>
                          <a:latin typeface="Open Sans"/>
                        </a:defRPr>
                      </a:pPr>
                      <a:r>
                        <a:t>Hide that a resource is replicated</a:t>
                      </a:r>
                    </a:p>
                  </a:txBody>
                  <a:tcPr>
                    <a:solidFill>
                      <a:srgbClr val="FAFBFC"/>
                    </a:solidFill>
                  </a:tcPr>
                </a:tc>
              </a:tr>
              <a:tr h="364617">
                <a:tc>
                  <a:txBody>
                    <a:bodyPr wrap="square"/>
                    <a:lstStyle/>
                    <a:p>
                      <a:pPr>
                        <a:defRPr sz="1300" b="0" i="0">
                          <a:solidFill>
                            <a:srgbClr val="2D3748"/>
                          </a:solidFill>
                          <a:latin typeface="Open Sans"/>
                        </a:defRPr>
                      </a:pPr>
                      <a:r>
                        <a:t>Concurrency</a:t>
                      </a:r>
                    </a:p>
                  </a:txBody>
                  <a:tcPr>
                    <a:solidFill>
                      <a:srgbClr val="FAFBFC"/>
                    </a:solidFill>
                  </a:tcPr>
                </a:tc>
                <a:tc>
                  <a:txBody>
                    <a:bodyPr wrap="square"/>
                    <a:lstStyle/>
                    <a:p>
                      <a:pPr>
                        <a:defRPr sz="1300" b="0" i="0">
                          <a:solidFill>
                            <a:srgbClr val="2D3748"/>
                          </a:solidFill>
                          <a:latin typeface="Open Sans"/>
                        </a:defRPr>
                      </a:pPr>
                      <a:r>
                        <a:t>Hide that a resource may be shared by several competitive users</a:t>
                      </a:r>
                    </a:p>
                  </a:txBody>
                  <a:tcPr>
                    <a:solidFill>
                      <a:srgbClr val="FAFBFC"/>
                    </a:solidFill>
                  </a:tcPr>
                </a:tc>
              </a:tr>
              <a:tr h="364617">
                <a:tc>
                  <a:txBody>
                    <a:bodyPr wrap="square"/>
                    <a:lstStyle/>
                    <a:p>
                      <a:pPr>
                        <a:defRPr sz="1300" b="0" i="0">
                          <a:solidFill>
                            <a:srgbClr val="2D3748"/>
                          </a:solidFill>
                          <a:latin typeface="Open Sans"/>
                        </a:defRPr>
                      </a:pPr>
                      <a:r>
                        <a:t>Failure</a:t>
                      </a:r>
                    </a:p>
                  </a:txBody>
                  <a:tcPr>
                    <a:solidFill>
                      <a:srgbClr val="FAFBFC"/>
                    </a:solidFill>
                  </a:tcPr>
                </a:tc>
                <a:tc>
                  <a:txBody>
                    <a:bodyPr wrap="square"/>
                    <a:lstStyle/>
                    <a:p>
                      <a:pPr>
                        <a:defRPr sz="1300" b="0" i="0">
                          <a:solidFill>
                            <a:srgbClr val="2D3748"/>
                          </a:solidFill>
                          <a:latin typeface="Open Sans"/>
                        </a:defRPr>
                      </a:pPr>
                      <a:r>
                        <a:t>Hide the failure and recovery of a resource</a:t>
                      </a:r>
                    </a:p>
                  </a:txBody>
                  <a:tcPr>
                    <a:solidFill>
                      <a:srgbClr val="FAFBFC"/>
                    </a:solidFill>
                  </a:tcPr>
                </a:tc>
              </a:tr>
              <a:tr h="364617">
                <a:tc>
                  <a:txBody>
                    <a:bodyPr wrap="square"/>
                    <a:lstStyle/>
                    <a:p>
                      <a:pPr>
                        <a:defRPr sz="1300" b="0" i="0">
                          <a:solidFill>
                            <a:srgbClr val="2D3748"/>
                          </a:solidFill>
                          <a:latin typeface="Open Sans"/>
                        </a:defRPr>
                      </a:pPr>
                      <a:r>
                        <a:t>Persistence</a:t>
                      </a:r>
                    </a:p>
                  </a:txBody>
                  <a:tcPr>
                    <a:solidFill>
                      <a:srgbClr val="FAFBFC"/>
                    </a:solidFill>
                  </a:tcPr>
                </a:tc>
                <a:tc>
                  <a:txBody>
                    <a:bodyPr wrap="square"/>
                    <a:lstStyle/>
                    <a:p>
                      <a:pPr>
                        <a:defRPr sz="1300" b="0" i="0">
                          <a:solidFill>
                            <a:srgbClr val="2D3748"/>
                          </a:solidFill>
                          <a:latin typeface="Open Sans"/>
                        </a:defRPr>
                      </a:pPr>
                      <a:r>
                        <a:t>Hide whether a resource is in memory or on disk</a:t>
                      </a:r>
                    </a:p>
                  </a:txBody>
                  <a:tcPr>
                    <a:solidFill>
                      <a:srgbClr val="FAFBFC"/>
                    </a:solidFill>
                  </a:tcPr>
                </a:tc>
              </a:tr>
            </a:tbl>
          </a:graphicData>
        </a:graphic>
      </p:graphicFrame>
      <p:sp>
        <p:nvSpPr>
          <p:cNvPr id="5" name="Rounded Rectangle 4"/>
          <p:cNvSpPr/>
          <p:nvPr/>
        </p:nvSpPr>
        <p:spPr>
          <a:xfrm>
            <a:off x="548640" y="4389120"/>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Transparencies collectively mask complexity, enabling developers to focus on logic rather than infrastructure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Middleware: The Distributed Systems Glue</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4415" cy="694944"/>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i="1">
                <a:solidFill>
                  <a:srgbClr val="2D3748"/>
                </a:solidFill>
                <a:latin typeface="Open Sans"/>
              </a:defRPr>
            </a:pPr>
            <a:r>
              <a:t>‘a software layer between applications and the OS whose purpose is to mask heterogeneity of the underlying components and to provide a convenient programming model to application programmers.’</a:t>
            </a:r>
          </a:p>
        </p:txBody>
      </p:sp>
      <p:sp>
        <p:nvSpPr>
          <p:cNvPr id="5" name="TextBox 4"/>
          <p:cNvSpPr txBox="1"/>
          <p:nvPr/>
        </p:nvSpPr>
        <p:spPr>
          <a:xfrm>
            <a:off x="658368" y="2148840"/>
            <a:ext cx="10984687" cy="1216152"/>
          </a:xfrm>
          <a:prstGeom prst="rect">
            <a:avLst/>
          </a:prstGeom>
          <a:noFill/>
        </p:spPr>
        <p:txBody>
          <a:bodyPr wrap="square">
            <a:spAutoFit/>
          </a:bodyPr>
          <a:lstStyle/>
          <a:p>
            <a:pPr>
              <a:spcAft>
                <a:spcPts val="600"/>
              </a:spcAft>
              <a:defRPr sz="1800" b="0" i="0">
                <a:solidFill>
                  <a:srgbClr val="2D3748"/>
                </a:solidFill>
                <a:latin typeface="Open Sans"/>
              </a:defRPr>
            </a:pPr>
            <a:r>
              <a:t>• Manages complexity and heterogeneity in distributed systems</a:t>
            </a:r>
          </a:p>
          <a:p>
            <a:pPr>
              <a:spcAft>
                <a:spcPts val="600"/>
              </a:spcAft>
              <a:defRPr sz="1800" b="0" i="0">
                <a:solidFill>
                  <a:srgbClr val="2D3748"/>
                </a:solidFill>
                <a:latin typeface="Open Sans"/>
              </a:defRPr>
            </a:pPr>
            <a:r>
              <a:t>• Resides above OS but below application programs</a:t>
            </a:r>
          </a:p>
          <a:p>
            <a:pPr>
              <a:spcAft>
                <a:spcPts val="600"/>
              </a:spcAft>
              <a:defRPr sz="1800" b="0" i="0">
                <a:solidFill>
                  <a:srgbClr val="2D3748"/>
                </a:solidFill>
                <a:latin typeface="Open Sans"/>
              </a:defRPr>
            </a:pPr>
            <a:r>
              <a:t>• Provides common programming abstraction across distributed environments</a:t>
            </a:r>
          </a:p>
          <a:p>
            <a:pPr>
              <a:spcAft>
                <a:spcPts val="600"/>
              </a:spcAft>
              <a:defRPr sz="1800" b="0" i="0">
                <a:solidFill>
                  <a:srgbClr val="2D3748"/>
                </a:solidFill>
                <a:latin typeface="Open Sans"/>
              </a:defRPr>
            </a:pPr>
            <a:r>
              <a:t>• Enables seamless communication and resource sharing</a:t>
            </a:r>
          </a:p>
        </p:txBody>
      </p:sp>
      <p:sp>
        <p:nvSpPr>
          <p:cNvPr id="6" name="Rounded Rectangle 5"/>
          <p:cNvSpPr/>
          <p:nvPr/>
        </p:nvSpPr>
        <p:spPr>
          <a:xfrm>
            <a:off x="548640" y="3493008"/>
            <a:ext cx="11094415" cy="2377440"/>
          </a:xfrm>
          <a:prstGeom prst="roundRect">
            <a:avLst/>
          </a:prstGeom>
          <a:solidFill>
            <a:srgbClr val="F7F9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i="1">
                <a:solidFill>
                  <a:srgbClr val="2D3748"/>
                </a:solidFill>
                <a:latin typeface="Open Sans"/>
              </a:defRPr>
            </a:pPr>
            <a:r>
              <a:t>Layered architecture diagram: Hardware at bottom, OS above it, middleware layer in middle labeled 'Middleware', applications on top. Arrows show bidirectional communication between layers. Use muted blue for middleware, dark gray for OS, light gray for apps.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Web Services Architecture (WSDL Elements)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94414" cy="2916936"/>
        </p:xfrm>
        <a:graphic>
          <a:graphicData uri="http://schemas.openxmlformats.org/drawingml/2006/table">
            <a:tbl>
              <a:tblPr firstRow="1" bandRow="1">
                <a:tableStyleId>{5C22544A-7EE6-4342-B048-85BDC9FD1C3A}</a:tableStyleId>
              </a:tblPr>
              <a:tblGrid>
                <a:gridCol w="5547207"/>
                <a:gridCol w="5547207"/>
              </a:tblGrid>
              <a:tr h="364617">
                <a:tc>
                  <a:txBody>
                    <a:bodyPr wrap="square"/>
                    <a:lstStyle/>
                    <a:p>
                      <a:pPr>
                        <a:defRPr sz="1400" b="1" i="0">
                          <a:solidFill>
                            <a:srgbClr val="FFFFFF"/>
                          </a:solidFill>
                          <a:latin typeface="Open Sans"/>
                        </a:defRPr>
                      </a:pPr>
                      <a:r>
                        <a:t>Element</a:t>
                      </a:r>
                    </a:p>
                  </a:txBody>
                  <a:tcPr>
                    <a:solidFill>
                      <a:srgbClr val="3182CE"/>
                    </a:solidFill>
                  </a:tcPr>
                </a:tc>
                <a:tc>
                  <a:txBody>
                    <a:bodyPr wrap="square"/>
                    <a:lstStyle/>
                    <a:p>
                      <a:pPr>
                        <a:defRPr sz="1400" b="1" i="0">
                          <a:solidFill>
                            <a:srgbClr val="FFFFFF"/>
                          </a:solidFill>
                          <a:latin typeface="Open Sans"/>
                        </a:defRPr>
                      </a:pPr>
                      <a:r>
                        <a:t>Purpose</a:t>
                      </a:r>
                    </a:p>
                  </a:txBody>
                  <a:tcPr>
                    <a:solidFill>
                      <a:srgbClr val="3182CE"/>
                    </a:solidFill>
                  </a:tcPr>
                </a:tc>
              </a:tr>
              <a:tr h="364617">
                <a:tc>
                  <a:txBody>
                    <a:bodyPr wrap="square"/>
                    <a:lstStyle/>
                    <a:p>
                      <a:pPr>
                        <a:defRPr sz="1300" b="0" i="0">
                          <a:solidFill>
                            <a:srgbClr val="2D3748"/>
                          </a:solidFill>
                          <a:latin typeface="Open Sans"/>
                        </a:defRPr>
                      </a:pPr>
                      <a:r>
                        <a:t>&lt;types&gt;</a:t>
                      </a:r>
                    </a:p>
                  </a:txBody>
                  <a:tcPr>
                    <a:solidFill>
                      <a:srgbClr val="FAFBFC"/>
                    </a:solidFill>
                  </a:tcPr>
                </a:tc>
                <a:tc>
                  <a:txBody>
                    <a:bodyPr wrap="square"/>
                    <a:lstStyle/>
                    <a:p>
                      <a:pPr>
                        <a:defRPr sz="1300" b="0" i="0">
                          <a:solidFill>
                            <a:srgbClr val="2D3748"/>
                          </a:solidFill>
                          <a:latin typeface="Open Sans"/>
                        </a:defRPr>
                      </a:pPr>
                      <a:r>
                        <a:t>Provides data type definitions</a:t>
                      </a:r>
                    </a:p>
                  </a:txBody>
                  <a:tcPr>
                    <a:solidFill>
                      <a:srgbClr val="FAFBFC"/>
                    </a:solidFill>
                  </a:tcPr>
                </a:tc>
              </a:tr>
              <a:tr h="364617">
                <a:tc>
                  <a:txBody>
                    <a:bodyPr wrap="square"/>
                    <a:lstStyle/>
                    <a:p>
                      <a:pPr>
                        <a:defRPr sz="1300" b="0" i="0">
                          <a:solidFill>
                            <a:srgbClr val="2D3748"/>
                          </a:solidFill>
                          <a:latin typeface="Open Sans"/>
                        </a:defRPr>
                      </a:pPr>
                      <a:r>
                        <a:t>&lt;message&gt;</a:t>
                      </a:r>
                    </a:p>
                  </a:txBody>
                  <a:tcPr>
                    <a:solidFill>
                      <a:srgbClr val="FAFBFC"/>
                    </a:solidFill>
                  </a:tcPr>
                </a:tc>
                <a:tc>
                  <a:txBody>
                    <a:bodyPr wrap="square"/>
                    <a:lstStyle/>
                    <a:p>
                      <a:pPr>
                        <a:defRPr sz="1300" b="0" i="0">
                          <a:solidFill>
                            <a:srgbClr val="2D3748"/>
                          </a:solidFill>
                          <a:latin typeface="Open Sans"/>
                        </a:defRPr>
                      </a:pPr>
                      <a:r>
                        <a:t>Abstract definition of data being transmitted</a:t>
                      </a:r>
                    </a:p>
                  </a:txBody>
                  <a:tcPr>
                    <a:solidFill>
                      <a:srgbClr val="FAFBFC"/>
                    </a:solidFill>
                  </a:tcPr>
                </a:tc>
              </a:tr>
              <a:tr h="364617">
                <a:tc>
                  <a:txBody>
                    <a:bodyPr wrap="square"/>
                    <a:lstStyle/>
                    <a:p>
                      <a:pPr>
                        <a:defRPr sz="1300" b="0" i="0">
                          <a:solidFill>
                            <a:srgbClr val="2D3748"/>
                          </a:solidFill>
                          <a:latin typeface="Open Sans"/>
                        </a:defRPr>
                      </a:pPr>
                      <a:r>
                        <a:t>&lt;portType&gt;</a:t>
                      </a:r>
                    </a:p>
                  </a:txBody>
                  <a:tcPr>
                    <a:solidFill>
                      <a:srgbClr val="FAFBFC"/>
                    </a:solidFill>
                  </a:tcPr>
                </a:tc>
                <a:tc>
                  <a:txBody>
                    <a:bodyPr wrap="square"/>
                    <a:lstStyle/>
                    <a:p>
                      <a:pPr>
                        <a:defRPr sz="1300" b="0" i="0">
                          <a:solidFill>
                            <a:srgbClr val="2D3748"/>
                          </a:solidFill>
                          <a:latin typeface="Open Sans"/>
                        </a:defRPr>
                      </a:pPr>
                      <a:r>
                        <a:t>Set of abstract operations</a:t>
                      </a:r>
                    </a:p>
                  </a:txBody>
                  <a:tcPr>
                    <a:solidFill>
                      <a:srgbClr val="FAFBFC"/>
                    </a:solidFill>
                  </a:tcPr>
                </a:tc>
              </a:tr>
              <a:tr h="364617">
                <a:tc>
                  <a:txBody>
                    <a:bodyPr wrap="square"/>
                    <a:lstStyle/>
                    <a:p>
                      <a:pPr>
                        <a:defRPr sz="1300" b="0" i="0">
                          <a:solidFill>
                            <a:srgbClr val="2D3748"/>
                          </a:solidFill>
                          <a:latin typeface="Open Sans"/>
                        </a:defRPr>
                      </a:pPr>
                      <a:r>
                        <a:t>&lt;binding&gt;</a:t>
                      </a:r>
                    </a:p>
                  </a:txBody>
                  <a:tcPr>
                    <a:solidFill>
                      <a:srgbClr val="FAFBFC"/>
                    </a:solidFill>
                  </a:tcPr>
                </a:tc>
                <a:tc>
                  <a:txBody>
                    <a:bodyPr wrap="square"/>
                    <a:lstStyle/>
                    <a:p>
                      <a:pPr>
                        <a:defRPr sz="1300" b="0" i="0">
                          <a:solidFill>
                            <a:srgbClr val="2D3748"/>
                          </a:solidFill>
                          <a:latin typeface="Open Sans"/>
                        </a:defRPr>
                      </a:pPr>
                      <a:r>
                        <a:t>Concrete protocol and data format for operations</a:t>
                      </a:r>
                    </a:p>
                  </a:txBody>
                  <a:tcPr>
                    <a:solidFill>
                      <a:srgbClr val="FAFBFC"/>
                    </a:solidFill>
                  </a:tcPr>
                </a:tc>
              </a:tr>
              <a:tr h="364617">
                <a:tc>
                  <a:txBody>
                    <a:bodyPr wrap="square"/>
                    <a:lstStyle/>
                    <a:p>
                      <a:pPr>
                        <a:defRPr sz="1300" b="0" i="0">
                          <a:solidFill>
                            <a:srgbClr val="2D3748"/>
                          </a:solidFill>
                          <a:latin typeface="Open Sans"/>
                        </a:defRPr>
                      </a:pPr>
                      <a:r>
                        <a:t>&lt;port&gt;</a:t>
                      </a:r>
                    </a:p>
                  </a:txBody>
                  <a:tcPr>
                    <a:solidFill>
                      <a:srgbClr val="FAFBFC"/>
                    </a:solidFill>
                  </a:tcPr>
                </a:tc>
                <a:tc>
                  <a:txBody>
                    <a:bodyPr wrap="square"/>
                    <a:lstStyle/>
                    <a:p>
                      <a:pPr>
                        <a:defRPr sz="1300" b="0" i="0">
                          <a:solidFill>
                            <a:srgbClr val="2D3748"/>
                          </a:solidFill>
                          <a:latin typeface="Open Sans"/>
                        </a:defRPr>
                      </a:pPr>
                      <a:r>
                        <a:t>Address for a binding</a:t>
                      </a:r>
                    </a:p>
                  </a:txBody>
                  <a:tcPr>
                    <a:solidFill>
                      <a:srgbClr val="FAFBFC"/>
                    </a:solidFill>
                  </a:tcPr>
                </a:tc>
              </a:tr>
              <a:tr h="364617">
                <a:tc>
                  <a:txBody>
                    <a:bodyPr wrap="square"/>
                    <a:lstStyle/>
                    <a:p>
                      <a:pPr>
                        <a:defRPr sz="1300" b="0" i="0">
                          <a:solidFill>
                            <a:srgbClr val="2D3748"/>
                          </a:solidFill>
                          <a:latin typeface="Open Sans"/>
                        </a:defRPr>
                      </a:pPr>
                      <a:r>
                        <a:t>&lt;service&gt;</a:t>
                      </a:r>
                    </a:p>
                  </a:txBody>
                  <a:tcPr>
                    <a:solidFill>
                      <a:srgbClr val="FAFBFC"/>
                    </a:solidFill>
                  </a:tcPr>
                </a:tc>
                <a:tc>
                  <a:txBody>
                    <a:bodyPr wrap="square"/>
                    <a:lstStyle/>
                    <a:p>
                      <a:pPr>
                        <a:defRPr sz="1300" b="0" i="0">
                          <a:solidFill>
                            <a:srgbClr val="2D3748"/>
                          </a:solidFill>
                          <a:latin typeface="Open Sans"/>
                        </a:defRPr>
                      </a:pPr>
                      <a:r>
                        <a:t>Aggregates related ports</a:t>
                      </a:r>
                    </a:p>
                  </a:txBody>
                  <a:tcPr>
                    <a:solidFill>
                      <a:srgbClr val="FAFBFC"/>
                    </a:solidFill>
                  </a:tcPr>
                </a:tc>
              </a:tr>
              <a:tr h="364617">
                <a:tc>
                  <a:txBody>
                    <a:bodyPr wrap="square"/>
                    <a:lstStyle/>
                    <a:p>
                      <a:pPr>
                        <a:defRPr sz="1300" b="0" i="0">
                          <a:solidFill>
                            <a:srgbClr val="2D3748"/>
                          </a:solidFill>
                          <a:latin typeface="Open Sans"/>
                        </a:defRPr>
                      </a:pPr>
                      <a:r>
                        <a:t>&lt;serviceType&gt;</a:t>
                      </a:r>
                    </a:p>
                  </a:txBody>
                  <a:tcPr>
                    <a:solidFill>
                      <a:srgbClr val="FAFBFC"/>
                    </a:solidFill>
                  </a:tcPr>
                </a:tc>
                <a:tc>
                  <a:txBody>
                    <a:bodyPr wrap="square"/>
                    <a:lstStyle/>
                    <a:p>
                      <a:pPr>
                        <a:defRPr sz="1300" b="0" i="0">
                          <a:solidFill>
                            <a:srgbClr val="2D3748"/>
                          </a:solidFill>
                          <a:latin typeface="Open Sans"/>
                        </a:defRPr>
                      </a:pPr>
                      <a:r>
                        <a:t>Mechanism to aggregate portTypes</a:t>
                      </a:r>
                    </a:p>
                  </a:txBody>
                  <a:tcPr>
                    <a:solidFill>
                      <a:srgbClr val="FAFBFC"/>
                    </a:solidFill>
                  </a:tcPr>
                </a:tc>
              </a:tr>
            </a:tbl>
          </a:graphicData>
        </a:graphic>
      </p:graphicFrame>
      <p:sp>
        <p:nvSpPr>
          <p:cNvPr id="5" name="Rounded Rectangle 4"/>
          <p:cNvSpPr/>
          <p:nvPr/>
        </p:nvSpPr>
        <p:spPr>
          <a:xfrm>
            <a:off x="548640" y="4389120"/>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WSDL defines the interface of a Web service, enabling interaction between requester and provider.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XML vs HTML: Purpose and Structure</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94414" cy="2313432"/>
        </p:xfrm>
        <a:graphic>
          <a:graphicData uri="http://schemas.openxmlformats.org/drawingml/2006/table">
            <a:tbl>
              <a:tblPr firstRow="1" bandRow="1">
                <a:tableStyleId>{5C22544A-7EE6-4342-B048-85BDC9FD1C3A}</a:tableStyleId>
              </a:tblPr>
              <a:tblGrid>
                <a:gridCol w="3698138"/>
                <a:gridCol w="3698138"/>
                <a:gridCol w="3698138"/>
              </a:tblGrid>
              <a:tr h="385572">
                <a:tc>
                  <a:txBody>
                    <a:bodyPr wrap="square"/>
                    <a:lstStyle/>
                    <a:p>
                      <a:pPr>
                        <a:defRPr sz="1400" b="1" i="0">
                          <a:solidFill>
                            <a:srgbClr val="FFFFFF"/>
                          </a:solidFill>
                          <a:latin typeface="Open Sans"/>
                        </a:defRPr>
                      </a:pPr>
                      <a:r>
                        <a:t>Feature</a:t>
                      </a:r>
                    </a:p>
                  </a:txBody>
                  <a:tcPr>
                    <a:solidFill>
                      <a:srgbClr val="3182CE"/>
                    </a:solidFill>
                  </a:tcPr>
                </a:tc>
                <a:tc>
                  <a:txBody>
                    <a:bodyPr wrap="square"/>
                    <a:lstStyle/>
                    <a:p>
                      <a:pPr>
                        <a:defRPr sz="1400" b="1" i="0">
                          <a:solidFill>
                            <a:srgbClr val="FFFFFF"/>
                          </a:solidFill>
                          <a:latin typeface="Open Sans"/>
                        </a:defRPr>
                      </a:pPr>
                      <a:r>
                        <a:t>XML</a:t>
                      </a:r>
                    </a:p>
                  </a:txBody>
                  <a:tcPr>
                    <a:solidFill>
                      <a:srgbClr val="3182CE"/>
                    </a:solidFill>
                  </a:tcPr>
                </a:tc>
                <a:tc>
                  <a:txBody>
                    <a:bodyPr wrap="square"/>
                    <a:lstStyle/>
                    <a:p>
                      <a:pPr>
                        <a:defRPr sz="1400" b="1" i="0">
                          <a:solidFill>
                            <a:srgbClr val="FFFFFF"/>
                          </a:solidFill>
                          <a:latin typeface="Open Sans"/>
                        </a:defRPr>
                      </a:pPr>
                      <a:r>
                        <a:t>HTML</a:t>
                      </a:r>
                    </a:p>
                  </a:txBody>
                  <a:tcPr>
                    <a:solidFill>
                      <a:srgbClr val="3182CE"/>
                    </a:solidFill>
                  </a:tcPr>
                </a:tc>
              </a:tr>
              <a:tr h="385572">
                <a:tc>
                  <a:txBody>
                    <a:bodyPr wrap="square"/>
                    <a:lstStyle/>
                    <a:p>
                      <a:pPr>
                        <a:defRPr sz="1300" b="0" i="0">
                          <a:solidFill>
                            <a:srgbClr val="2D3748"/>
                          </a:solidFill>
                          <a:latin typeface="Open Sans"/>
                        </a:defRPr>
                      </a:pPr>
                      <a:r>
                        <a:t>Tags</a:t>
                      </a:r>
                    </a:p>
                  </a:txBody>
                  <a:tcPr>
                    <a:solidFill>
                      <a:srgbClr val="FAFBFC"/>
                    </a:solidFill>
                  </a:tcPr>
                </a:tc>
                <a:tc>
                  <a:txBody>
                    <a:bodyPr wrap="square"/>
                    <a:lstStyle/>
                    <a:p>
                      <a:pPr>
                        <a:defRPr sz="1300" b="0" i="0">
                          <a:solidFill>
                            <a:srgbClr val="2D3748"/>
                          </a:solidFill>
                          <a:latin typeface="Open Sans"/>
                        </a:defRPr>
                      </a:pPr>
                      <a:r>
                        <a:t>Extensible: user-defined meaning</a:t>
                      </a:r>
                    </a:p>
                  </a:txBody>
                  <a:tcPr>
                    <a:solidFill>
                      <a:srgbClr val="FAFBFC"/>
                    </a:solidFill>
                  </a:tcPr>
                </a:tc>
                <a:tc>
                  <a:txBody>
                    <a:bodyPr wrap="square"/>
                    <a:lstStyle/>
                    <a:p>
                      <a:pPr>
                        <a:defRPr sz="1300" b="0" i="0">
                          <a:solidFill>
                            <a:srgbClr val="2D3748"/>
                          </a:solidFill>
                          <a:latin typeface="Open Sans"/>
                        </a:defRPr>
                      </a:pPr>
                      <a:r>
                        <a:t>Fixed: pre-determined and rigid</a:t>
                      </a:r>
                    </a:p>
                  </a:txBody>
                  <a:tcPr>
                    <a:solidFill>
                      <a:srgbClr val="FAFBFC"/>
                    </a:solidFill>
                  </a:tcPr>
                </a:tc>
              </a:tr>
              <a:tr h="385572">
                <a:tc>
                  <a:txBody>
                    <a:bodyPr wrap="square"/>
                    <a:lstStyle/>
                    <a:p>
                      <a:pPr>
                        <a:defRPr sz="1300" b="0" i="0">
                          <a:solidFill>
                            <a:srgbClr val="2D3748"/>
                          </a:solidFill>
                          <a:latin typeface="Open Sans"/>
                        </a:defRPr>
                      </a:pPr>
                      <a:r>
                        <a:t>Orientation</a:t>
                      </a:r>
                    </a:p>
                  </a:txBody>
                  <a:tcPr>
                    <a:solidFill>
                      <a:srgbClr val="FAFBFC"/>
                    </a:solidFill>
                  </a:tcPr>
                </a:tc>
                <a:tc>
                  <a:txBody>
                    <a:bodyPr wrap="square"/>
                    <a:lstStyle/>
                    <a:p>
                      <a:pPr>
                        <a:defRPr sz="1300" b="0" i="0">
                          <a:solidFill>
                            <a:srgbClr val="2D3748"/>
                          </a:solidFill>
                          <a:latin typeface="Open Sans"/>
                        </a:defRPr>
                      </a:pPr>
                      <a:r>
                        <a:t>Content-oriented</a:t>
                      </a:r>
                    </a:p>
                  </a:txBody>
                  <a:tcPr>
                    <a:solidFill>
                      <a:srgbClr val="FAFBFC"/>
                    </a:solidFill>
                  </a:tcPr>
                </a:tc>
                <a:tc>
                  <a:txBody>
                    <a:bodyPr wrap="square"/>
                    <a:lstStyle/>
                    <a:p>
                      <a:pPr>
                        <a:defRPr sz="1300" b="0" i="0">
                          <a:solidFill>
                            <a:srgbClr val="2D3748"/>
                          </a:solidFill>
                          <a:latin typeface="Open Sans"/>
                        </a:defRPr>
                      </a:pPr>
                      <a:r>
                        <a:t>Presentation-oriented</a:t>
                      </a:r>
                    </a:p>
                  </a:txBody>
                  <a:tcPr>
                    <a:solidFill>
                      <a:srgbClr val="FAFBFC"/>
                    </a:solidFill>
                  </a:tcPr>
                </a:tc>
              </a:tr>
              <a:tr h="385572">
                <a:tc>
                  <a:txBody>
                    <a:bodyPr wrap="square"/>
                    <a:lstStyle/>
                    <a:p>
                      <a:pPr>
                        <a:defRPr sz="1300" b="0" i="0">
                          <a:solidFill>
                            <a:srgbClr val="2D3748"/>
                          </a:solidFill>
                          <a:latin typeface="Open Sans"/>
                        </a:defRPr>
                      </a:pPr>
                      <a:r>
                        <a:t>Design Goal</a:t>
                      </a:r>
                    </a:p>
                  </a:txBody>
                  <a:tcPr>
                    <a:solidFill>
                      <a:srgbClr val="FAFBFC"/>
                    </a:solidFill>
                  </a:tcPr>
                </a:tc>
                <a:tc>
                  <a:txBody>
                    <a:bodyPr wrap="square"/>
                    <a:lstStyle/>
                    <a:p>
                      <a:pPr>
                        <a:defRPr sz="1300" b="0" i="0">
                          <a:solidFill>
                            <a:srgbClr val="2D3748"/>
                          </a:solidFill>
                          <a:latin typeface="Open Sans"/>
                        </a:defRPr>
                      </a:pPr>
                      <a:r>
                        <a:t>Transport and store data</a:t>
                      </a:r>
                    </a:p>
                  </a:txBody>
                  <a:tcPr>
                    <a:solidFill>
                      <a:srgbClr val="FAFBFC"/>
                    </a:solidFill>
                  </a:tcPr>
                </a:tc>
                <a:tc>
                  <a:txBody>
                    <a:bodyPr wrap="square"/>
                    <a:lstStyle/>
                    <a:p>
                      <a:pPr>
                        <a:defRPr sz="1300" b="0" i="0">
                          <a:solidFill>
                            <a:srgbClr val="2D3748"/>
                          </a:solidFill>
                          <a:latin typeface="Open Sans"/>
                        </a:defRPr>
                      </a:pPr>
                      <a:r>
                        <a:t>Display data</a:t>
                      </a:r>
                    </a:p>
                  </a:txBody>
                  <a:tcPr>
                    <a:solidFill>
                      <a:srgbClr val="FAFBFC"/>
                    </a:solidFill>
                  </a:tcPr>
                </a:tc>
              </a:tr>
              <a:tr h="385572">
                <a:tc>
                  <a:txBody>
                    <a:bodyPr wrap="square"/>
                    <a:lstStyle/>
                    <a:p>
                      <a:pPr>
                        <a:defRPr sz="1300" b="0" i="0">
                          <a:solidFill>
                            <a:srgbClr val="2D3748"/>
                          </a:solidFill>
                          <a:latin typeface="Open Sans"/>
                        </a:defRPr>
                      </a:pPr>
                      <a:r>
                        <a:t>Validation</a:t>
                      </a:r>
                    </a:p>
                  </a:txBody>
                  <a:tcPr>
                    <a:solidFill>
                      <a:srgbClr val="FAFBFC"/>
                    </a:solidFill>
                  </a:tcPr>
                </a:tc>
                <a:tc>
                  <a:txBody>
                    <a:bodyPr wrap="square"/>
                    <a:lstStyle/>
                    <a:p>
                      <a:pPr>
                        <a:defRPr sz="1300" b="0" i="0">
                          <a:solidFill>
                            <a:srgbClr val="2D3748"/>
                          </a:solidFill>
                          <a:latin typeface="Open Sans"/>
                        </a:defRPr>
                      </a:pPr>
                      <a:r>
                        <a:t>Supports schema validation (XSD)</a:t>
                      </a:r>
                    </a:p>
                  </a:txBody>
                  <a:tcPr>
                    <a:solidFill>
                      <a:srgbClr val="FAFBFC"/>
                    </a:solidFill>
                  </a:tcPr>
                </a:tc>
                <a:tc>
                  <a:txBody>
                    <a:bodyPr wrap="square"/>
                    <a:lstStyle/>
                    <a:p>
                      <a:pPr>
                        <a:defRPr sz="1300" b="0" i="0">
                          <a:solidFill>
                            <a:srgbClr val="2D3748"/>
                          </a:solidFill>
                          <a:latin typeface="Open Sans"/>
                        </a:defRPr>
                      </a:pPr>
                      <a:r>
                        <a:t>No built-in validation</a:t>
                      </a:r>
                    </a:p>
                  </a:txBody>
                  <a:tcPr>
                    <a:solidFill>
                      <a:srgbClr val="FAFBFC"/>
                    </a:solidFill>
                  </a:tcPr>
                </a:tc>
              </a:tr>
              <a:tr h="385572">
                <a:tc>
                  <a:txBody>
                    <a:bodyPr wrap="square"/>
                    <a:lstStyle/>
                    <a:p>
                      <a:pPr>
                        <a:defRPr sz="1300" b="0" i="0">
                          <a:solidFill>
                            <a:srgbClr val="2D3748"/>
                          </a:solidFill>
                          <a:latin typeface="Open Sans"/>
                        </a:defRPr>
                      </a:pPr>
                      <a:r>
                        <a:t>Use Case</a:t>
                      </a:r>
                    </a:p>
                  </a:txBody>
                  <a:tcPr>
                    <a:solidFill>
                      <a:srgbClr val="FAFBFC"/>
                    </a:solidFill>
                  </a:tcPr>
                </a:tc>
                <a:tc>
                  <a:txBody>
                    <a:bodyPr wrap="square"/>
                    <a:lstStyle/>
                    <a:p>
                      <a:pPr>
                        <a:defRPr sz="1300" b="0" i="0">
                          <a:solidFill>
                            <a:srgbClr val="2D3748"/>
                          </a:solidFill>
                          <a:latin typeface="Open Sans"/>
                        </a:defRPr>
                      </a:pPr>
                      <a:r>
                        <a:t>Data interchange between systems</a:t>
                      </a:r>
                    </a:p>
                  </a:txBody>
                  <a:tcPr>
                    <a:solidFill>
                      <a:srgbClr val="FAFBFC"/>
                    </a:solidFill>
                  </a:tcPr>
                </a:tc>
                <a:tc>
                  <a:txBody>
                    <a:bodyPr wrap="square"/>
                    <a:lstStyle/>
                    <a:p>
                      <a:pPr>
                        <a:defRPr sz="1300" b="0" i="0">
                          <a:solidFill>
                            <a:srgbClr val="2D3748"/>
                          </a:solidFill>
                          <a:latin typeface="Open Sans"/>
                        </a:defRPr>
                      </a:pPr>
                      <a:r>
                        <a:t>Web page rendering</a:t>
                      </a:r>
                    </a:p>
                  </a:txBody>
                  <a:tcPr>
                    <a:solidFill>
                      <a:srgbClr val="FAFBFC"/>
                    </a:solidFill>
                  </a:tcPr>
                </a:tc>
              </a:tr>
            </a:tbl>
          </a:graphicData>
        </a:graphic>
      </p:graphicFrame>
      <p:sp>
        <p:nvSpPr>
          <p:cNvPr id="5" name="Rounded Rectangle 4"/>
          <p:cNvSpPr/>
          <p:nvPr/>
        </p:nvSpPr>
        <p:spPr>
          <a:xfrm>
            <a:off x="548640" y="3785616"/>
            <a:ext cx="11094415" cy="36576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XML is for computers; HTML is for humans.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Cloud Computing Service Models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94415" cy="1709928"/>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27482">
                <a:tc>
                  <a:txBody>
                    <a:bodyPr wrap="square"/>
                    <a:lstStyle/>
                    <a:p>
                      <a:pPr>
                        <a:defRPr sz="1400" b="1" i="0">
                          <a:solidFill>
                            <a:srgbClr val="FFFFFF"/>
                          </a:solidFill>
                          <a:latin typeface="Open Sans"/>
                        </a:defRPr>
                      </a:pPr>
                      <a:r>
                        <a:t>Model</a:t>
                      </a:r>
                    </a:p>
                  </a:txBody>
                  <a:tcPr>
                    <a:solidFill>
                      <a:srgbClr val="3182CE"/>
                    </a:solidFill>
                  </a:tcPr>
                </a:tc>
                <a:tc>
                  <a:txBody>
                    <a:bodyPr wrap="square"/>
                    <a:lstStyle/>
                    <a:p>
                      <a:pPr>
                        <a:defRPr sz="1400" b="1" i="0">
                          <a:solidFill>
                            <a:srgbClr val="FFFFFF"/>
                          </a:solidFill>
                          <a:latin typeface="Open Sans"/>
                        </a:defRPr>
                      </a:pPr>
                      <a:r>
                        <a:t>What You Get</a:t>
                      </a:r>
                    </a:p>
                  </a:txBody>
                  <a:tcPr>
                    <a:solidFill>
                      <a:srgbClr val="3182CE"/>
                    </a:solidFill>
                  </a:tcPr>
                </a:tc>
                <a:tc>
                  <a:txBody>
                    <a:bodyPr wrap="square"/>
                    <a:lstStyle/>
                    <a:p>
                      <a:pPr>
                        <a:defRPr sz="1400" b="1" i="0">
                          <a:solidFill>
                            <a:srgbClr val="FFFFFF"/>
                          </a:solidFill>
                          <a:latin typeface="Open Sans"/>
                        </a:defRPr>
                      </a:pPr>
                      <a:r>
                        <a:t>Technical Difficulty</a:t>
                      </a:r>
                    </a:p>
                  </a:txBody>
                  <a:tcPr>
                    <a:solidFill>
                      <a:srgbClr val="3182CE"/>
                    </a:solidFill>
                  </a:tcPr>
                </a:tc>
                <a:tc>
                  <a:txBody>
                    <a:bodyPr wrap="square"/>
                    <a:lstStyle/>
                    <a:p>
                      <a:pPr>
                        <a:defRPr sz="1400" b="1" i="0">
                          <a:solidFill>
                            <a:srgbClr val="FFFFFF"/>
                          </a:solidFill>
                          <a:latin typeface="Open Sans"/>
                        </a:defRPr>
                      </a:pPr>
                      <a:r>
                        <a:t>Deals With</a:t>
                      </a:r>
                    </a:p>
                  </a:txBody>
                  <a:tcPr>
                    <a:solidFill>
                      <a:srgbClr val="3182CE"/>
                    </a:solidFill>
                  </a:tcPr>
                </a:tc>
                <a:tc>
                  <a:txBody>
                    <a:bodyPr wrap="square"/>
                    <a:lstStyle/>
                    <a:p>
                      <a:pPr>
                        <a:defRPr sz="1400" b="1" i="0">
                          <a:solidFill>
                            <a:srgbClr val="FFFFFF"/>
                          </a:solidFill>
                          <a:latin typeface="Open Sans"/>
                        </a:defRPr>
                      </a:pPr>
                      <a:r>
                        <a:t>Popularity</a:t>
                      </a:r>
                    </a:p>
                  </a:txBody>
                  <a:tcPr>
                    <a:solidFill>
                      <a:srgbClr val="3182CE"/>
                    </a:solidFill>
                  </a:tcPr>
                </a:tc>
              </a:tr>
              <a:tr h="427482">
                <a:tc>
                  <a:txBody>
                    <a:bodyPr wrap="square"/>
                    <a:lstStyle/>
                    <a:p>
                      <a:pPr>
                        <a:defRPr sz="1300" b="0" i="0">
                          <a:solidFill>
                            <a:srgbClr val="2D3748"/>
                          </a:solidFill>
                          <a:latin typeface="Open Sans"/>
                        </a:defRPr>
                      </a:pPr>
                      <a:r>
                        <a:t>IaaS</a:t>
                      </a:r>
                    </a:p>
                  </a:txBody>
                  <a:tcPr>
                    <a:solidFill>
                      <a:srgbClr val="FAFBFC"/>
                    </a:solidFill>
                  </a:tcPr>
                </a:tc>
                <a:tc>
                  <a:txBody>
                    <a:bodyPr wrap="square"/>
                    <a:lstStyle/>
                    <a:p>
                      <a:pPr>
                        <a:defRPr sz="1300" b="0" i="0">
                          <a:solidFill>
                            <a:srgbClr val="2D3748"/>
                          </a:solidFill>
                          <a:latin typeface="Open Sans"/>
                        </a:defRPr>
                      </a:pPr>
                      <a:r>
                        <a:t>Infrastructure (VMs, storage, servers)</a:t>
                      </a:r>
                    </a:p>
                  </a:txBody>
                  <a:tcPr>
                    <a:solidFill>
                      <a:srgbClr val="FAFBFC"/>
                    </a:solidFill>
                  </a:tcPr>
                </a:tc>
                <a:tc>
                  <a:txBody>
                    <a:bodyPr wrap="square"/>
                    <a:lstStyle/>
                    <a:p>
                      <a:pPr>
                        <a:defRPr sz="1300" b="0" i="0">
                          <a:solidFill>
                            <a:srgbClr val="2D3748"/>
                          </a:solidFill>
                          <a:latin typeface="Open Sans"/>
                        </a:defRPr>
                      </a:pPr>
                      <a:r>
                        <a:t>High</a:t>
                      </a:r>
                    </a:p>
                  </a:txBody>
                  <a:tcPr>
                    <a:solidFill>
                      <a:srgbClr val="FAFBFC"/>
                    </a:solidFill>
                  </a:tcPr>
                </a:tc>
                <a:tc>
                  <a:txBody>
                    <a:bodyPr wrap="square"/>
                    <a:lstStyle/>
                    <a:p>
                      <a:pPr>
                        <a:defRPr sz="1300" b="0" i="0">
                          <a:solidFill>
                            <a:srgbClr val="2D3748"/>
                          </a:solidFill>
                          <a:latin typeface="Open Sans"/>
                        </a:defRPr>
                      </a:pPr>
                      <a:r>
                        <a:t>Virtualization, networking</a:t>
                      </a:r>
                    </a:p>
                  </a:txBody>
                  <a:tcPr>
                    <a:solidFill>
                      <a:srgbClr val="FAFBFC"/>
                    </a:solidFill>
                  </a:tcPr>
                </a:tc>
                <a:tc>
                  <a:txBody>
                    <a:bodyPr wrap="square"/>
                    <a:lstStyle/>
                    <a:p>
                      <a:pPr>
                        <a:defRPr sz="1300" b="0" i="0">
                          <a:solidFill>
                            <a:srgbClr val="2D3748"/>
                          </a:solidFill>
                          <a:latin typeface="Open Sans"/>
                        </a:defRPr>
                      </a:pPr>
                      <a:r>
                        <a:t>Skilled developers &amp; researchers</a:t>
                      </a:r>
                    </a:p>
                  </a:txBody>
                  <a:tcPr>
                    <a:solidFill>
                      <a:srgbClr val="FAFBFC"/>
                    </a:solidFill>
                  </a:tcPr>
                </a:tc>
              </a:tr>
              <a:tr h="427482">
                <a:tc>
                  <a:txBody>
                    <a:bodyPr wrap="square"/>
                    <a:lstStyle/>
                    <a:p>
                      <a:pPr>
                        <a:defRPr sz="1300" b="0" i="0">
                          <a:solidFill>
                            <a:srgbClr val="2D3748"/>
                          </a:solidFill>
                          <a:latin typeface="Open Sans"/>
                        </a:defRPr>
                      </a:pPr>
                      <a:r>
                        <a:t>PaaS</a:t>
                      </a:r>
                    </a:p>
                  </a:txBody>
                  <a:tcPr>
                    <a:solidFill>
                      <a:srgbClr val="FAFBFC"/>
                    </a:solidFill>
                  </a:tcPr>
                </a:tc>
                <a:tc>
                  <a:txBody>
                    <a:bodyPr wrap="square"/>
                    <a:lstStyle/>
                    <a:p>
                      <a:pPr>
                        <a:defRPr sz="1300" b="0" i="0">
                          <a:solidFill>
                            <a:srgbClr val="2D3748"/>
                          </a:solidFill>
                          <a:latin typeface="Open Sans"/>
                        </a:defRPr>
                      </a:pPr>
                      <a:r>
                        <a:t>Platform (runtimes, DBs, web servers)</a:t>
                      </a:r>
                    </a:p>
                  </a:txBody>
                  <a:tcPr>
                    <a:solidFill>
                      <a:srgbClr val="FAFBFC"/>
                    </a:solidFill>
                  </a:tcPr>
                </a:tc>
                <a:tc>
                  <a:txBody>
                    <a:bodyPr wrap="square"/>
                    <a:lstStyle/>
                    <a:p>
                      <a:pPr>
                        <a:defRPr sz="1300" b="0" i="0">
                          <a:solidFill>
                            <a:srgbClr val="2D3748"/>
                          </a:solidFill>
                          <a:latin typeface="Open Sans"/>
                        </a:defRPr>
                      </a:pPr>
                      <a:r>
                        <a:t>Medium</a:t>
                      </a:r>
                    </a:p>
                  </a:txBody>
                  <a:tcPr>
                    <a:solidFill>
                      <a:srgbClr val="FAFBFC"/>
                    </a:solidFill>
                  </a:tcPr>
                </a:tc>
                <a:tc>
                  <a:txBody>
                    <a:bodyPr wrap="square"/>
                    <a:lstStyle/>
                    <a:p>
                      <a:pPr>
                        <a:defRPr sz="1300" b="0" i="0">
                          <a:solidFill>
                            <a:srgbClr val="2D3748"/>
                          </a:solidFill>
                          <a:latin typeface="Open Sans"/>
                        </a:defRPr>
                      </a:pPr>
                      <a:r>
                        <a:t>Development environment</a:t>
                      </a:r>
                    </a:p>
                  </a:txBody>
                  <a:tcPr>
                    <a:solidFill>
                      <a:srgbClr val="FAFBFC"/>
                    </a:solidFill>
                  </a:tcPr>
                </a:tc>
                <a:tc>
                  <a:txBody>
                    <a:bodyPr wrap="square"/>
                    <a:lstStyle/>
                    <a:p>
                      <a:pPr>
                        <a:defRPr sz="1300" b="0" i="0">
                          <a:solidFill>
                            <a:srgbClr val="2D3748"/>
                          </a:solidFill>
                          <a:latin typeface="Open Sans"/>
                        </a:defRPr>
                      </a:pPr>
                      <a:r>
                        <a:t>Developers</a:t>
                      </a:r>
                    </a:p>
                  </a:txBody>
                  <a:tcPr>
                    <a:solidFill>
                      <a:srgbClr val="FAFBFC"/>
                    </a:solidFill>
                  </a:tcPr>
                </a:tc>
              </a:tr>
              <a:tr h="427482">
                <a:tc>
                  <a:txBody>
                    <a:bodyPr wrap="square"/>
                    <a:lstStyle/>
                    <a:p>
                      <a:pPr>
                        <a:defRPr sz="1300" b="0" i="0">
                          <a:solidFill>
                            <a:srgbClr val="2D3748"/>
                          </a:solidFill>
                          <a:latin typeface="Open Sans"/>
                        </a:defRPr>
                      </a:pPr>
                      <a:r>
                        <a:t>SaaS</a:t>
                      </a:r>
                    </a:p>
                  </a:txBody>
                  <a:tcPr>
                    <a:solidFill>
                      <a:srgbClr val="FAFBFC"/>
                    </a:solidFill>
                  </a:tcPr>
                </a:tc>
                <a:tc>
                  <a:txBody>
                    <a:bodyPr wrap="square"/>
                    <a:lstStyle/>
                    <a:p>
                      <a:pPr>
                        <a:defRPr sz="1300" b="0" i="0">
                          <a:solidFill>
                            <a:srgbClr val="2D3748"/>
                          </a:solidFill>
                          <a:latin typeface="Open Sans"/>
                        </a:defRPr>
                      </a:pPr>
                      <a:r>
                        <a:t>Pre-configured applications</a:t>
                      </a:r>
                    </a:p>
                  </a:txBody>
                  <a:tcPr>
                    <a:solidFill>
                      <a:srgbClr val="FAFBFC"/>
                    </a:solidFill>
                  </a:tcPr>
                </a:tc>
                <a:tc>
                  <a:txBody>
                    <a:bodyPr wrap="square"/>
                    <a:lstStyle/>
                    <a:p>
                      <a:pPr>
                        <a:defRPr sz="1300" b="0" i="0">
                          <a:solidFill>
                            <a:srgbClr val="2D3748"/>
                          </a:solidFill>
                          <a:latin typeface="Open Sans"/>
                        </a:defRPr>
                      </a:pPr>
                      <a:r>
                        <a:t>None</a:t>
                      </a:r>
                    </a:p>
                  </a:txBody>
                  <a:tcPr>
                    <a:solidFill>
                      <a:srgbClr val="FAFBFC"/>
                    </a:solidFill>
                  </a:tcPr>
                </a:tc>
                <a:tc>
                  <a:txBody>
                    <a:bodyPr wrap="square"/>
                    <a:lstStyle/>
                    <a:p>
                      <a:pPr>
                        <a:defRPr sz="1300" b="0" i="0">
                          <a:solidFill>
                            <a:srgbClr val="2D3748"/>
                          </a:solidFill>
                          <a:latin typeface="Open Sans"/>
                        </a:defRPr>
                      </a:pPr>
                      <a:r>
                        <a:t>End-user software (email, social media)</a:t>
                      </a:r>
                    </a:p>
                  </a:txBody>
                  <a:tcPr>
                    <a:solidFill>
                      <a:srgbClr val="FAFBFC"/>
                    </a:solidFill>
                  </a:tcPr>
                </a:tc>
                <a:tc>
                  <a:txBody>
                    <a:bodyPr wrap="square"/>
                    <a:lstStyle/>
                    <a:p>
                      <a:pPr>
                        <a:defRPr sz="1300" b="0" i="0">
                          <a:solidFill>
                            <a:srgbClr val="2D3748"/>
                          </a:solidFill>
                          <a:latin typeface="Open Sans"/>
                        </a:defRPr>
                      </a:pPr>
                      <a:r>
                        <a:t>General users &amp; enterprises</a:t>
                      </a:r>
                    </a:p>
                  </a:txBody>
                  <a:tcPr>
                    <a:solidFill>
                      <a:srgbClr val="FAFBFC"/>
                    </a:solidFill>
                  </a:tcPr>
                </a:tc>
              </a:tr>
            </a:tbl>
          </a:graphicData>
        </a:graphic>
      </p:graphicFrame>
      <p:sp>
        <p:nvSpPr>
          <p:cNvPr id="5" name="Rounded Rectangle 4"/>
          <p:cNvSpPr/>
          <p:nvPr/>
        </p:nvSpPr>
        <p:spPr>
          <a:xfrm>
            <a:off x="548640" y="3182112"/>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Cloud computing delivers computing, storage, and software as a service via the internet.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Service-Oriented Computing (SOC)</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4415" cy="36576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i="1">
                <a:solidFill>
                  <a:srgbClr val="2D3748"/>
                </a:solidFill>
                <a:latin typeface="Open Sans"/>
              </a:defRPr>
            </a:pPr>
            <a:r>
              <a:t>‘Service orientation is the core reference model for cloud computing systems.’</a:t>
            </a:r>
          </a:p>
        </p:txBody>
      </p:sp>
      <p:sp>
        <p:nvSpPr>
          <p:cNvPr id="5" name="TextBox 4"/>
          <p:cNvSpPr txBox="1"/>
          <p:nvPr/>
        </p:nvSpPr>
        <p:spPr>
          <a:xfrm>
            <a:off x="658368" y="1819656"/>
            <a:ext cx="10984687" cy="1216152"/>
          </a:xfrm>
          <a:prstGeom prst="rect">
            <a:avLst/>
          </a:prstGeom>
          <a:noFill/>
        </p:spPr>
        <p:txBody>
          <a:bodyPr wrap="square">
            <a:spAutoFit/>
          </a:bodyPr>
          <a:lstStyle/>
          <a:p>
            <a:pPr>
              <a:spcAft>
                <a:spcPts val="600"/>
              </a:spcAft>
              <a:defRPr sz="1800" b="0" i="0">
                <a:solidFill>
                  <a:srgbClr val="2D3748"/>
                </a:solidFill>
                <a:latin typeface="Open Sans"/>
              </a:defRPr>
            </a:pPr>
            <a:r>
              <a:t>• Services are main building blocks of applications/systems</a:t>
            </a:r>
          </a:p>
          <a:p>
            <a:pPr>
              <a:spcAft>
                <a:spcPts val="600"/>
              </a:spcAft>
              <a:defRPr sz="1800" b="0" i="0">
                <a:solidFill>
                  <a:srgbClr val="2D3748"/>
                </a:solidFill>
                <a:latin typeface="Open Sans"/>
              </a:defRPr>
            </a:pPr>
            <a:r>
              <a:t>• Supports rapid, low-cost development</a:t>
            </a:r>
          </a:p>
          <a:p>
            <a:pPr>
              <a:spcAft>
                <a:spcPts val="600"/>
              </a:spcAft>
              <a:defRPr sz="1800" b="0" i="0">
                <a:solidFill>
                  <a:srgbClr val="2D3748"/>
                </a:solidFill>
                <a:latin typeface="Open Sans"/>
              </a:defRPr>
            </a:pPr>
            <a:r>
              <a:t>• Enables flexible, interoperable, and evolvable systems</a:t>
            </a:r>
          </a:p>
          <a:p>
            <a:pPr>
              <a:spcAft>
                <a:spcPts val="600"/>
              </a:spcAft>
              <a:defRPr sz="1800" b="0" i="0">
                <a:solidFill>
                  <a:srgbClr val="2D3748"/>
                </a:solidFill>
                <a:latin typeface="Open Sans"/>
              </a:defRPr>
            </a:pPr>
            <a:r>
              <a:t>• Forms foundation of cloud middleware and service interfaces</a:t>
            </a:r>
          </a:p>
        </p:txBody>
      </p:sp>
      <p:sp>
        <p:nvSpPr>
          <p:cNvPr id="6" name="Rounded Rectangle 5"/>
          <p:cNvSpPr/>
          <p:nvPr/>
        </p:nvSpPr>
        <p:spPr>
          <a:xfrm>
            <a:off x="548640" y="3163824"/>
            <a:ext cx="11094415" cy="365760"/>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SOC underpins the design of modern distributed and cloud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Cloud Computing Types &amp; Deployment Models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25880"/>
            <a:ext cx="10984687" cy="1216152"/>
          </a:xfrm>
          <a:prstGeom prst="rect">
            <a:avLst/>
          </a:prstGeom>
          <a:noFill/>
        </p:spPr>
        <p:txBody>
          <a:bodyPr wrap="square">
            <a:spAutoFit/>
          </a:bodyPr>
          <a:lstStyle/>
          <a:p>
            <a:pPr>
              <a:spcAft>
                <a:spcPts val="600"/>
              </a:spcAft>
              <a:defRPr sz="1800" b="0" i="0">
                <a:solidFill>
                  <a:srgbClr val="2D3748"/>
                </a:solidFill>
                <a:latin typeface="Open Sans"/>
              </a:defRPr>
            </a:pPr>
            <a:r>
              <a:t>• Private Cloud: Owned by single organization, shared internal missions</a:t>
            </a:r>
          </a:p>
          <a:p>
            <a:pPr>
              <a:spcAft>
                <a:spcPts val="600"/>
              </a:spcAft>
              <a:defRPr sz="1800" b="0" i="0">
                <a:solidFill>
                  <a:srgbClr val="2D3748"/>
                </a:solidFill>
                <a:latin typeface="Open Sans"/>
              </a:defRPr>
            </a:pPr>
            <a:r>
              <a:t>• Community Cloud: Shared by organizations with common concerns (e.g., security)</a:t>
            </a:r>
          </a:p>
          <a:p>
            <a:pPr>
              <a:spcAft>
                <a:spcPts val="600"/>
              </a:spcAft>
              <a:defRPr sz="1800" b="0" i="0">
                <a:solidFill>
                  <a:srgbClr val="2D3748"/>
                </a:solidFill>
                <a:latin typeface="Open Sans"/>
              </a:defRPr>
            </a:pPr>
            <a:r>
              <a:t>• Public Cloud: Available to general public, owned by third-party provider</a:t>
            </a:r>
          </a:p>
          <a:p>
            <a:pPr>
              <a:spcAft>
                <a:spcPts val="600"/>
              </a:spcAft>
              <a:defRPr sz="1800" b="0" i="0">
                <a:solidFill>
                  <a:srgbClr val="2D3748"/>
                </a:solidFill>
                <a:latin typeface="Open Sans"/>
              </a:defRPr>
            </a:pPr>
            <a:r>
              <a:t>• Hybrid Cloud: Combines two or more models (e.g., private + public)</a:t>
            </a:r>
          </a:p>
        </p:txBody>
      </p:sp>
      <p:sp>
        <p:nvSpPr>
          <p:cNvPr id="5" name="Rounded Rectangle 4"/>
          <p:cNvSpPr/>
          <p:nvPr/>
        </p:nvSpPr>
        <p:spPr>
          <a:xfrm>
            <a:off x="548640" y="2670048"/>
            <a:ext cx="11094415" cy="2377440"/>
          </a:xfrm>
          <a:prstGeom prst="roundRect">
            <a:avLst/>
          </a:prstGeom>
          <a:solidFill>
            <a:srgbClr val="F7F9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i="1">
                <a:solidFill>
                  <a:srgbClr val="2D3748"/>
                </a:solidFill>
                <a:latin typeface="Open Sans"/>
              </a:defRPr>
            </a:pPr>
            <a:r>
              <a:t>Venn diagram with four overlapping circles labeled 'Private', 'Community', 'Public', and 'Hybrid'. Hybrid circle overlaps all others. Use muted blue for private, amber for community, green for public, and purple for hybrid. Background white.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Web Services Registry: UDDI</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i="1">
                <a:solidFill>
                  <a:srgbClr val="2D3748"/>
                </a:solidFill>
                <a:latin typeface="Open Sans"/>
              </a:defRPr>
            </a:pPr>
            <a:r>
              <a:t>‘Universal Description, Discovery and Integration (UDDI) serves as a business and service registry essential for the widespread use of Web services.'</a:t>
            </a:r>
          </a:p>
        </p:txBody>
      </p:sp>
      <p:sp>
        <p:nvSpPr>
          <p:cNvPr id="5" name="TextBox 4"/>
          <p:cNvSpPr txBox="1"/>
          <p:nvPr/>
        </p:nvSpPr>
        <p:spPr>
          <a:xfrm>
            <a:off x="658368" y="1984248"/>
            <a:ext cx="10984687" cy="1216152"/>
          </a:xfrm>
          <a:prstGeom prst="rect">
            <a:avLst/>
          </a:prstGeom>
          <a:noFill/>
        </p:spPr>
        <p:txBody>
          <a:bodyPr wrap="square">
            <a:spAutoFit/>
          </a:bodyPr>
          <a:lstStyle/>
          <a:p>
            <a:pPr>
              <a:spcAft>
                <a:spcPts val="600"/>
              </a:spcAft>
              <a:defRPr sz="1800" b="0" i="0">
                <a:solidFill>
                  <a:srgbClr val="2D3748"/>
                </a:solidFill>
                <a:latin typeface="Open Sans"/>
              </a:defRPr>
            </a:pPr>
            <a:r>
              <a:t>• Central registry for publishing and discovering web services</a:t>
            </a:r>
          </a:p>
          <a:p>
            <a:pPr>
              <a:spcAft>
                <a:spcPts val="600"/>
              </a:spcAft>
              <a:defRPr sz="1800" b="0" i="0">
                <a:solidFill>
                  <a:srgbClr val="2D3748"/>
                </a:solidFill>
                <a:latin typeface="Open Sans"/>
              </a:defRPr>
            </a:pPr>
            <a:r>
              <a:t>• Businesses populate descriptions of their services</a:t>
            </a:r>
          </a:p>
          <a:p>
            <a:pPr>
              <a:spcAft>
                <a:spcPts val="600"/>
              </a:spcAft>
              <a:defRPr sz="1800" b="0" i="0">
                <a:solidFill>
                  <a:srgbClr val="2D3748"/>
                </a:solidFill>
                <a:latin typeface="Open Sans"/>
              </a:defRPr>
            </a:pPr>
            <a:r>
              <a:t>• Enables service integration over the Web</a:t>
            </a:r>
          </a:p>
          <a:p>
            <a:pPr>
              <a:spcAft>
                <a:spcPts val="600"/>
              </a:spcAft>
              <a:defRPr sz="1800" b="0" i="0">
                <a:solidFill>
                  <a:srgbClr val="2D3748"/>
                </a:solidFill>
                <a:latin typeface="Open Sans"/>
              </a:defRPr>
            </a:pPr>
            <a:r>
              <a:t>• Supports dynamic discovery and binding of services</a:t>
            </a:r>
          </a:p>
        </p:txBody>
      </p:sp>
      <p:sp>
        <p:nvSpPr>
          <p:cNvPr id="6" name="Rounded Rectangle 5"/>
          <p:cNvSpPr/>
          <p:nvPr/>
        </p:nvSpPr>
        <p:spPr>
          <a:xfrm>
            <a:off x="548640" y="3328416"/>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UDDI is foundational for service-oriented architectures in distributed environments.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Cloud Middleware Components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25880"/>
            <a:ext cx="10984687" cy="1956816"/>
          </a:xfrm>
          <a:prstGeom prst="rect">
            <a:avLst/>
          </a:prstGeom>
          <a:noFill/>
        </p:spPr>
        <p:txBody>
          <a:bodyPr wrap="square">
            <a:spAutoFit/>
          </a:bodyPr>
          <a:lstStyle/>
          <a:p>
            <a:pPr>
              <a:spcAft>
                <a:spcPts val="600"/>
              </a:spcAft>
              <a:defRPr sz="1800" b="0" i="0">
                <a:solidFill>
                  <a:srgbClr val="2D3748"/>
                </a:solidFill>
                <a:latin typeface="Open Sans"/>
              </a:defRPr>
            </a:pPr>
            <a:r>
              <a:t>1. Software as a Service (SaaS)</a:t>
            </a:r>
          </a:p>
          <a:p>
            <a:pPr>
              <a:spcAft>
                <a:spcPts val="600"/>
              </a:spcAft>
              <a:defRPr sz="1800" b="0" i="0">
                <a:solidFill>
                  <a:srgbClr val="2D3748"/>
                </a:solidFill>
                <a:latin typeface="Open Sans"/>
              </a:defRPr>
            </a:pPr>
            <a:r>
              <a:t>2. Infrastructure as a Service (IaaS)</a:t>
            </a:r>
          </a:p>
          <a:p>
            <a:pPr>
              <a:spcAft>
                <a:spcPts val="600"/>
              </a:spcAft>
              <a:defRPr sz="1800" b="0" i="0">
                <a:solidFill>
                  <a:srgbClr val="2D3748"/>
                </a:solidFill>
                <a:latin typeface="Open Sans"/>
              </a:defRPr>
            </a:pPr>
            <a:r>
              <a:t>3. Platform as a Service (PaaS)</a:t>
            </a:r>
          </a:p>
          <a:p>
            <a:pPr>
              <a:spcAft>
                <a:spcPts val="600"/>
              </a:spcAft>
              <a:defRPr sz="1800" b="0" i="0">
                <a:solidFill>
                  <a:srgbClr val="2D3748"/>
                </a:solidFill>
                <a:latin typeface="Open Sans"/>
              </a:defRPr>
            </a:pPr>
            <a:r>
              <a:t>4. MapReduce Programming</a:t>
            </a:r>
          </a:p>
          <a:p>
            <a:pPr>
              <a:spcAft>
                <a:spcPts val="600"/>
              </a:spcAft>
              <a:defRPr sz="1800" b="0" i="0">
                <a:solidFill>
                  <a:srgbClr val="2D3748"/>
                </a:solidFill>
                <a:latin typeface="Open Sans"/>
              </a:defRPr>
            </a:pPr>
            <a:r>
              <a:t>5. Management and Monitoring</a:t>
            </a:r>
          </a:p>
          <a:p>
            <a:pPr>
              <a:spcAft>
                <a:spcPts val="600"/>
              </a:spcAft>
              <a:defRPr sz="1800" b="0" i="0">
                <a:solidFill>
                  <a:srgbClr val="2D3748"/>
                </a:solidFill>
                <a:latin typeface="Open Sans"/>
              </a:defRPr>
            </a:pPr>
            <a:r>
              <a:t>6. Security</a:t>
            </a:r>
          </a:p>
          <a:p>
            <a:pPr>
              <a:spcAft>
                <a:spcPts val="600"/>
              </a:spcAft>
              <a:defRPr sz="1800" b="0" i="0">
                <a:solidFill>
                  <a:srgbClr val="2D3748"/>
                </a:solidFill>
                <a:latin typeface="Open Sans"/>
              </a:defRPr>
            </a:pPr>
            <a:r>
              <a:t>7. Cloud Middleware Layer</a:t>
            </a:r>
          </a:p>
        </p:txBody>
      </p:sp>
      <p:sp>
        <p:nvSpPr>
          <p:cNvPr id="5" name="Rounded Rectangle 4"/>
          <p:cNvSpPr/>
          <p:nvPr/>
        </p:nvSpPr>
        <p:spPr>
          <a:xfrm>
            <a:off x="548640" y="3410712"/>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Cloud middleware abstracts infrastructure complexity and enables scalable application 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a:spAutoFit/>
          </a:bodyPr>
          <a:lstStyle/>
          <a:p>
            <a:pPr>
              <a:defRPr sz="3400" b="1" i="0">
                <a:solidFill>
                  <a:srgbClr val="2D3748"/>
                </a:solidFill>
                <a:latin typeface="Inter"/>
              </a:defRPr>
            </a:pPr>
            <a:r>
              <a:t>Cloud Computing Needs &amp; Enablers</a:t>
            </a:r>
          </a:p>
        </p:txBody>
      </p:sp>
      <p:sp>
        <p:nvSpPr>
          <p:cNvPr id="3" name="Rectangle 2"/>
          <p:cNvSpPr/>
          <p:nvPr/>
        </p:nvSpPr>
        <p:spPr>
          <a:xfrm>
            <a:off x="548640" y="1143000"/>
            <a:ext cx="11094415" cy="36576"/>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25880"/>
            <a:ext cx="10984687" cy="1463040"/>
          </a:xfrm>
          <a:prstGeom prst="rect">
            <a:avLst/>
          </a:prstGeom>
          <a:noFill/>
        </p:spPr>
        <p:txBody>
          <a:bodyPr wrap="square">
            <a:spAutoFit/>
          </a:bodyPr>
          <a:lstStyle/>
          <a:p>
            <a:pPr>
              <a:spcAft>
                <a:spcPts val="600"/>
              </a:spcAft>
              <a:defRPr sz="1800" b="0" i="0">
                <a:solidFill>
                  <a:srgbClr val="2D3748"/>
                </a:solidFill>
                <a:latin typeface="Open Sans"/>
              </a:defRPr>
            </a:pPr>
            <a:r>
              <a:t>• Virtualization: Enables resource abstraction and pooling</a:t>
            </a:r>
          </a:p>
          <a:p>
            <a:pPr>
              <a:spcAft>
                <a:spcPts val="600"/>
              </a:spcAft>
              <a:defRPr sz="1800" b="0" i="0">
                <a:solidFill>
                  <a:srgbClr val="2D3748"/>
                </a:solidFill>
                <a:latin typeface="Open Sans"/>
              </a:defRPr>
            </a:pPr>
            <a:r>
              <a:t>• Cloud Architecture: Supports elasticity and multi-tenancy</a:t>
            </a:r>
          </a:p>
          <a:p>
            <a:pPr>
              <a:spcAft>
                <a:spcPts val="600"/>
              </a:spcAft>
              <a:defRPr sz="1800" b="0" i="0">
                <a:solidFill>
                  <a:srgbClr val="2D3748"/>
                </a:solidFill>
                <a:latin typeface="Open Sans"/>
              </a:defRPr>
            </a:pPr>
            <a:r>
              <a:t>• Service Models: IaaS, PaaS, SaaS define delivery boundaries</a:t>
            </a:r>
          </a:p>
          <a:p>
            <a:pPr>
              <a:spcAft>
                <a:spcPts val="600"/>
              </a:spcAft>
              <a:defRPr sz="1800" b="0" i="0">
                <a:solidFill>
                  <a:srgbClr val="2D3748"/>
                </a:solidFill>
                <a:latin typeface="Open Sans"/>
              </a:defRPr>
            </a:pPr>
            <a:r>
              <a:t>• Management &amp; Monitoring: Ensures SLA compliance and performance</a:t>
            </a:r>
          </a:p>
          <a:p>
            <a:pPr>
              <a:spcAft>
                <a:spcPts val="600"/>
              </a:spcAft>
              <a:defRPr sz="1800" b="0" i="0">
                <a:solidFill>
                  <a:srgbClr val="2D3748"/>
                </a:solidFill>
                <a:latin typeface="Open Sans"/>
              </a:defRPr>
            </a:pPr>
            <a:r>
              <a:t>• Security: Addresses data privacy, access control, compliance</a:t>
            </a:r>
          </a:p>
        </p:txBody>
      </p:sp>
      <p:sp>
        <p:nvSpPr>
          <p:cNvPr id="5" name="Rounded Rectangle 4"/>
          <p:cNvSpPr/>
          <p:nvPr/>
        </p:nvSpPr>
        <p:spPr>
          <a:xfrm>
            <a:off x="548640" y="2916936"/>
            <a:ext cx="11094415" cy="530352"/>
          </a:xfrm>
          <a:prstGeom prst="roundRect">
            <a:avLst/>
          </a:prstGeom>
          <a:solidFill>
            <a:srgbClr val="F5F7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0" i="0">
                <a:solidFill>
                  <a:srgbClr val="2D3748"/>
                </a:solidFill>
                <a:latin typeface="Open Sans"/>
              </a:defRPr>
            </a:pPr>
            <a:r>
              <a:t>Virtualization is the foundational technology enabling cloud computing scalability and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