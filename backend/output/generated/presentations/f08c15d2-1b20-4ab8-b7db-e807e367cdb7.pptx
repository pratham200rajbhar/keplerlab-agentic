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Web Services and Cloud Computing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XML, Web Services, and Distributed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4241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XML for data transport and storage</a:t>
            </a:r>
          </a:p>
          <a:p>
            <a:pPr>
              <a:defRPr sz="2000"/>
            </a:pPr>
            <a:r>
              <a:t>Web Services using SOAP</a:t>
            </a:r>
          </a:p>
          <a:p>
            <a:pPr>
              <a:defRPr sz="2000"/>
            </a:pPr>
            <a:r>
              <a:t>Distributed system interoperability across heterogeneous environments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11880"/>
            <a:ext cx="104241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This presentation explores foundational concepts in web services and cloud computing, focusing on XML as a data transport mechanism, SOAP-based web services, and the principles enabling interoperability across diverse computing environments.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XML vs HTML: Purpose and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424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XML: Content-oriented, extensible tags, designed to transport/store data</a:t>
            </a:r>
          </a:p>
          <a:p>
            <a:pPr>
              <a:defRPr sz="2000"/>
            </a:pPr>
            <a:r>
              <a:t>HTML: Presentation-oriented, fixed tags, designed to display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4241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XML allows users to define custom tags and attributes to describe data semantics, while HTML uses a rigid set of predefined tags to control visual presentation. XML is not intended for direct human consumption but for machine processing and data exchange.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XML Document Structure and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4241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An XML instance document includes an XML declaration, optional namespace declarations, and a hierarchical structure of elements. Unlike HTML, XML supports schema-based validation (e.g., via XSD), enabling strict data integrity checks.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3017520"/>
          <a:ext cx="104241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3474720"/>
                <a:gridCol w="3474720"/>
              </a:tblGrid>
              <a:tr h="457200">
                <a:tc>
                  <a:txBody>
                    <a:bodyPr/>
                    <a:lstStyle/>
                    <a:p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HTML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Tag Flexibility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Extensible, user-defined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Fixed, pre-defined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Supported via schemas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 native validation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Orientation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Content-oriented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Presentation-oriented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Example XML Document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4241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The following XML snippet defines a books catalog with nested elements, attributes, and namespace declarations. It demonstrates XML’s ability to encode structured data with metadata (e.g., book year, author title).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4241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Image placeholder: Visual representation of an XML document tree showing root &lt;books&gt;, child &lt;book&gt; with attributes (year, book-title), and nested elements like &lt;author&gt;, &lt;title&gt;, &lt;publisher&gt;.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SOAP Message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4241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SOAP (Simple Object Access Protocol) messages use XML syntax to encode remote procedure calls and responses. A SOAP message consists of an Envelope, Header (optional), Body (required), and Fault (for errors).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4241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Image placeholder: Diagram of a SOAP envelope with labeled sections: Envelope, Header, Body containing a method call (e.g., calculateCarPayment) and parameters (loanAmount, loanTerm, loanRate).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SOAP Example: Car Payment Calculation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4241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The example SOAP request invokes a remote service to calculate car loan payments. It includes parameters typed as xsd:string: loanAmount=5000, loanTerm=12, loanRate=8. The namespace identifies the service endpoint.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Interoperability Across Heterogeneous Environments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42416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Operating systems</a:t>
            </a:r>
          </a:p>
          <a:p>
            <a:pPr>
              <a:defRPr sz="2000"/>
            </a:pPr>
            <a:r>
              <a:t>Hardware architectures</a:t>
            </a:r>
          </a:p>
          <a:p>
            <a:pPr>
              <a:defRPr sz="2000"/>
            </a:pPr>
            <a:r>
              <a:t>Programming languages</a:t>
            </a:r>
          </a:p>
          <a:p>
            <a:pPr>
              <a:defRPr sz="2000"/>
            </a:pPr>
            <a:r>
              <a:t>Communication protocols</a:t>
            </a:r>
          </a:p>
          <a:p>
            <a:pPr>
              <a:defRPr sz="2000"/>
            </a:pPr>
            <a:r>
              <a:t>Security measures</a:t>
            </a:r>
          </a:p>
          <a:p>
            <a:pPr>
              <a:defRPr sz="2000"/>
            </a:pPr>
            <a:r>
              <a:t>Information representation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4241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Distributed systems must achieve openness by abstracting away differences in underlying hardware, platforms, and languages. Standards like XML, SOAP, CORBA, and DCOM enable this interoperability.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Full Virtualization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4241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Uses binary translation for privileged/sensitive instructions</a:t>
            </a:r>
          </a:p>
          <a:p>
            <a:pPr>
              <a:defRPr sz="2000"/>
            </a:pPr>
            <a:r>
              <a:t>Direct execution for user-level instructions</a:t>
            </a:r>
          </a:p>
          <a:p>
            <a:pPr>
              <a:defRPr sz="2000"/>
            </a:pPr>
            <a:r>
              <a:t>No guest OS modification required</a:t>
            </a:r>
          </a:p>
          <a:p>
            <a:pPr>
              <a:defRPr sz="2000"/>
            </a:pPr>
            <a:r>
              <a:t>Complete hardware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4241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Full virtualization provides a total abstraction of the physical system, allowing unmodified guest operating systems to run unaware of the virtual environment. This approach incurs overhead due to instruction translation but ensures compatibility.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Virtualization Implementations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554480"/>
          <a:ext cx="104241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080"/>
                <a:gridCol w="5212080"/>
              </a:tblGrid>
              <a:tr h="457200">
                <a:tc>
                  <a:txBody>
                    <a:bodyPr/>
                    <a:lstStyle/>
                    <a:p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Examples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Commercial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VMware ESX, Microsoft Virtual Server, Citrix XenServer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Open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Linux Xen (HVM), KVM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3108960"/>
            <a:ext cx="104241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Full virtualization solutions include both commercial and open-source hypervisors. These systems enable multiple operating systems to run concurrently on a single physical machine without requiring changes to guest software.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Foundational Enablers of Modern Computing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42416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Virtualization</a:t>
            </a:r>
          </a:p>
          <a:p>
            <a:pPr>
              <a:defRPr sz="2000"/>
            </a:pPr>
            <a:r>
              <a:t>Distributed Computing</a:t>
            </a:r>
          </a:p>
          <a:p>
            <a:pPr>
              <a:defRPr sz="2000"/>
            </a:pPr>
            <a:r>
              <a:t>Autonomic Systems</a:t>
            </a:r>
          </a:p>
          <a:p>
            <a:pPr>
              <a:defRPr sz="2000"/>
            </a:pPr>
            <a:r>
              <a:t>Grid Technology</a:t>
            </a:r>
          </a:p>
          <a:p>
            <a:pPr>
              <a:defRPr sz="2000"/>
            </a:pPr>
            <a:r>
              <a:t>Broadband Networks</a:t>
            </a:r>
          </a:p>
          <a:p>
            <a:pPr>
              <a:defRPr sz="2000"/>
            </a:pPr>
            <a:r>
              <a:t>Web 2.0</a:t>
            </a:r>
          </a:p>
          <a:p>
            <a:pPr>
              <a:defRPr sz="2000"/>
            </a:pPr>
            <a:r>
              <a:t>Free and Open Source Software</a:t>
            </a:r>
          </a:p>
          <a:p>
            <a:pPr>
              <a:defRPr sz="2000"/>
            </a:pPr>
            <a:r>
              <a:t>Web Application Frameworks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0"/>
            <a:ext cx="104241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Modern cloud and web computing rests on foundational technologies including virtualization, distributed systems, and open-source software. These elements collectively enable scalable, resilient, and interoperable services.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