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 &amp; Cloud Computing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0FF"/>
                </a:solidFill>
              </a:defRPr>
            </a:pPr>
            <a:r>
              <a:t>Interoperability, RPC, and Distributed Systems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Web Services enable platform-independent, loosely coupled communication over the Internet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SOA and Cloud Computing are independent approaches—Web Services provide the communication layer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Cloud Computing abstracts infrastructure complexity via virtualization and service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Cyberpunk-style Venn diagram with neon pink (Web Services), bright cyan (SOA), and deep purple (Cloud Computing) overlapping circles. Center label: 'HTTP/XML Protocol Layer'. Background: dark circuit board with glowing traces.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Remote Procedure Call (RPC)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A7A8F"/>
                </a:solidFill>
              </a:defRPr>
            </a:pPr>
            <a:r>
              <a:t>RPC enables distributed computation by abstracting network communication through stubs—client-side stub marshals parameters, server-side stub unmarshals and invokes the remote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Client stub marshals parameters and sends message over network to server stub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Server stub unmarshals parameters and invokes actual server function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Return value is marshaled by server stub, transmitted back, and unmarshaled by client stub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Split-screen cyberpunk illustration: left side shows client process with glowing stub functions, right side shows server process. A neon cyan data packet labeled 'RPC Message' traverses a glowing fiber-optic cable between them. Stubs depicted as translucent holographic interfaces with binary streams.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Distributed Object Mechanisms: CORBA vs RMI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CORBA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RMI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Language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Multi-language (C++, Java,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Java-only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Interface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IDL (similar to C++)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 interfaces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High—complex configuration and learning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Low—simpler Java-to-Java communication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Microsoft shifted from CORBA → COM → 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Pure Java runtime integration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CORBA supports heterogeneous language environments via IDL but is complex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RMI is simpler and Java-specific, enabling seamless Java object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Dual-panel cyberpunk graphic: left panel shows CORBA with glowing IDL interface definitions, multi-colored language icons (C++, Java, etc.) connected via neon-orange data streams. Right panel shows RMI with clean Java code snippets and blue JVM icons. Background: dark grid with circuitry.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RMI Architecture &amp;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A7A8F"/>
                </a:solidFill>
              </a:defRPr>
            </a:pPr>
            <a:r>
              <a:t>RMI enables Java objects to invoke remote methods transparently. The registry binds server names, clients lookup references, and stubs/skeletons handle marshaling/unmarshaling.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Server binds remote object to registry name; client looks up and obtains stub reference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Stub serializes parameters and sends to skeleton; skeleton unmarshals and invokes remote method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Return value is serialized back through stub to client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6634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Define remote interface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Implement remote object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Develop client program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Compile Java source files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Generate stubs and skeletons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Start RMI registry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Start remote server objects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Run client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8229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Cyberpunk RMI flow diagram: three vertical zones—'RMI Server', 'RMI Registry', 'RMI Client'—connected by glowing neon-blue data streams. Show stub and skeleton as translucent interfaces with XML-like serialization streams. Background: dark server rack with blinking neon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Services: SOAP vs REST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Architectural style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XML, JSON, HTML, plain 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Higher (XML overhead)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Lower (lightweight)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Built-in WS-Security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Inherited from transport (e.g., HTTPS)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Strict standards (JAX-WS)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Flexible, minimal constraints (JAX-RS)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Less preferred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More preferred for web APIs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SOAP is protocol-based, XML-only, and more rigid; REST is style-based and format-flexible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REST uses URIs to expose business logic; SOAP uses service interfaces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REST inherits security from underlying transport; SOAP defines its own security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Split cyberpunk interface: left side shows SOAP envelope with glowing XML tags, heavy headers, and neon-red security icons. Right side shows RESTful URIs (e.g., /users/123) with JSON payloads in neon-green. Background: dark server room with flickering neon signs.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Web Services Architecture &amp; XML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A7A8F"/>
                </a:solidFill>
              </a:defRPr>
            </a:pPr>
            <a:r>
              <a:t>Web Services rely on XML for messaging, description (WSDL), and discovery (UDDI). XML enables platform-neutral data exchange and structured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XML is pure text—no binary data—allowing any application to parse and share data regardless of platform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WSDL defines service interface, operations, bindings, and endpoint address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UDDI serves as a business/service registry for publishing and discovering Web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Cyberpunk data flow: XML document (neon-green text) flows from client through WSDL parser (glowing blue interface) to UDDI registry (neon-pink database node), then to SOAP service endpoint. Background: dark network with glowing nodes and data packets.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IaaS: Infrastructure as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A7A8F"/>
                </a:solidFill>
              </a:defRPr>
            </a:pPr>
            <a:r>
              <a:t>IaaS provides virtualized computing resources over the internet—virtual machines, storage, networks—enabling scalable infrastructure without hardware procurement.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Resources are dynamically scaled, metered, and billed on utility pricing (e.g., $0.02–$2.60/hour per instance)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Self-service provisioning allows users to deploy VMs without IT intervention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Supports enterprise infrastructure, cloud hosting, and virtual data centers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6634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Key Offerings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Amazon 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Scalable VM instances (small to quadruple extra large)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Microsoft 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Integrated cloud platform with Windows Server support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Google Compute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High-performance VMs with global networking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DigitalOcean / Linode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Developer-friendly VM provisioning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766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Futuristic data center interior: rows of server racks with glowing neon-blue indicators, overlaid with floating holographic VM icons (neon-pink), storage arrays (cyan), and network links (bright cyan). Background: dark industrial floor with reflective surfaces.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Virtualization: Hypervisors &amp; VM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A7A8F"/>
                </a:solidFill>
              </a:defRPr>
            </a:pPr>
            <a:r>
              <a:t>Virtualization decouples OS from hardware via hypervisors. Type 1 (bare-metal) offers better performance; Type 2 (hosted) prioritizes ease of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Full Virtualization: unmodified guest OS (e.g., VMware ESXi, KVM); uses binary translation or direct execution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Para-Virtualization: modified guest OS (e.g., Xen); better performance but requires kernel changes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Live Migration: moves VMs between hosts with minimal downtime (e.g., VMware VMotion, XenMotion)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6634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Migration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Storage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 Case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Live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Powered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Shared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Load balancing, proactive maintenance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Cold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Powered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shared storage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Simple VM relocation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Live Storage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Powered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Moves disks without 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Storage tiering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00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Cyberpunk hypervisor architecture diagram: three layers—Hardware (dark gray), Hypervisor (neon-cyan layer with glowing VMM icon), VMs (neon-pink icons). Arrows show live migration path between two VMs with glowing data streams. Background: dark server room with circuitry.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0E0E0"/>
                </a:solidFill>
              </a:defRPr>
            </a:pPr>
            <a:r>
              <a:t>Cloud Deployment Models &amp; Service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7A7A8F"/>
                </a:solidFill>
              </a:defRPr>
            </a:pPr>
            <a:r>
              <a:t>Cloud deployment models (public, private, hybrid, community) and service models (IaaS, PaaS, SaaS) define how resources are provisioned and consumed.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1089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 Case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Public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Shared infrastructure, third-party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Cost-effective scaling, web apps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Private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Dedicated infrastructure, internal or hosted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Regulated industries, security-critical workloads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Hybrid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Mix of public + private; cloud bursting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Elastic workloads, seasonal demand spikes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Community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Shared by organizations with common 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Research consortia, government agencies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IaaS: Infrastructure (VMs, storage, networking); user manages OS, middleware, apps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PaaS: Platform (runtime, middleware, OS); user focuses on apps</a:t>
            </a:r>
          </a:p>
          <a:p>
            <a:pPr>
              <a:spcAft>
                <a:spcPts val="1000"/>
              </a:spcAft>
              <a:defRPr sz="2200">
                <a:solidFill>
                  <a:srgbClr val="7A7A8F"/>
                </a:solidFill>
              </a:defRPr>
            </a:pPr>
            <a:r>
              <a:t>  •  SaaS: Fully managed applications (e.g., Gmail, Salesforce)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A7A8F"/>
                </a:solidFill>
              </a:defRPr>
            </a:pPr>
            <a:r>
              <a:t>Visual suggested: Cyberpunk cloud taxonomy: central glowing sphere labeled 'Cloud Computing' with four branches—Public (neon-pink), Private (neon-cyan), Hybrid (neon-yellow), Community (neon-green). Below, three stacked layers: IaaS (dark gray), PaaS (cyan), SaaS (pink). Background: dark grid with floating data nodes.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