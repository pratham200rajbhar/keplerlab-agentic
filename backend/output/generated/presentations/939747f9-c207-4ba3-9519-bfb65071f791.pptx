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88720"/>
            <a:ext cx="2743200" cy="4572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212529"/>
                </a:solidFill>
              </a:defRPr>
            </a:pPr>
            <a:r>
              <a:t>Distributed Systems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007BFF"/>
                </a:solidFill>
              </a:defRPr>
            </a:pPr>
            <a:r>
              <a:t>Core Concepts and Architectural Layers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6C757D"/>
                </a:solidFill>
              </a:defRPr>
            </a:pPr>
            <a:r>
              <a:t>  •  A collection of interconnected, stand-alone computers working cooperatively as a single integrated computing resource</a:t>
            </a:r>
          </a:p>
          <a:p>
            <a:pPr>
              <a:spcAft>
                <a:spcPts val="1000"/>
              </a:spcAft>
              <a:defRPr sz="2200">
                <a:solidFill>
                  <a:srgbClr val="6C757D"/>
                </a:solidFill>
              </a:defRPr>
            </a:pPr>
            <a:r>
              <a:t>  •  Distributed systems mask heterogeneity via middleware</a:t>
            </a:r>
          </a:p>
          <a:p>
            <a:pPr>
              <a:spcAft>
                <a:spcPts val="1000"/>
              </a:spcAft>
              <a:defRPr sz="2200">
                <a:solidFill>
                  <a:srgbClr val="6C757D"/>
                </a:solidFill>
              </a:defRPr>
            </a:pPr>
            <a:r>
              <a:t>  •  Services are specified through well-defined interfaces, often in Interface Definition Languages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4904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6C757D"/>
                </a:solidFill>
              </a:defRPr>
            </a:pPr>
            <a:r>
              <a:t>Visual suggested: A diagram showing multiple interconnected computers (nodes) with arrows indicating communication paths, overlaid with a translucent software layer labeled 'Middleware' that abstracts OS and hardware differences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88720"/>
            <a:ext cx="2743200" cy="4572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212529"/>
                </a:solidFill>
              </a:defRPr>
            </a:pPr>
            <a:r>
              <a:t>Transparency in Distributed Systems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515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Transparency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Description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Hide differences in data representation and how a resource is accessed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Hide where a resource is located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Migration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Hide that a resource may move to another location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Hide that a resource is replicated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Failure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Hide the failure and recovery of a resource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39319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6C757D"/>
                </a:solidFill>
              </a:defRPr>
            </a:pPr>
            <a:r>
              <a:t>Transparencies collectively enable users and applications to interact with distributed resources without needing to understand underlying complexity.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88720"/>
            <a:ext cx="2743200" cy="4572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212529"/>
                </a:solidFill>
              </a:defRPr>
            </a:pPr>
            <a:r>
              <a:t>Middleware: The Distributed Systems Glue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6C757D"/>
                </a:solidFill>
              </a:defRPr>
            </a:pPr>
            <a:r>
              <a:t>  •  A software layer between applications and the OS, masking heterogeneity of underlying components</a:t>
            </a:r>
          </a:p>
          <a:p>
            <a:pPr>
              <a:spcAft>
                <a:spcPts val="1000"/>
              </a:spcAft>
              <a:defRPr sz="2200">
                <a:solidFill>
                  <a:srgbClr val="6C757D"/>
                </a:solidFill>
              </a:defRPr>
            </a:pPr>
            <a:r>
              <a:t>  •  Provides a common programming abstraction across a distributed system</a:t>
            </a:r>
          </a:p>
          <a:p>
            <a:pPr>
              <a:spcAft>
                <a:spcPts val="1000"/>
              </a:spcAft>
              <a:defRPr sz="2200">
                <a:solidFill>
                  <a:srgbClr val="6C757D"/>
                </a:solidFill>
              </a:defRPr>
            </a:pPr>
            <a:r>
              <a:t>  •  Manages complexity and heterogeneity inherent in distributed systems</a:t>
            </a:r>
          </a:p>
          <a:p>
            <a:pPr>
              <a:spcAft>
                <a:spcPts val="1000"/>
              </a:spcAft>
              <a:defRPr sz="2200">
                <a:solidFill>
                  <a:srgbClr val="6C757D"/>
                </a:solidFill>
              </a:defRPr>
            </a:pPr>
            <a:r>
              <a:t>  •  Enables application portability and interoperability across heterogeneous environments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6C757D"/>
                </a:solidFill>
              </a:defRPr>
            </a:pPr>
            <a:r>
              <a:t>Visual suggested: A layered architecture diagram: top layer labeled 'Application', middle layer labeled 'Middleware' with a gear icon, bottom layer labeled 'OS &amp; Hardware'. Arrows show bidirectional communication between layers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88720"/>
            <a:ext cx="2743200" cy="4572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212529"/>
                </a:solidFill>
              </a:defRPr>
            </a:pPr>
            <a:r>
              <a:t>Web Services Architecture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515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Element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Purpose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&lt;types&gt;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Provides data type definitions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&lt;message&gt;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Abstract definition of data being transmitted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&lt;portType&gt;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Set of abstract operations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&lt;binding&gt;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Concrete protocol and data format specifications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&lt;service&gt;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Aggregates related ports with addresses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39319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6C757D"/>
                </a:solidFill>
              </a:defRPr>
            </a:pPr>
            <a:r>
              <a:t>WSDL defines the interface of a Web service for interaction between requester and provider.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88720"/>
            <a:ext cx="2743200" cy="4572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212529"/>
                </a:solidFill>
              </a:defRPr>
            </a:pPr>
            <a:r>
              <a:t>XML vs HTML: Purpose and Structure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515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XML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HTML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Tag Extensibility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User-defined, extensible tags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Fixed, pre-determined tags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Orientation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Content-oriented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Presentation-oriented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Primary 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Transport and store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Display data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Supports schema validation (XSD)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No built-in validation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356616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6C757D"/>
                </a:solidFill>
              </a:defRPr>
            </a:pPr>
            <a:r>
              <a:t>XML is designed for data transport and storage with strict syntax and validation; HTML is designed for human-readable presentation.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88720"/>
            <a:ext cx="2743200" cy="4572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212529"/>
                </a:solidFill>
              </a:defRPr>
            </a:pPr>
            <a:r>
              <a:t>XML Document Validity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6C757D"/>
                </a:solidFill>
              </a:defRPr>
            </a:pPr>
            <a:r>
              <a:t>  •  Well-formed: Syntax is correct — all tags opened and closed properly</a:t>
            </a:r>
          </a:p>
          <a:p>
            <a:pPr>
              <a:spcAft>
                <a:spcPts val="1000"/>
              </a:spcAft>
              <a:defRPr sz="2200">
                <a:solidFill>
                  <a:srgbClr val="6C757D"/>
                </a:solidFill>
              </a:defRPr>
            </a:pPr>
            <a:r>
              <a:t>  •  Valid: All elements conform to definitions in the schema (XSD)</a:t>
            </a:r>
          </a:p>
          <a:p>
            <a:pPr>
              <a:spcAft>
                <a:spcPts val="1000"/>
              </a:spcAft>
              <a:defRPr sz="2200">
                <a:solidFill>
                  <a:srgbClr val="6C757D"/>
                </a:solidFill>
              </a:defRPr>
            </a:pPr>
            <a:r>
              <a:t>  •  An XML instance document must satisfy both well-formedness and validity constraints to be accepted by compliant parsers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6C757D"/>
                </a:solidFill>
              </a:defRPr>
            </a:pPr>
            <a:r>
              <a:t>Visual suggested: Side-by-side comparison: left side shows a malformed XML snippet with unclosed tags, right side shows a valid XML instance matching its schema definition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88720"/>
            <a:ext cx="2743200" cy="4572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212529"/>
                </a:solidFill>
              </a:defRPr>
            </a:pPr>
            <a:r>
              <a:t>Cloud Computing Service Models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515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What You 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Technical Effort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Examples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IaaS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Infrastructure (VMs, storage, servers)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High — full control, requires expertise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AWS EC2, Google Compute Engine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PaaS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Platform (runtimes, databases, web servers)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Medium — focus on development, not infrastructure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Heroku, Google App Engine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SaaS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Pre-configured applications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Low — no technical management needed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Gmail, Facebook, Salesforce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32004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6C757D"/>
                </a:solidFill>
              </a:defRPr>
            </a:pPr>
            <a:r>
              <a:t>Cloud computing delivers computing, storage, and software as utilities accessible via the internet.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88720"/>
            <a:ext cx="2743200" cy="4572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212529"/>
                </a:solidFill>
              </a:defRPr>
            </a:pPr>
            <a:r>
              <a:t>Cloud Computing 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6C757D"/>
                </a:solidFill>
              </a:defRPr>
            </a:pPr>
            <a:r>
              <a:t>  •  Virtualized, dynamically provisioned computers presented as unified computing resources</a:t>
            </a:r>
          </a:p>
          <a:p>
            <a:pPr>
              <a:spcAft>
                <a:spcPts val="1000"/>
              </a:spcAft>
              <a:defRPr sz="2200">
                <a:solidFill>
                  <a:srgbClr val="6C757D"/>
                </a:solidFill>
              </a:defRPr>
            </a:pPr>
            <a:r>
              <a:t>  •  Based on service-level agreements (SLAs)</a:t>
            </a:r>
          </a:p>
          <a:p>
            <a:pPr>
              <a:spcAft>
                <a:spcPts val="1000"/>
              </a:spcAft>
              <a:defRPr sz="2200">
                <a:solidFill>
                  <a:srgbClr val="6C757D"/>
                </a:solidFill>
              </a:defRPr>
            </a:pPr>
            <a:r>
              <a:t>  •  Services are specified through interfaces (e.g., IDLs)</a:t>
            </a:r>
          </a:p>
          <a:p>
            <a:pPr>
              <a:spcAft>
                <a:spcPts val="1000"/>
              </a:spcAft>
              <a:defRPr sz="2200">
                <a:solidFill>
                  <a:srgbClr val="6C757D"/>
                </a:solidFill>
              </a:defRPr>
            </a:pPr>
            <a:r>
              <a:t>  •  Emphasizes loose coupling, standard-based interoperability, scalability, and reusability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6C757D"/>
                </a:solidFill>
              </a:defRPr>
            </a:pPr>
            <a:r>
              <a:t>Visual suggested: A cloud icon with internal virtual machines, containers, and network components, connected to users via internet, with SLA document and interface icons floating nearby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88720"/>
            <a:ext cx="2743200" cy="4572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212529"/>
                </a:solidFill>
              </a:defRPr>
            </a:pPr>
            <a:r>
              <a:t>Service-Oriented Computing (SOC)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6C757D"/>
                </a:solidFill>
              </a:defRPr>
            </a:pPr>
            <a:r>
              <a:t>  •  Core reference model for cloud computing systems</a:t>
            </a:r>
          </a:p>
          <a:p>
            <a:pPr>
              <a:spcAft>
                <a:spcPts val="1000"/>
              </a:spcAft>
              <a:defRPr sz="2200">
                <a:solidFill>
                  <a:srgbClr val="6C757D"/>
                </a:solidFill>
              </a:defRPr>
            </a:pPr>
            <a:r>
              <a:t>  •  Services are the fundamental building blocks of applications and systems</a:t>
            </a:r>
          </a:p>
          <a:p>
            <a:pPr>
              <a:spcAft>
                <a:spcPts val="1000"/>
              </a:spcAft>
              <a:defRPr sz="2200">
                <a:solidFill>
                  <a:srgbClr val="6C757D"/>
                </a:solidFill>
              </a:defRPr>
            </a:pPr>
            <a:r>
              <a:t>  •  Supports rapid, low-cost, flexible, interoperable, and evolvable development</a:t>
            </a:r>
          </a:p>
          <a:p>
            <a:pPr>
              <a:spcAft>
                <a:spcPts val="1000"/>
              </a:spcAft>
              <a:defRPr sz="2200">
                <a:solidFill>
                  <a:srgbClr val="6C757D"/>
                </a:solidFill>
              </a:defRPr>
            </a:pPr>
            <a:r>
              <a:t>  •  Enables application-to-application communication and programmatically accessible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6C757D"/>
                </a:solidFill>
              </a:defRPr>
            </a:pPr>
            <a:r>
              <a:t>SOC underpins modern distributed and cloud architectures by promoting modularity and reuse.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88720"/>
            <a:ext cx="2743200" cy="4572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212529"/>
                </a:solidFill>
              </a:defRPr>
            </a:pPr>
            <a:r>
              <a:t>UDDI: Web Services Registry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6C757D"/>
                </a:solidFill>
              </a:defRPr>
            </a:pPr>
            <a:r>
              <a:t>  •  Universal Description, Discovery, and Integration (UDDI) serves as a business and service registry</a:t>
            </a:r>
          </a:p>
          <a:p>
            <a:pPr>
              <a:spcAft>
                <a:spcPts val="1000"/>
              </a:spcAft>
              <a:defRPr sz="2200">
                <a:solidFill>
                  <a:srgbClr val="6C757D"/>
                </a:solidFill>
              </a:defRPr>
            </a:pPr>
            <a:r>
              <a:t>  •  Enables businesses to populate service descriptions for easier integration over the Web</a:t>
            </a:r>
          </a:p>
          <a:p>
            <a:pPr>
              <a:spcAft>
                <a:spcPts val="1000"/>
              </a:spcAft>
              <a:defRPr sz="2200">
                <a:solidFill>
                  <a:srgbClr val="6C757D"/>
                </a:solidFill>
              </a:defRPr>
            </a:pPr>
            <a:r>
              <a:t>  •  Facilitates discovery of services by consumers and partners</a:t>
            </a:r>
          </a:p>
          <a:p>
            <a:pPr>
              <a:spcAft>
                <a:spcPts val="1000"/>
              </a:spcAft>
              <a:defRPr sz="2200">
                <a:solidFill>
                  <a:srgbClr val="6C757D"/>
                </a:solidFill>
              </a:defRPr>
            </a:pPr>
            <a:r>
              <a:t>  •  Essential for widespread adoption and interoperability of Web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6C757D"/>
                </a:solidFill>
              </a:defRPr>
            </a:pPr>
            <a:r>
              <a:t>Visual suggested: A registry UI mockup with search bar and categorized service listings (e.g., 'Payment', 'Auth', 'Analytics'), with icons for 'Business A', 'Business B', and 'Community C'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88720"/>
            <a:ext cx="2743200" cy="4572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212529"/>
                </a:solidFill>
              </a:defRPr>
            </a:pPr>
            <a:r>
              <a:t>Cloud Deployment Models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515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Ownership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Users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Complexity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Use Case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Private Cloud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Single organization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Internal users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Moderate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Control, security, compliance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Community Cloud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Shared by specific community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Organizations with common concerns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Healthcare, defense, research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Hybrid Cloud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Combination of two or more infrastructures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Mixed internal/external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Highest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Flexibility, burst capacity, migration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32004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6C757D"/>
                </a:solidFill>
              </a:defRPr>
            </a:pPr>
            <a:r>
              <a:t>Deployment models vary in governance, access, and infrastructure composition — each optimized for specific organizational needs.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88720"/>
            <a:ext cx="2743200" cy="4572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212529"/>
                </a:solidFill>
              </a:defRPr>
            </a:pPr>
            <a:r>
              <a:t>Key Distributed Systems Characteristics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6C757D"/>
                </a:solidFill>
              </a:defRPr>
            </a:pPr>
            <a:r>
              <a:t>  •  Loose Coupling: Components interact via well-defined interfaces</a:t>
            </a:r>
          </a:p>
          <a:p>
            <a:pPr>
              <a:spcAft>
                <a:spcPts val="1000"/>
              </a:spcAft>
              <a:defRPr sz="2200">
                <a:solidFill>
                  <a:srgbClr val="6C757D"/>
                </a:solidFill>
              </a:defRPr>
            </a:pPr>
            <a:r>
              <a:t>  •  Standard-Based: Ensures interoperability across platforms</a:t>
            </a:r>
          </a:p>
          <a:p>
            <a:pPr>
              <a:spcAft>
                <a:spcPts val="1000"/>
              </a:spcAft>
              <a:defRPr sz="2200">
                <a:solidFill>
                  <a:srgbClr val="6C757D"/>
                </a:solidFill>
              </a:defRPr>
            </a:pPr>
            <a:r>
              <a:t>  •  Flexibility &amp; Reusability: Services can be composed and reused</a:t>
            </a:r>
          </a:p>
          <a:p>
            <a:pPr>
              <a:spcAft>
                <a:spcPts val="1000"/>
              </a:spcAft>
              <a:defRPr sz="2200">
                <a:solidFill>
                  <a:srgbClr val="6C757D"/>
                </a:solidFill>
              </a:defRPr>
            </a:pPr>
            <a:r>
              <a:t>  •  Scalability: Systems can grow horizontally without redesign</a:t>
            </a:r>
          </a:p>
          <a:p>
            <a:pPr>
              <a:spcAft>
                <a:spcPts val="1000"/>
              </a:spcAft>
              <a:defRPr sz="2200">
                <a:solidFill>
                  <a:srgbClr val="6C757D"/>
                </a:solidFill>
              </a:defRPr>
            </a:pPr>
            <a:r>
              <a:t>  •  Reduced Complexity: Middleware abstracts heterogeneity</a:t>
            </a:r>
          </a:p>
          <a:p>
            <a:pPr>
              <a:spcAft>
                <a:spcPts val="1000"/>
              </a:spcAft>
              <a:defRPr sz="2200">
                <a:solidFill>
                  <a:srgbClr val="6C757D"/>
                </a:solidFill>
              </a:defRPr>
            </a:pPr>
            <a:r>
              <a:t>  •  Programmatically Accessible: Services expose APIs for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6C757D"/>
                </a:solidFill>
              </a:defRPr>
            </a:pPr>
            <a:r>
              <a:t>Visual suggested: A modular service architecture: boxes labeled 'Service A', 'Service B', 'Service C' connected via labeled API endpoints, with a central 'Middleware' hub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