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548640" y="1188720"/>
            <a:ext cx="2743200" cy="45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822960"/>
          </a:xfrm>
          <a:prstGeom prst="rect">
            <a:avLst/>
          </a:prstGeom>
          <a:noFill/>
        </p:spPr>
        <p:txBody>
          <a:bodyPr wrap="square">
            <a:spAutoFit/>
          </a:bodyPr>
          <a:lstStyle/>
          <a:p>
            <a:pPr>
              <a:defRPr sz="4400" b="1">
                <a:solidFill>
                  <a:srgbClr val="F1F5F9"/>
                </a:solidFill>
              </a:defRPr>
            </a:pPr>
            <a:r>
              <a:t>Web Services and Cloud Computing</a:t>
            </a:r>
          </a:p>
        </p:txBody>
      </p:sp>
      <p:sp>
        <p:nvSpPr>
          <p:cNvPr id="4" name="TextBox 3"/>
          <p:cNvSpPr txBox="1"/>
          <p:nvPr/>
        </p:nvSpPr>
        <p:spPr>
          <a:xfrm>
            <a:off x="548640" y="1463040"/>
            <a:ext cx="10972800" cy="548640"/>
          </a:xfrm>
          <a:prstGeom prst="rect">
            <a:avLst/>
          </a:prstGeom>
          <a:noFill/>
        </p:spPr>
        <p:txBody>
          <a:bodyPr wrap="none">
            <a:spAutoFit/>
          </a:bodyPr>
          <a:lstStyle/>
          <a:p>
            <a:pPr>
              <a:defRPr sz="2800">
                <a:solidFill>
                  <a:srgbClr val="38BDF8"/>
                </a:solidFill>
              </a:defRPr>
            </a:pPr>
            <a:r>
              <a:t>Foundations, Architectures, and Relationships</a:t>
            </a:r>
          </a:p>
        </p:txBody>
      </p:sp>
      <p:sp>
        <p:nvSpPr>
          <p:cNvPr id="5" name="TextBox 4"/>
          <p:cNvSpPr txBox="1"/>
          <p:nvPr/>
        </p:nvSpPr>
        <p:spPr>
          <a:xfrm>
            <a:off x="731520" y="2194560"/>
            <a:ext cx="10515600" cy="1371600"/>
          </a:xfrm>
          <a:prstGeom prst="rect">
            <a:avLst/>
          </a:prstGeom>
          <a:noFill/>
        </p:spPr>
        <p:txBody>
          <a:bodyPr wrap="square">
            <a:spAutoFit/>
          </a:bodyPr>
          <a:lstStyle/>
          <a:p>
            <a:pPr>
              <a:defRPr sz="2000">
                <a:solidFill>
                  <a:srgbClr val="94A3B8"/>
                </a:solidFill>
              </a:defRPr>
            </a:pPr>
            <a:r>
              <a:t>Web Services, SOA, and Cloud Computing form an interrelated ecosystem enabling distributed computing over the Internet. This presentation clarifies their definitions, distinctions, and technical foundations.</a:t>
            </a:r>
          </a:p>
        </p:txBody>
      </p:sp>
      <p:sp>
        <p:nvSpPr>
          <p:cNvPr id="6" name="TextBox 5"/>
          <p:cNvSpPr txBox="1"/>
          <p:nvPr/>
        </p:nvSpPr>
        <p:spPr>
          <a:xfrm>
            <a:off x="731520" y="3840480"/>
            <a:ext cx="10515600" cy="1097280"/>
          </a:xfrm>
          <a:prstGeom prst="rect">
            <a:avLst/>
          </a:prstGeom>
          <a:noFill/>
        </p:spPr>
        <p:txBody>
          <a:bodyPr wrap="none">
            <a:spAutoFit/>
          </a:bodyPr>
          <a:lstStyle/>
          <a:p>
            <a:pPr>
              <a:defRPr sz="1800" i="1">
                <a:solidFill>
                  <a:srgbClr val="94A3B8"/>
                </a:solidFill>
              </a:defRPr>
            </a:pPr>
            <a:r>
              <a:t>Visual suggested: A Venn diagram showing three overlapping circles labeled 'Web Services', 'SOA', and 'Cloud Computing'. The overlap between Web Services and SOA is labeled 'Software Services'. The overlap between Web Services and Cloud Computing is labeled 'Network Connections'. Cloud Computing and SOA have no direct overlap, indicating independence. Background: dark blue gradient. Text in white with subtle drop shadow.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548640" y="1188720"/>
            <a:ext cx="2743200" cy="45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822960"/>
          </a:xfrm>
          <a:prstGeom prst="rect">
            <a:avLst/>
          </a:prstGeom>
          <a:noFill/>
        </p:spPr>
        <p:txBody>
          <a:bodyPr wrap="square">
            <a:spAutoFit/>
          </a:bodyPr>
          <a:lstStyle/>
          <a:p>
            <a:pPr>
              <a:defRPr sz="4400" b="1">
                <a:solidFill>
                  <a:srgbClr val="F1F5F9"/>
                </a:solidFill>
              </a:defRPr>
            </a:pPr>
            <a:r>
              <a:t>Web Services, SOA, and Cloud Computing: Definitions and Relationships</a:t>
            </a:r>
          </a:p>
        </p:txBody>
      </p:sp>
      <p:sp>
        <p:nvSpPr>
          <p:cNvPr id="4" name="TextBox 3"/>
          <p:cNvSpPr txBox="1"/>
          <p:nvPr/>
        </p:nvSpPr>
        <p:spPr>
          <a:xfrm>
            <a:off x="731520" y="1463040"/>
            <a:ext cx="10515600" cy="1828800"/>
          </a:xfrm>
          <a:prstGeom prst="rect">
            <a:avLst/>
          </a:prstGeom>
          <a:noFill/>
        </p:spPr>
        <p:txBody>
          <a:bodyPr wrap="square">
            <a:spAutoFit/>
          </a:bodyPr>
          <a:lstStyle/>
          <a:p>
            <a:pPr>
              <a:spcAft>
                <a:spcPts val="1000"/>
              </a:spcAft>
              <a:defRPr sz="2200">
                <a:solidFill>
                  <a:srgbClr val="94A3B8"/>
                </a:solidFill>
              </a:defRPr>
            </a:pPr>
            <a:r>
              <a:t>  •  Cloud Computing is a broad term for any Web service software, hardware, and applications.</a:t>
            </a:r>
          </a:p>
          <a:p>
            <a:pPr>
              <a:spcAft>
                <a:spcPts val="1000"/>
              </a:spcAft>
              <a:defRPr sz="2200">
                <a:solidFill>
                  <a:srgbClr val="94A3B8"/>
                </a:solidFill>
              </a:defRPr>
            </a:pPr>
            <a:r>
              <a:t>  •  SOA (Service-Oriented Architecture) focuses mainly on software services and their interactions.</a:t>
            </a:r>
          </a:p>
          <a:p>
            <a:pPr>
              <a:spcAft>
                <a:spcPts val="1000"/>
              </a:spcAft>
              <a:defRPr sz="2200">
                <a:solidFill>
                  <a:srgbClr val="94A3B8"/>
                </a:solidFill>
              </a:defRPr>
            </a:pPr>
            <a:r>
              <a:t>  •  Web Services encapsulate Cloud Computing connections because Cloud Computing uses Web Services for communication.</a:t>
            </a:r>
          </a:p>
          <a:p>
            <a:pPr>
              <a:spcAft>
                <a:spcPts val="1000"/>
              </a:spcAft>
              <a:defRPr sz="2200">
                <a:solidFill>
                  <a:srgbClr val="94A3B8"/>
                </a:solidFill>
              </a:defRPr>
            </a:pPr>
            <a:r>
              <a:t>  •  Cloud Computing and SOA are independent approaches—neither requires the other to function.</a:t>
            </a:r>
          </a:p>
        </p:txBody>
      </p:sp>
      <p:sp>
        <p:nvSpPr>
          <p:cNvPr id="5" name="TextBox 4"/>
          <p:cNvSpPr txBox="1"/>
          <p:nvPr/>
        </p:nvSpPr>
        <p:spPr>
          <a:xfrm>
            <a:off x="731520" y="3474720"/>
            <a:ext cx="10515600" cy="1371600"/>
          </a:xfrm>
          <a:prstGeom prst="rect">
            <a:avLst/>
          </a:prstGeom>
          <a:noFill/>
        </p:spPr>
        <p:txBody>
          <a:bodyPr wrap="square">
            <a:spAutoFit/>
          </a:bodyPr>
          <a:lstStyle/>
          <a:p>
            <a:pPr>
              <a:defRPr sz="2000">
                <a:solidFill>
                  <a:srgbClr val="94A3B8"/>
                </a:solidFill>
              </a:defRPr>
            </a:pPr>
            <a:r>
              <a:t>Web Services can be used outside Cloud Computing, such as in on-premises SOA. Conversely, SOA can exist without Web Services, using other communication mechanisms.</a:t>
            </a:r>
          </a:p>
        </p:txBody>
      </p:sp>
      <p:sp>
        <p:nvSpPr>
          <p:cNvPr id="6" name="TextBox 5"/>
          <p:cNvSpPr txBox="1"/>
          <p:nvPr/>
        </p:nvSpPr>
        <p:spPr>
          <a:xfrm>
            <a:off x="731520" y="5120640"/>
            <a:ext cx="10515600" cy="1097280"/>
          </a:xfrm>
          <a:prstGeom prst="rect">
            <a:avLst/>
          </a:prstGeom>
          <a:noFill/>
        </p:spPr>
        <p:txBody>
          <a:bodyPr wrap="none">
            <a:spAutoFit/>
          </a:bodyPr>
          <a:lstStyle/>
          <a:p>
            <a:pPr>
              <a:defRPr sz="1800" i="1">
                <a:solidFill>
                  <a:srgbClr val="94A3B8"/>
                </a:solidFill>
              </a:defRPr>
            </a:pPr>
            <a:r>
              <a:t>Visual suggested: Three labeled boxes: 'Cloud Computing' (large, outer box), 'SOA' (inner box, no overlap with Cloud), and 'Web Services' (middle circle overlapping Cloud and SOA). Arrows show Web Services feeding into Cloud Computing for connections. Dark background, white text, minimalistic technical style.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548640" y="1188720"/>
            <a:ext cx="2743200" cy="45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822960"/>
          </a:xfrm>
          <a:prstGeom prst="rect">
            <a:avLst/>
          </a:prstGeom>
          <a:noFill/>
        </p:spPr>
        <p:txBody>
          <a:bodyPr wrap="square">
            <a:spAutoFit/>
          </a:bodyPr>
          <a:lstStyle/>
          <a:p>
            <a:pPr>
              <a:defRPr sz="4400" b="1">
                <a:solidFill>
                  <a:srgbClr val="F1F5F9"/>
                </a:solidFill>
              </a:defRPr>
            </a:pPr>
            <a:r>
              <a:t>Remote Procedure Call (RPC) Architecture</a:t>
            </a:r>
          </a:p>
        </p:txBody>
      </p:sp>
      <p:sp>
        <p:nvSpPr>
          <p:cNvPr id="4" name="TextBox 3"/>
          <p:cNvSpPr txBox="1"/>
          <p:nvPr/>
        </p:nvSpPr>
        <p:spPr>
          <a:xfrm>
            <a:off x="731520" y="1463040"/>
            <a:ext cx="10515600" cy="1828800"/>
          </a:xfrm>
          <a:prstGeom prst="rect">
            <a:avLst/>
          </a:prstGeom>
          <a:noFill/>
        </p:spPr>
        <p:txBody>
          <a:bodyPr wrap="square">
            <a:spAutoFit/>
          </a:bodyPr>
          <a:lstStyle/>
          <a:p>
            <a:pPr>
              <a:spcAft>
                <a:spcPts val="1000"/>
              </a:spcAft>
              <a:defRPr sz="2200">
                <a:solidFill>
                  <a:srgbClr val="94A3B8"/>
                </a:solidFill>
              </a:defRPr>
            </a:pPr>
            <a:r>
              <a:t>  •  In a local procedure call, the calling and called processes share the same address space.</a:t>
            </a:r>
          </a:p>
          <a:p>
            <a:pPr>
              <a:spcAft>
                <a:spcPts val="1000"/>
              </a:spcAft>
              <a:defRPr sz="2200">
                <a:solidFill>
                  <a:srgbClr val="94A3B8"/>
                </a:solidFill>
              </a:defRPr>
            </a:pPr>
            <a:r>
              <a:t>  •  In a remote procedure call, processes may run on different machines and communicate over a network.</a:t>
            </a:r>
          </a:p>
          <a:p>
            <a:pPr>
              <a:spcAft>
                <a:spcPts val="1000"/>
              </a:spcAft>
              <a:defRPr sz="2200">
                <a:solidFill>
                  <a:srgbClr val="94A3B8"/>
                </a:solidFill>
              </a:defRPr>
            </a:pPr>
            <a:r>
              <a:t>  •  Stubs (client and server) act as proxies: marshaling parameters and return values across the network.</a:t>
            </a:r>
          </a:p>
          <a:p>
            <a:pPr>
              <a:spcAft>
                <a:spcPts val="1000"/>
              </a:spcAft>
              <a:defRPr sz="2200">
                <a:solidFill>
                  <a:srgbClr val="94A3B8"/>
                </a:solidFill>
              </a:defRPr>
            </a:pPr>
            <a:r>
              <a:t>  •  RPC involves 10 steps: client call → stub call → message build → network send → message receive → stub unpack → server call → return → marshal result → client return.</a:t>
            </a:r>
          </a:p>
        </p:txBody>
      </p:sp>
      <p:graphicFrame>
        <p:nvGraphicFramePr>
          <p:cNvPr id="5" name="Table 4"/>
          <p:cNvGraphicFramePr>
            <a:graphicFrameLocks noGrp="1"/>
          </p:cNvGraphicFramePr>
          <p:nvPr/>
        </p:nvGraphicFramePr>
        <p:xfrm>
          <a:off x="731520" y="3474720"/>
          <a:ext cx="10515600" cy="2560320"/>
        </p:xfrm>
        <a:graphic>
          <a:graphicData uri="http://schemas.openxmlformats.org/drawingml/2006/table">
            <a:tbl>
              <a:tblPr firstRow="1" bandRow="1">
                <a:tableStyleId>{5C22544A-7EE6-4342-B048-85BDC9FD1C3A}</a:tableStyleId>
              </a:tblPr>
              <a:tblGrid>
                <a:gridCol w="5257800"/>
                <a:gridCol w="5257800"/>
              </a:tblGrid>
              <a:tr h="365760">
                <a:tc>
                  <a:txBody>
                    <a:bodyPr/>
                    <a:lstStyle/>
                    <a:p>
                      <a:pPr>
                        <a:defRPr sz="1400"/>
                      </a:pPr>
                      <a:r>
                        <a:t>Step</a:t>
                      </a:r>
                    </a:p>
                  </a:txBody>
                  <a:tcPr/>
                </a:tc>
                <a:tc>
                  <a:txBody>
                    <a:bodyPr/>
                    <a:lstStyle/>
                    <a:p>
                      <a:pPr>
                        <a:defRPr sz="1400"/>
                      </a:pPr>
                      <a:r>
                        <a:t>Action</a:t>
                      </a:r>
                    </a:p>
                  </a:txBody>
                  <a:tcPr/>
                </a:tc>
              </a:tr>
              <a:tr h="365760">
                <a:tc>
                  <a:txBody>
                    <a:bodyPr/>
                    <a:lstStyle/>
                    <a:p>
                      <a:pPr>
                        <a:defRPr sz="1400"/>
                      </a:pPr>
                      <a:r>
                        <a:t>1</a:t>
                      </a:r>
                    </a:p>
                  </a:txBody>
                  <a:tcPr/>
                </a:tc>
                <a:tc>
                  <a:txBody>
                    <a:bodyPr/>
                    <a:lstStyle/>
                    <a:p>
                      <a:pPr>
                        <a:defRPr sz="1400"/>
                      </a:pPr>
                      <a:r>
                        <a:t>Client calls stub</a:t>
                      </a:r>
                    </a:p>
                  </a:txBody>
                  <a:tcPr/>
                </a:tc>
              </a:tr>
              <a:tr h="365760">
                <a:tc>
                  <a:txBody>
                    <a:bodyPr/>
                    <a:lstStyle/>
                    <a:p>
                      <a:pPr>
                        <a:defRPr sz="1400"/>
                      </a:pPr>
                      <a:r>
                        <a:t>2</a:t>
                      </a:r>
                    </a:p>
                  </a:txBody>
                  <a:tcPr/>
                </a:tc>
                <a:tc>
                  <a:txBody>
                    <a:bodyPr/>
                    <a:lstStyle/>
                    <a:p>
                      <a:pPr>
                        <a:defRPr sz="1400"/>
                      </a:pPr>
                      <a:r>
                        <a:t>Stub builds message</a:t>
                      </a:r>
                    </a:p>
                  </a:txBody>
                  <a:tcPr/>
                </a:tc>
              </a:tr>
              <a:tr h="365760">
                <a:tc>
                  <a:txBody>
                    <a:bodyPr/>
                    <a:lstStyle/>
                    <a:p>
                      <a:pPr>
                        <a:defRPr sz="1400"/>
                      </a:pPr>
                      <a:r>
                        <a:t>3</a:t>
                      </a:r>
                    </a:p>
                  </a:txBody>
                  <a:tcPr/>
                </a:tc>
                <a:tc>
                  <a:txBody>
                    <a:bodyPr/>
                    <a:lstStyle/>
                    <a:p>
                      <a:pPr>
                        <a:defRPr sz="1400"/>
                      </a:pPr>
                      <a:r>
                        <a:t>Message sent over network</a:t>
                      </a:r>
                    </a:p>
                  </a:txBody>
                  <a:tcPr/>
                </a:tc>
              </a:tr>
              <a:tr h="365760">
                <a:tc>
                  <a:txBody>
                    <a:bodyPr/>
                    <a:lstStyle/>
                    <a:p>
                      <a:pPr>
                        <a:defRPr sz="1400"/>
                      </a:pPr>
                      <a:r>
                        <a:t>4</a:t>
                      </a:r>
                    </a:p>
                  </a:txBody>
                  <a:tcPr/>
                </a:tc>
                <a:tc>
                  <a:txBody>
                    <a:bodyPr/>
                    <a:lstStyle/>
                    <a:p>
                      <a:pPr>
                        <a:defRPr sz="1400"/>
                      </a:pPr>
                      <a:r>
                        <a:t>Server stub receives and unpacks</a:t>
                      </a:r>
                    </a:p>
                  </a:txBody>
                  <a:tcPr/>
                </a:tc>
              </a:tr>
              <a:tr h="365760">
                <a:tc>
                  <a:txBody>
                    <a:bodyPr/>
                    <a:lstStyle/>
                    <a:p>
                      <a:pPr>
                        <a:defRPr sz="1400"/>
                      </a:pPr>
                      <a:r>
                        <a:t>5</a:t>
                      </a:r>
                    </a:p>
                  </a:txBody>
                  <a:tcPr/>
                </a:tc>
                <a:tc>
                  <a:txBody>
                    <a:bodyPr/>
                    <a:lstStyle/>
                    <a:p>
                      <a:pPr>
                        <a:defRPr sz="1400"/>
                      </a:pPr>
                      <a:r>
                        <a:t>Server function invoked</a:t>
                      </a:r>
                    </a:p>
                  </a:txBody>
                  <a:tcPr/>
                </a:tc>
              </a:tr>
              <a:tr h="365760">
                <a:tc>
                  <a:txBody>
                    <a:bodyPr/>
                    <a:lstStyle/>
                    <a:p>
                      <a:pPr>
                        <a:defRPr sz="1400"/>
                      </a:pPr>
                      <a:r>
                        <a:t>6</a:t>
                      </a:r>
                    </a:p>
                  </a:txBody>
                  <a:tcPr/>
                </a:tc>
                <a:tc>
                  <a:txBody>
                    <a:bodyPr/>
                    <a:lstStyle/>
                    <a:p>
                      <a:pPr>
                        <a:defRPr sz="1400"/>
                      </a:pPr>
                      <a:r>
                        <a:t>Result marshaled and sent back</a:t>
                      </a:r>
                    </a:p>
                  </a:txBody>
                  <a:tcPr/>
                </a:tc>
              </a:tr>
            </a:tbl>
          </a:graphicData>
        </a:graphic>
      </p:graphicFrame>
      <p:sp>
        <p:nvSpPr>
          <p:cNvPr id="6" name="TextBox 5"/>
          <p:cNvSpPr txBox="1"/>
          <p:nvPr/>
        </p:nvSpPr>
        <p:spPr>
          <a:xfrm>
            <a:off x="731520" y="6309360"/>
            <a:ext cx="10515600" cy="1097280"/>
          </a:xfrm>
          <a:prstGeom prst="rect">
            <a:avLst/>
          </a:prstGeom>
          <a:noFill/>
        </p:spPr>
        <p:txBody>
          <a:bodyPr wrap="none">
            <a:spAutoFit/>
          </a:bodyPr>
          <a:lstStyle/>
          <a:p>
            <a:pPr>
              <a:defRPr sz="1800" i="1">
                <a:solidFill>
                  <a:srgbClr val="94A3B8"/>
                </a:solidFill>
              </a:defRPr>
            </a:pPr>
            <a:r>
              <a:t>Visual suggested: Side-by-side diagrams: left shows two processes in same memory block labeled 'Local Procedure Call'; right shows two separate machines connected by dashed lines labeled 'Network', with client stub and server stub boxes and arrows for message flow. Dark theme, blue accents, clean technical illustration.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548640" y="1188720"/>
            <a:ext cx="2743200" cy="45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822960"/>
          </a:xfrm>
          <a:prstGeom prst="rect">
            <a:avLst/>
          </a:prstGeom>
          <a:noFill/>
        </p:spPr>
        <p:txBody>
          <a:bodyPr wrap="square">
            <a:spAutoFit/>
          </a:bodyPr>
          <a:lstStyle/>
          <a:p>
            <a:pPr>
              <a:defRPr sz="4400" b="1">
                <a:solidFill>
                  <a:srgbClr val="F1F5F9"/>
                </a:solidFill>
              </a:defRPr>
            </a:pPr>
            <a:r>
              <a:t>Distributed Object Technologies: CORBA vs. RMI</a:t>
            </a:r>
          </a:p>
        </p:txBody>
      </p:sp>
      <p:sp>
        <p:nvSpPr>
          <p:cNvPr id="4" name="TextBox 3"/>
          <p:cNvSpPr txBox="1"/>
          <p:nvPr/>
        </p:nvSpPr>
        <p:spPr>
          <a:xfrm>
            <a:off x="731520" y="1463040"/>
            <a:ext cx="10515600" cy="1828800"/>
          </a:xfrm>
          <a:prstGeom prst="rect">
            <a:avLst/>
          </a:prstGeom>
          <a:noFill/>
        </p:spPr>
        <p:txBody>
          <a:bodyPr wrap="square">
            <a:spAutoFit/>
          </a:bodyPr>
          <a:lstStyle/>
          <a:p>
            <a:pPr>
              <a:spcAft>
                <a:spcPts val="1000"/>
              </a:spcAft>
              <a:defRPr sz="2200">
                <a:solidFill>
                  <a:srgbClr val="94A3B8"/>
                </a:solidFill>
              </a:defRPr>
            </a:pPr>
            <a:r>
              <a:t>  •  CORBA (Common Object Request Broker Architecture) supports cross-language object communication using IDL (Interface Definition Language).</a:t>
            </a:r>
          </a:p>
          <a:p>
            <a:pPr>
              <a:spcAft>
                <a:spcPts val="1000"/>
              </a:spcAft>
              <a:defRPr sz="2200">
                <a:solidFill>
                  <a:srgbClr val="94A3B8"/>
                </a:solidFill>
              </a:defRPr>
            </a:pPr>
            <a:r>
              <a:t>  •  RMI (Java Remote Method Invocation) is Java-specific and simpler, supporting only Java-to-Java communication.</a:t>
            </a:r>
          </a:p>
          <a:p>
            <a:pPr>
              <a:spcAft>
                <a:spcPts val="1000"/>
              </a:spcAft>
              <a:defRPr sz="2200">
                <a:solidFill>
                  <a:srgbClr val="94A3B8"/>
                </a:solidFill>
              </a:defRPr>
            </a:pPr>
            <a:r>
              <a:t>  •  CORBA is complex and historically dominant; Microsoft transitioned from CORBA to COM to .NET.</a:t>
            </a:r>
          </a:p>
          <a:p>
            <a:pPr>
              <a:spcAft>
                <a:spcPts val="1000"/>
              </a:spcAft>
              <a:defRPr sz="2200">
                <a:solidFill>
                  <a:srgbClr val="94A3B8"/>
                </a:solidFill>
              </a:defRPr>
            </a:pPr>
            <a:r>
              <a:t>  •  Both use stubs and skeletons: RMI serializes parameters on the client stub and deserializes on the server skeleton.</a:t>
            </a:r>
          </a:p>
        </p:txBody>
      </p:sp>
      <p:graphicFrame>
        <p:nvGraphicFramePr>
          <p:cNvPr id="5" name="Table 4"/>
          <p:cNvGraphicFramePr>
            <a:graphicFrameLocks noGrp="1"/>
          </p:cNvGraphicFramePr>
          <p:nvPr/>
        </p:nvGraphicFramePr>
        <p:xfrm>
          <a:off x="731520" y="3474720"/>
          <a:ext cx="10515600" cy="1828800"/>
        </p:xfrm>
        <a:graphic>
          <a:graphicData uri="http://schemas.openxmlformats.org/drawingml/2006/table">
            <a:tbl>
              <a:tblPr firstRow="1" bandRow="1">
                <a:tableStyleId>{5C22544A-7EE6-4342-B048-85BDC9FD1C3A}</a:tableStyleId>
              </a:tblPr>
              <a:tblGrid>
                <a:gridCol w="3505200"/>
                <a:gridCol w="3505200"/>
                <a:gridCol w="3505200"/>
              </a:tblGrid>
              <a:tr h="365760">
                <a:tc>
                  <a:txBody>
                    <a:bodyPr/>
                    <a:lstStyle/>
                    <a:p>
                      <a:pPr>
                        <a:defRPr sz="1400"/>
                      </a:pPr>
                      <a:r>
                        <a:t>Feature</a:t>
                      </a:r>
                    </a:p>
                  </a:txBody>
                  <a:tcPr/>
                </a:tc>
                <a:tc>
                  <a:txBody>
                    <a:bodyPr/>
                    <a:lstStyle/>
                    <a:p>
                      <a:pPr>
                        <a:defRPr sz="1400"/>
                      </a:pPr>
                      <a:r>
                        <a:t>CORBA</a:t>
                      </a:r>
                    </a:p>
                  </a:txBody>
                  <a:tcPr/>
                </a:tc>
                <a:tc>
                  <a:txBody>
                    <a:bodyPr/>
                    <a:lstStyle/>
                    <a:p>
                      <a:pPr>
                        <a:defRPr sz="1400"/>
                      </a:pPr>
                      <a:r>
                        <a:t>RMI</a:t>
                      </a:r>
                    </a:p>
                  </a:txBody>
                  <a:tcPr/>
                </a:tc>
              </a:tr>
              <a:tr h="365760">
                <a:tc>
                  <a:txBody>
                    <a:bodyPr/>
                    <a:lstStyle/>
                    <a:p>
                      <a:pPr>
                        <a:defRPr sz="1400"/>
                      </a:pPr>
                      <a:r>
                        <a:t>Language Support</a:t>
                      </a:r>
                    </a:p>
                  </a:txBody>
                  <a:tcPr/>
                </a:tc>
                <a:tc>
                  <a:txBody>
                    <a:bodyPr/>
                    <a:lstStyle/>
                    <a:p>
                      <a:pPr>
                        <a:defRPr sz="1400"/>
                      </a:pPr>
                      <a:r>
                        <a:t>Language-neutral (C++, Java, etc.)</a:t>
                      </a:r>
                    </a:p>
                  </a:txBody>
                  <a:tcPr/>
                </a:tc>
                <a:tc>
                  <a:txBody>
                    <a:bodyPr/>
                    <a:lstStyle/>
                    <a:p>
                      <a:pPr>
                        <a:defRPr sz="1400"/>
                      </a:pPr>
                      <a:r>
                        <a:t>Java-only</a:t>
                      </a:r>
                    </a:p>
                  </a:txBody>
                  <a:tcPr/>
                </a:tc>
              </a:tr>
              <a:tr h="365760">
                <a:tc>
                  <a:txBody>
                    <a:bodyPr/>
                    <a:lstStyle/>
                    <a:p>
                      <a:pPr>
                        <a:defRPr sz="1400"/>
                      </a:pPr>
                      <a:r>
                        <a:t>Interface Definition</a:t>
                      </a:r>
                    </a:p>
                  </a:txBody>
                  <a:tcPr/>
                </a:tc>
                <a:tc>
                  <a:txBody>
                    <a:bodyPr/>
                    <a:lstStyle/>
                    <a:p>
                      <a:pPr>
                        <a:defRPr sz="1400"/>
                      </a:pPr>
                      <a:r>
                        <a:t>IDL (similar to C++)</a:t>
                      </a:r>
                    </a:p>
                  </a:txBody>
                  <a:tcPr/>
                </a:tc>
                <a:tc>
                  <a:txBody>
                    <a:bodyPr/>
                    <a:lstStyle/>
                    <a:p>
                      <a:pPr>
                        <a:defRPr sz="1400"/>
                      </a:pPr>
                      <a:r>
                        <a:t>Java interfaces</a:t>
                      </a:r>
                    </a:p>
                  </a:txBody>
                  <a:tcPr/>
                </a:tc>
              </a:tr>
              <a:tr h="365760">
                <a:tc>
                  <a:txBody>
                    <a:bodyPr/>
                    <a:lstStyle/>
                    <a:p>
                      <a:pPr>
                        <a:defRPr sz="1400"/>
                      </a:pPr>
                      <a:r>
                        <a:t>Complexity</a:t>
                      </a:r>
                    </a:p>
                  </a:txBody>
                  <a:tcPr/>
                </a:tc>
                <a:tc>
                  <a:txBody>
                    <a:bodyPr/>
                    <a:lstStyle/>
                    <a:p>
                      <a:pPr>
                        <a:defRPr sz="1400"/>
                      </a:pPr>
                      <a:r>
                        <a:t>High</a:t>
                      </a:r>
                    </a:p>
                  </a:txBody>
                  <a:tcPr/>
                </a:tc>
                <a:tc>
                  <a:txBody>
                    <a:bodyPr/>
                    <a:lstStyle/>
                    <a:p>
                      <a:pPr>
                        <a:defRPr sz="1400"/>
                      </a:pPr>
                      <a:r>
                        <a:t>Low</a:t>
                      </a:r>
                    </a:p>
                  </a:txBody>
                  <a:tcPr/>
                </a:tc>
              </a:tr>
              <a:tr h="365760">
                <a:tc>
                  <a:txBody>
                    <a:bodyPr/>
                    <a:lstStyle/>
                    <a:p>
                      <a:pPr>
                        <a:defRPr sz="1400"/>
                      </a:pPr>
                      <a:r>
                        <a:t>Serialization</a:t>
                      </a:r>
                    </a:p>
                  </a:txBody>
                  <a:tcPr/>
                </a:tc>
                <a:tc>
                  <a:txBody>
                    <a:bodyPr/>
                    <a:lstStyle/>
                    <a:p>
                      <a:pPr>
                        <a:defRPr sz="1400"/>
                      </a:pPr>
                      <a:r>
                        <a:t>CORBA-specific</a:t>
                      </a:r>
                    </a:p>
                  </a:txBody>
                  <a:tcPr/>
                </a:tc>
                <a:tc>
                  <a:txBody>
                    <a:bodyPr/>
                    <a:lstStyle/>
                    <a:p>
                      <a:pPr>
                        <a:defRPr sz="1400"/>
                      </a:pPr>
                      <a:r>
                        <a:t>Java serialization</a:t>
                      </a:r>
                    </a:p>
                  </a:txBody>
                  <a:tcPr/>
                </a:tc>
              </a:tr>
            </a:tbl>
          </a:graphicData>
        </a:graphic>
      </p:graphicFrame>
      <p:sp>
        <p:nvSpPr>
          <p:cNvPr id="6" name="TextBox 5"/>
          <p:cNvSpPr txBox="1"/>
          <p:nvPr/>
        </p:nvSpPr>
        <p:spPr>
          <a:xfrm>
            <a:off x="731520" y="5577840"/>
            <a:ext cx="10515600" cy="1097280"/>
          </a:xfrm>
          <a:prstGeom prst="rect">
            <a:avLst/>
          </a:prstGeom>
          <a:noFill/>
        </p:spPr>
        <p:txBody>
          <a:bodyPr wrap="none">
            <a:spAutoFit/>
          </a:bodyPr>
          <a:lstStyle/>
          <a:p>
            <a:pPr>
              <a:defRPr sz="1800" i="1">
                <a:solidFill>
                  <a:srgbClr val="94A3B8"/>
                </a:solidFill>
              </a:defRPr>
            </a:pPr>
            <a:r>
              <a:t>Visual suggested: Two vertical panels: left labeled 'CORBA' with IDL snippet and multi-language icons (Java, C++, Python); right labeled 'RMI' with Java code snippet and JVM icon. Arrows show client stub → skeleton flow. Dark background, accent colors for language icons.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548640" y="1188720"/>
            <a:ext cx="2743200" cy="45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822960"/>
          </a:xfrm>
          <a:prstGeom prst="rect">
            <a:avLst/>
          </a:prstGeom>
          <a:noFill/>
        </p:spPr>
        <p:txBody>
          <a:bodyPr wrap="square">
            <a:spAutoFit/>
          </a:bodyPr>
          <a:lstStyle/>
          <a:p>
            <a:pPr>
              <a:defRPr sz="4400" b="1">
                <a:solidFill>
                  <a:srgbClr val="F1F5F9"/>
                </a:solidFill>
              </a:defRPr>
            </a:pPr>
            <a:r>
              <a:t>Web Services Architecture and Key Technologies</a:t>
            </a:r>
          </a:p>
        </p:txBody>
      </p:sp>
      <p:sp>
        <p:nvSpPr>
          <p:cNvPr id="4" name="TextBox 3"/>
          <p:cNvSpPr txBox="1"/>
          <p:nvPr/>
        </p:nvSpPr>
        <p:spPr>
          <a:xfrm>
            <a:off x="731520" y="1463040"/>
            <a:ext cx="10515600" cy="1828800"/>
          </a:xfrm>
          <a:prstGeom prst="rect">
            <a:avLst/>
          </a:prstGeom>
          <a:noFill/>
        </p:spPr>
        <p:txBody>
          <a:bodyPr wrap="square">
            <a:spAutoFit/>
          </a:bodyPr>
          <a:lstStyle/>
          <a:p>
            <a:pPr>
              <a:spcAft>
                <a:spcPts val="1000"/>
              </a:spcAft>
              <a:defRPr sz="2200">
                <a:solidFill>
                  <a:srgbClr val="94A3B8"/>
                </a:solidFill>
              </a:defRPr>
            </a:pPr>
            <a:r>
              <a:t>  •  Web Services are self-contained, platform-independent, and can be described, published, located, and invoked over the Internet.</a:t>
            </a:r>
          </a:p>
          <a:p>
            <a:pPr>
              <a:spcAft>
                <a:spcPts val="1000"/>
              </a:spcAft>
              <a:defRPr sz="2200">
                <a:solidFill>
                  <a:srgbClr val="94A3B8"/>
                </a:solidFill>
              </a:defRPr>
            </a:pPr>
            <a:r>
              <a:t>  •  Web Services solve three key problems: interoperability, firewall traversal, and complexity reduction.</a:t>
            </a:r>
          </a:p>
          <a:p>
            <a:pPr>
              <a:spcAft>
                <a:spcPts val="1000"/>
              </a:spcAft>
              <a:defRPr sz="2200">
                <a:solidFill>
                  <a:srgbClr val="94A3B8"/>
                </a:solidFill>
              </a:defRPr>
            </a:pPr>
            <a:r>
              <a:t>  •  XML is the foundation: all messaging, description, and registry use XML for platform independence.</a:t>
            </a:r>
          </a:p>
          <a:p>
            <a:pPr>
              <a:spcAft>
                <a:spcPts val="1000"/>
              </a:spcAft>
              <a:defRPr sz="2200">
                <a:solidFill>
                  <a:srgbClr val="94A3B8"/>
                </a:solidFill>
              </a:defRPr>
            </a:pPr>
            <a:r>
              <a:t>  •  Core technologies: SOAP (protocol), WSDL (interface definition), UDDI (service registry).</a:t>
            </a:r>
          </a:p>
        </p:txBody>
      </p:sp>
      <p:sp>
        <p:nvSpPr>
          <p:cNvPr id="5" name="TextBox 4"/>
          <p:cNvSpPr txBox="1"/>
          <p:nvPr/>
        </p:nvSpPr>
        <p:spPr>
          <a:xfrm>
            <a:off x="731520" y="3474720"/>
            <a:ext cx="10515600" cy="1371600"/>
          </a:xfrm>
          <a:prstGeom prst="rect">
            <a:avLst/>
          </a:prstGeom>
          <a:noFill/>
        </p:spPr>
        <p:txBody>
          <a:bodyPr wrap="square">
            <a:spAutoFit/>
          </a:bodyPr>
          <a:lstStyle/>
          <a:p>
            <a:pPr>
              <a:defRPr sz="2000">
                <a:solidFill>
                  <a:srgbClr val="94A3B8"/>
                </a:solidFill>
              </a:defRPr>
            </a:pPr>
            <a:r>
              <a:t>Web Services differ from websites: websites serve humans; Web Services serve machines (applications).</a:t>
            </a:r>
          </a:p>
        </p:txBody>
      </p:sp>
      <p:sp>
        <p:nvSpPr>
          <p:cNvPr id="6" name="TextBox 5"/>
          <p:cNvSpPr txBox="1"/>
          <p:nvPr/>
        </p:nvSpPr>
        <p:spPr>
          <a:xfrm>
            <a:off x="731520" y="5120640"/>
            <a:ext cx="10515600" cy="1097280"/>
          </a:xfrm>
          <a:prstGeom prst="rect">
            <a:avLst/>
          </a:prstGeom>
          <a:noFill/>
        </p:spPr>
        <p:txBody>
          <a:bodyPr wrap="none">
            <a:spAutoFit/>
          </a:bodyPr>
          <a:lstStyle/>
          <a:p>
            <a:pPr>
              <a:defRPr sz="1800" i="1">
                <a:solidFill>
                  <a:srgbClr val="94A3B8"/>
                </a:solidFill>
              </a:defRPr>
            </a:pPr>
            <a:r>
              <a:t>Visual suggested: Three layered icons: bottom 'XML' (text-based), middle 'SOAP' (envelope icon), top 'WSDL' (gear icon). Arrows show flow from client → HTTP → Web Service → UDDI registry. Dark theme, white icons, subtle glow.</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548640" y="1188720"/>
            <a:ext cx="2743200" cy="45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822960"/>
          </a:xfrm>
          <a:prstGeom prst="rect">
            <a:avLst/>
          </a:prstGeom>
          <a:noFill/>
        </p:spPr>
        <p:txBody>
          <a:bodyPr wrap="square">
            <a:spAutoFit/>
          </a:bodyPr>
          <a:lstStyle/>
          <a:p>
            <a:pPr>
              <a:defRPr sz="4400" b="1">
                <a:solidFill>
                  <a:srgbClr val="F1F5F9"/>
                </a:solidFill>
              </a:defRPr>
            </a:pPr>
            <a:r>
              <a:t>SOAP vs. REST Web Services</a:t>
            </a:r>
          </a:p>
        </p:txBody>
      </p:sp>
      <p:sp>
        <p:nvSpPr>
          <p:cNvPr id="4" name="TextBox 3"/>
          <p:cNvSpPr txBox="1"/>
          <p:nvPr/>
        </p:nvSpPr>
        <p:spPr>
          <a:xfrm>
            <a:off x="731520" y="1463040"/>
            <a:ext cx="10515600" cy="2286000"/>
          </a:xfrm>
          <a:prstGeom prst="rect">
            <a:avLst/>
          </a:prstGeom>
          <a:noFill/>
        </p:spPr>
        <p:txBody>
          <a:bodyPr wrap="square">
            <a:spAutoFit/>
          </a:bodyPr>
          <a:lstStyle/>
          <a:p>
            <a:pPr>
              <a:spcAft>
                <a:spcPts val="1000"/>
              </a:spcAft>
              <a:defRPr sz="2200">
                <a:solidFill>
                  <a:srgbClr val="94A3B8"/>
                </a:solidFill>
              </a:defRPr>
            </a:pPr>
            <a:r>
              <a:t>  •  SOAP is a protocol; REST is an architectural style.</a:t>
            </a:r>
          </a:p>
          <a:p>
            <a:pPr>
              <a:spcAft>
                <a:spcPts val="1000"/>
              </a:spcAft>
              <a:defRPr sz="2200">
                <a:solidFill>
                  <a:srgbClr val="94A3B8"/>
                </a:solidFill>
              </a:defRPr>
            </a:pPr>
            <a:r>
              <a:t>  •  SOAP uses XML exclusively; REST supports XML, JSON, HTML, plain text.</a:t>
            </a:r>
          </a:p>
          <a:p>
            <a:pPr>
              <a:spcAft>
                <a:spcPts val="1000"/>
              </a:spcAft>
              <a:defRPr sz="2200">
                <a:solidFill>
                  <a:srgbClr val="94A3B8"/>
                </a:solidFill>
              </a:defRPr>
            </a:pPr>
            <a:r>
              <a:t>  •  SOAP defines its own security; REST inherits security from underlying transport (e.g., HTTPS).</a:t>
            </a:r>
          </a:p>
          <a:p>
            <a:pPr>
              <a:spcAft>
                <a:spcPts val="1000"/>
              </a:spcAft>
              <a:defRPr sz="2200">
                <a:solidFill>
                  <a:srgbClr val="94A3B8"/>
                </a:solidFill>
              </a:defRPr>
            </a:pPr>
            <a:r>
              <a:t>  •  REST requires less bandwidth and is more preferred for web APIs.</a:t>
            </a:r>
          </a:p>
          <a:p>
            <a:pPr>
              <a:spcAft>
                <a:spcPts val="1000"/>
              </a:spcAft>
              <a:defRPr sz="2200">
                <a:solidFill>
                  <a:srgbClr val="94A3B8"/>
                </a:solidFill>
              </a:defRPr>
            </a:pPr>
            <a:r>
              <a:t>  •  SOAP uses service interfaces; REST uses URIs to expose business logic.</a:t>
            </a:r>
          </a:p>
        </p:txBody>
      </p:sp>
      <p:graphicFrame>
        <p:nvGraphicFramePr>
          <p:cNvPr id="5" name="Table 4"/>
          <p:cNvGraphicFramePr>
            <a:graphicFrameLocks noGrp="1"/>
          </p:cNvGraphicFramePr>
          <p:nvPr/>
        </p:nvGraphicFramePr>
        <p:xfrm>
          <a:off x="731520" y="3931920"/>
          <a:ext cx="10515600" cy="2194560"/>
        </p:xfrm>
        <a:graphic>
          <a:graphicData uri="http://schemas.openxmlformats.org/drawingml/2006/table">
            <a:tbl>
              <a:tblPr firstRow="1" bandRow="1">
                <a:tableStyleId>{5C22544A-7EE6-4342-B048-85BDC9FD1C3A}</a:tableStyleId>
              </a:tblPr>
              <a:tblGrid>
                <a:gridCol w="3505200"/>
                <a:gridCol w="3505200"/>
                <a:gridCol w="3505200"/>
              </a:tblGrid>
              <a:tr h="365760">
                <a:tc>
                  <a:txBody>
                    <a:bodyPr/>
                    <a:lstStyle/>
                    <a:p>
                      <a:pPr>
                        <a:defRPr sz="1400"/>
                      </a:pPr>
                      <a:r>
                        <a:t>Aspect</a:t>
                      </a:r>
                    </a:p>
                  </a:txBody>
                  <a:tcPr/>
                </a:tc>
                <a:tc>
                  <a:txBody>
                    <a:bodyPr/>
                    <a:lstStyle/>
                    <a:p>
                      <a:pPr>
                        <a:defRPr sz="1400"/>
                      </a:pPr>
                      <a:r>
                        <a:t>SOAP</a:t>
                      </a:r>
                    </a:p>
                  </a:txBody>
                  <a:tcPr/>
                </a:tc>
                <a:tc>
                  <a:txBody>
                    <a:bodyPr/>
                    <a:lstStyle/>
                    <a:p>
                      <a:pPr>
                        <a:defRPr sz="1400"/>
                      </a:pPr>
                      <a:r>
                        <a:t>REST</a:t>
                      </a:r>
                    </a:p>
                  </a:txBody>
                  <a:tcPr/>
                </a:tc>
              </a:tr>
              <a:tr h="365760">
                <a:tc>
                  <a:txBody>
                    <a:bodyPr/>
                    <a:lstStyle/>
                    <a:p>
                      <a:pPr>
                        <a:defRPr sz="1400"/>
                      </a:pPr>
                      <a:r>
                        <a:t>Nature</a:t>
                      </a:r>
                    </a:p>
                  </a:txBody>
                  <a:tcPr/>
                </a:tc>
                <a:tc>
                  <a:txBody>
                    <a:bodyPr/>
                    <a:lstStyle/>
                    <a:p>
                      <a:pPr>
                        <a:defRPr sz="1400"/>
                      </a:pPr>
                      <a:r>
                        <a:t>Protocol</a:t>
                      </a:r>
                    </a:p>
                  </a:txBody>
                  <a:tcPr/>
                </a:tc>
                <a:tc>
                  <a:txBody>
                    <a:bodyPr/>
                    <a:lstStyle/>
                    <a:p>
                      <a:pPr>
                        <a:defRPr sz="1400"/>
                      </a:pPr>
                      <a:r>
                        <a:t>Architectural style</a:t>
                      </a:r>
                    </a:p>
                  </a:txBody>
                  <a:tcPr/>
                </a:tc>
              </a:tr>
              <a:tr h="365760">
                <a:tc>
                  <a:txBody>
                    <a:bodyPr/>
                    <a:lstStyle/>
                    <a:p>
                      <a:pPr>
                        <a:defRPr sz="1400"/>
                      </a:pPr>
                      <a:r>
                        <a:t>Data Format</a:t>
                      </a:r>
                    </a:p>
                  </a:txBody>
                  <a:tcPr/>
                </a:tc>
                <a:tc>
                  <a:txBody>
                    <a:bodyPr/>
                    <a:lstStyle/>
                    <a:p>
                      <a:pPr>
                        <a:defRPr sz="1400"/>
                      </a:pPr>
                      <a:r>
                        <a:t>XML only</a:t>
                      </a:r>
                    </a:p>
                  </a:txBody>
                  <a:tcPr/>
                </a:tc>
                <a:tc>
                  <a:txBody>
                    <a:bodyPr/>
                    <a:lstStyle/>
                    <a:p>
                      <a:pPr>
                        <a:defRPr sz="1400"/>
                      </a:pPr>
                      <a:r>
                        <a:t>XML, JSON, HTML, etc.</a:t>
                      </a:r>
                    </a:p>
                  </a:txBody>
                  <a:tcPr/>
                </a:tc>
              </a:tr>
              <a:tr h="365760">
                <a:tc>
                  <a:txBody>
                    <a:bodyPr/>
                    <a:lstStyle/>
                    <a:p>
                      <a:pPr>
                        <a:defRPr sz="1400"/>
                      </a:pPr>
                      <a:r>
                        <a:t>Security</a:t>
                      </a:r>
                    </a:p>
                  </a:txBody>
                  <a:tcPr/>
                </a:tc>
                <a:tc>
                  <a:txBody>
                    <a:bodyPr/>
                    <a:lstStyle/>
                    <a:p>
                      <a:pPr>
                        <a:defRPr sz="1400"/>
                      </a:pPr>
                      <a:r>
                        <a:t>Built-in WS-Security</a:t>
                      </a:r>
                    </a:p>
                  </a:txBody>
                  <a:tcPr/>
                </a:tc>
                <a:tc>
                  <a:txBody>
                    <a:bodyPr/>
                    <a:lstStyle/>
                    <a:p>
                      <a:pPr>
                        <a:defRPr sz="1400"/>
                      </a:pPr>
                      <a:r>
                        <a:t>Transport-based (e.g., HTTPS)</a:t>
                      </a:r>
                    </a:p>
                  </a:txBody>
                  <a:tcPr/>
                </a:tc>
              </a:tr>
              <a:tr h="365760">
                <a:tc>
                  <a:txBody>
                    <a:bodyPr/>
                    <a:lstStyle/>
                    <a:p>
                      <a:pPr>
                        <a:defRPr sz="1400"/>
                      </a:pPr>
                      <a:r>
                        <a:t>Bandwidth</a:t>
                      </a:r>
                    </a:p>
                  </a:txBody>
                  <a:tcPr/>
                </a:tc>
                <a:tc>
                  <a:txBody>
                    <a:bodyPr/>
                    <a:lstStyle/>
                    <a:p>
                      <a:pPr>
                        <a:defRPr sz="1400"/>
                      </a:pPr>
                      <a:r>
                        <a:t>Higher</a:t>
                      </a:r>
                    </a:p>
                  </a:txBody>
                  <a:tcPr/>
                </a:tc>
                <a:tc>
                  <a:txBody>
                    <a:bodyPr/>
                    <a:lstStyle/>
                    <a:p>
                      <a:pPr>
                        <a:defRPr sz="1400"/>
                      </a:pPr>
                      <a:r>
                        <a:t>Lower</a:t>
                      </a:r>
                    </a:p>
                  </a:txBody>
                  <a:tcPr/>
                </a:tc>
              </a:tr>
              <a:tr h="365760">
                <a:tc>
                  <a:txBody>
                    <a:bodyPr/>
                    <a:lstStyle/>
                    <a:p>
                      <a:pPr>
                        <a:defRPr sz="1400"/>
                      </a:pPr>
                      <a:r>
                        <a:t>Java APIs</a:t>
                      </a:r>
                    </a:p>
                  </a:txBody>
                  <a:tcPr/>
                </a:tc>
                <a:tc>
                  <a:txBody>
                    <a:bodyPr/>
                    <a:lstStyle/>
                    <a:p>
                      <a:pPr>
                        <a:defRPr sz="1400"/>
                      </a:pPr>
                      <a:r>
                        <a:t>JAX-WS</a:t>
                      </a:r>
                    </a:p>
                  </a:txBody>
                  <a:tcPr/>
                </a:tc>
                <a:tc>
                  <a:txBody>
                    <a:bodyPr/>
                    <a:lstStyle/>
                    <a:p>
                      <a:pPr>
                        <a:defRPr sz="1400"/>
                      </a:pPr>
                      <a:r>
                        <a:t>JAX-RS</a:t>
                      </a:r>
                    </a:p>
                  </a:txBody>
                  <a:tcPr/>
                </a:tc>
              </a:tr>
            </a:tbl>
          </a:graphicData>
        </a:graphic>
      </p:graphicFrame>
      <p:sp>
        <p:nvSpPr>
          <p:cNvPr id="6" name="TextBox 5"/>
          <p:cNvSpPr txBox="1"/>
          <p:nvPr/>
        </p:nvSpPr>
        <p:spPr>
          <a:xfrm>
            <a:off x="731520" y="6400800"/>
            <a:ext cx="10515600" cy="1097280"/>
          </a:xfrm>
          <a:prstGeom prst="rect">
            <a:avLst/>
          </a:prstGeom>
          <a:noFill/>
        </p:spPr>
        <p:txBody>
          <a:bodyPr wrap="none">
            <a:spAutoFit/>
          </a:bodyPr>
          <a:lstStyle/>
          <a:p>
            <a:pPr>
              <a:defRPr sz="1800" i="1">
                <a:solidFill>
                  <a:srgbClr val="94A3B8"/>
                </a:solidFill>
              </a:defRPr>
            </a:pPr>
            <a:r>
              <a:t>Visual suggested: Split screen: left side shows SOAP envelope with XML tags, heavy icon; right side shows RESTful URL path with JSON snippet and lighter icon. Background dark, with subtle gradient. Clean, modern UI style.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548640" y="1188720"/>
            <a:ext cx="2743200" cy="45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822960"/>
          </a:xfrm>
          <a:prstGeom prst="rect">
            <a:avLst/>
          </a:prstGeom>
          <a:noFill/>
        </p:spPr>
        <p:txBody>
          <a:bodyPr wrap="square">
            <a:spAutoFit/>
          </a:bodyPr>
          <a:lstStyle/>
          <a:p>
            <a:pPr>
              <a:defRPr sz="4400" b="1">
                <a:solidFill>
                  <a:srgbClr val="F1F5F9"/>
                </a:solidFill>
              </a:defRPr>
            </a:pPr>
            <a:r>
              <a:t>Web Services Lifecycle and WSDL Structure</a:t>
            </a:r>
          </a:p>
        </p:txBody>
      </p:sp>
      <p:sp>
        <p:nvSpPr>
          <p:cNvPr id="4" name="TextBox 3"/>
          <p:cNvSpPr txBox="1"/>
          <p:nvPr/>
        </p:nvSpPr>
        <p:spPr>
          <a:xfrm>
            <a:off x="731520" y="1463040"/>
            <a:ext cx="10515600" cy="1828800"/>
          </a:xfrm>
          <a:prstGeom prst="rect">
            <a:avLst/>
          </a:prstGeom>
          <a:noFill/>
        </p:spPr>
        <p:txBody>
          <a:bodyPr wrap="square">
            <a:spAutoFit/>
          </a:bodyPr>
          <a:lstStyle/>
          <a:p>
            <a:pPr>
              <a:spcAft>
                <a:spcPts val="1000"/>
              </a:spcAft>
              <a:defRPr sz="2200">
                <a:solidFill>
                  <a:srgbClr val="94A3B8"/>
                </a:solidFill>
              </a:defRPr>
            </a:pPr>
            <a:r>
              <a:t>  •  Web Services follow a find-publish-interact lifecycle: publish service, discover via registry, interact via SOAP.</a:t>
            </a:r>
          </a:p>
          <a:p>
            <a:pPr>
              <a:spcAft>
                <a:spcPts val="1000"/>
              </a:spcAft>
              <a:defRPr sz="2200">
                <a:solidFill>
                  <a:srgbClr val="94A3B8"/>
                </a:solidFill>
              </a:defRPr>
            </a:pPr>
            <a:r>
              <a:t>  •  WSDL defines the service interface: data types, messages, operations, bindings, port, and service endpoint.</a:t>
            </a:r>
          </a:p>
          <a:p>
            <a:pPr>
              <a:spcAft>
                <a:spcPts val="1000"/>
              </a:spcAft>
              <a:defRPr sz="2200">
                <a:solidFill>
                  <a:srgbClr val="94A3B8"/>
                </a:solidFill>
              </a:defRPr>
            </a:pPr>
            <a:r>
              <a:t>  •  WSDL is XML-based and acts as an IDL for Web Services, enabling client stub generation.</a:t>
            </a:r>
          </a:p>
          <a:p>
            <a:pPr>
              <a:spcAft>
                <a:spcPts val="1000"/>
              </a:spcAft>
              <a:defRPr sz="2200">
                <a:solidFill>
                  <a:srgbClr val="94A3B8"/>
                </a:solidFill>
              </a:defRPr>
            </a:pPr>
            <a:r>
              <a:t>  •  A WSDL document includes: &lt;types&gt;, &lt;message&gt;, &lt;portType&gt;, &lt;binding&gt;, &lt;port&gt;, and &lt;service&gt;.</a:t>
            </a:r>
          </a:p>
        </p:txBody>
      </p:sp>
      <p:graphicFrame>
        <p:nvGraphicFramePr>
          <p:cNvPr id="5" name="Table 4"/>
          <p:cNvGraphicFramePr>
            <a:graphicFrameLocks noGrp="1"/>
          </p:cNvGraphicFramePr>
          <p:nvPr/>
        </p:nvGraphicFramePr>
        <p:xfrm>
          <a:off x="731520" y="3474720"/>
          <a:ext cx="10515600" cy="2194560"/>
        </p:xfrm>
        <a:graphic>
          <a:graphicData uri="http://schemas.openxmlformats.org/drawingml/2006/table">
            <a:tbl>
              <a:tblPr firstRow="1" bandRow="1">
                <a:tableStyleId>{5C22544A-7EE6-4342-B048-85BDC9FD1C3A}</a:tableStyleId>
              </a:tblPr>
              <a:tblGrid>
                <a:gridCol w="5257800"/>
                <a:gridCol w="5257800"/>
              </a:tblGrid>
              <a:tr h="365760">
                <a:tc>
                  <a:txBody>
                    <a:bodyPr/>
                    <a:lstStyle/>
                    <a:p>
                      <a:pPr>
                        <a:defRPr sz="1400"/>
                      </a:pPr>
                      <a:r>
                        <a:t>WSDL Element</a:t>
                      </a:r>
                    </a:p>
                  </a:txBody>
                  <a:tcPr/>
                </a:tc>
                <a:tc>
                  <a:txBody>
                    <a:bodyPr/>
                    <a:lstStyle/>
                    <a:p>
                      <a:pPr>
                        <a:defRPr sz="1400"/>
                      </a:pPr>
                      <a:r>
                        <a:t>Purpose</a:t>
                      </a:r>
                    </a:p>
                  </a:txBody>
                  <a:tcPr/>
                </a:tc>
              </a:tr>
              <a:tr h="365760">
                <a:tc>
                  <a:txBody>
                    <a:bodyPr/>
                    <a:lstStyle/>
                    <a:p>
                      <a:pPr>
                        <a:defRPr sz="1400"/>
                      </a:pPr>
                      <a:r>
                        <a:t>&lt;types&gt;</a:t>
                      </a:r>
                    </a:p>
                  </a:txBody>
                  <a:tcPr/>
                </a:tc>
                <a:tc>
                  <a:txBody>
                    <a:bodyPr/>
                    <a:lstStyle/>
                    <a:p>
                      <a:pPr>
                        <a:defRPr sz="1400"/>
                      </a:pPr>
                      <a:r>
                        <a:t>Data type definitions</a:t>
                      </a:r>
                    </a:p>
                  </a:txBody>
                  <a:tcPr/>
                </a:tc>
              </a:tr>
              <a:tr h="365760">
                <a:tc>
                  <a:txBody>
                    <a:bodyPr/>
                    <a:lstStyle/>
                    <a:p>
                      <a:pPr>
                        <a:defRPr sz="1400"/>
                      </a:pPr>
                      <a:r>
                        <a:t>&lt;message&gt;</a:t>
                      </a:r>
                    </a:p>
                  </a:txBody>
                  <a:tcPr/>
                </a:tc>
                <a:tc>
                  <a:txBody>
                    <a:bodyPr/>
                    <a:lstStyle/>
                    <a:p>
                      <a:pPr>
                        <a:defRPr sz="1400"/>
                      </a:pPr>
                      <a:r>
                        <a:t>Abstract data definitions (request/response)</a:t>
                      </a:r>
                    </a:p>
                  </a:txBody>
                  <a:tcPr/>
                </a:tc>
              </a:tr>
              <a:tr h="365760">
                <a:tc>
                  <a:txBody>
                    <a:bodyPr/>
                    <a:lstStyle/>
                    <a:p>
                      <a:pPr>
                        <a:defRPr sz="1400"/>
                      </a:pPr>
                      <a:r>
                        <a:t>&lt;portType&gt;</a:t>
                      </a:r>
                    </a:p>
                  </a:txBody>
                  <a:tcPr/>
                </a:tc>
                <a:tc>
                  <a:txBody>
                    <a:bodyPr/>
                    <a:lstStyle/>
                    <a:p>
                      <a:pPr>
                        <a:defRPr sz="1400"/>
                      </a:pPr>
                      <a:r>
                        <a:t>Abstract operations (input/output)</a:t>
                      </a:r>
                    </a:p>
                  </a:txBody>
                  <a:tcPr/>
                </a:tc>
              </a:tr>
              <a:tr h="365760">
                <a:tc>
                  <a:txBody>
                    <a:bodyPr/>
                    <a:lstStyle/>
                    <a:p>
                      <a:pPr>
                        <a:defRPr sz="1400"/>
                      </a:pPr>
                      <a:r>
                        <a:t>&lt;binding&gt;</a:t>
                      </a:r>
                    </a:p>
                  </a:txBody>
                  <a:tcPr/>
                </a:tc>
                <a:tc>
                  <a:txBody>
                    <a:bodyPr/>
                    <a:lstStyle/>
                    <a:p>
                      <a:pPr>
                        <a:defRPr sz="1400"/>
                      </a:pPr>
                      <a:r>
                        <a:t>Protocol and format (e.g., SOAP/HTTP)</a:t>
                      </a:r>
                    </a:p>
                  </a:txBody>
                  <a:tcPr/>
                </a:tc>
              </a:tr>
              <a:tr h="365760">
                <a:tc>
                  <a:txBody>
                    <a:bodyPr/>
                    <a:lstStyle/>
                    <a:p>
                      <a:pPr>
                        <a:defRPr sz="1400"/>
                      </a:pPr>
                      <a:r>
                        <a:t>&lt;service&gt;</a:t>
                      </a:r>
                    </a:p>
                  </a:txBody>
                  <a:tcPr/>
                </a:tc>
                <a:tc>
                  <a:txBody>
                    <a:bodyPr/>
                    <a:lstStyle/>
                    <a:p>
                      <a:pPr>
                        <a:defRPr sz="1400"/>
                      </a:pPr>
                      <a:r>
                        <a:t>Endpoint address and port aggregation</a:t>
                      </a:r>
                    </a:p>
                  </a:txBody>
                  <a:tcPr/>
                </a:tc>
              </a:tr>
            </a:tbl>
          </a:graphicData>
        </a:graphic>
      </p:graphicFrame>
      <p:sp>
        <p:nvSpPr>
          <p:cNvPr id="6" name="TextBox 5"/>
          <p:cNvSpPr txBox="1"/>
          <p:nvPr/>
        </p:nvSpPr>
        <p:spPr>
          <a:xfrm>
            <a:off x="731520" y="5943600"/>
            <a:ext cx="10515600" cy="1097280"/>
          </a:xfrm>
          <a:prstGeom prst="rect">
            <a:avLst/>
          </a:prstGeom>
          <a:noFill/>
        </p:spPr>
        <p:txBody>
          <a:bodyPr wrap="none">
            <a:spAutoFit/>
          </a:bodyPr>
          <a:lstStyle/>
          <a:p>
            <a:pPr>
              <a:defRPr sz="1800" i="1">
                <a:solidFill>
                  <a:srgbClr val="94A3B8"/>
                </a:solidFill>
              </a:defRPr>
            </a:pPr>
            <a:r>
              <a:t>Visual suggested: A WSDL document outline with expandable sections labeled: &lt;definitions&gt;, &lt;types&gt;, &lt;message&gt;, &lt;portType&gt;, &lt;binding&gt;, &lt;port&gt;, &lt;service&gt;. Arrows from client to WSDL to service. Dark theme, white text, subtle indentation.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548640" y="1188720"/>
            <a:ext cx="2743200" cy="45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822960"/>
          </a:xfrm>
          <a:prstGeom prst="rect">
            <a:avLst/>
          </a:prstGeom>
          <a:noFill/>
        </p:spPr>
        <p:txBody>
          <a:bodyPr wrap="square">
            <a:spAutoFit/>
          </a:bodyPr>
          <a:lstStyle/>
          <a:p>
            <a:pPr>
              <a:defRPr sz="4400" b="1">
                <a:solidFill>
                  <a:srgbClr val="F1F5F9"/>
                </a:solidFill>
              </a:defRPr>
            </a:pPr>
            <a:r>
              <a:t>UDDI Registry and Service Discovery</a:t>
            </a:r>
          </a:p>
        </p:txBody>
      </p:sp>
      <p:sp>
        <p:nvSpPr>
          <p:cNvPr id="4" name="TextBox 3"/>
          <p:cNvSpPr txBox="1"/>
          <p:nvPr/>
        </p:nvSpPr>
        <p:spPr>
          <a:xfrm>
            <a:off x="731520" y="1463040"/>
            <a:ext cx="10515600" cy="1828800"/>
          </a:xfrm>
          <a:prstGeom prst="rect">
            <a:avLst/>
          </a:prstGeom>
          <a:noFill/>
        </p:spPr>
        <p:txBody>
          <a:bodyPr wrap="square">
            <a:spAutoFit/>
          </a:bodyPr>
          <a:lstStyle/>
          <a:p>
            <a:pPr>
              <a:spcAft>
                <a:spcPts val="1000"/>
              </a:spcAft>
              <a:defRPr sz="2200">
                <a:solidFill>
                  <a:srgbClr val="94A3B8"/>
                </a:solidFill>
              </a:defRPr>
            </a:pPr>
            <a:r>
              <a:t>  •  UDDI (Universal Description, Discovery, and Integration) serves as a business and service registry for Web Services.</a:t>
            </a:r>
          </a:p>
          <a:p>
            <a:pPr>
              <a:spcAft>
                <a:spcPts val="1000"/>
              </a:spcAft>
              <a:defRPr sz="2200">
                <a:solidFill>
                  <a:srgbClr val="94A3B8"/>
                </a:solidFill>
              </a:defRPr>
            </a:pPr>
            <a:r>
              <a:t>  •  Businesses populate UDDI with service descriptions; clients query it to discover services.</a:t>
            </a:r>
          </a:p>
          <a:p>
            <a:pPr>
              <a:spcAft>
                <a:spcPts val="1000"/>
              </a:spcAft>
              <a:defRPr sz="2200">
                <a:solidFill>
                  <a:srgbClr val="94A3B8"/>
                </a:solidFill>
              </a:defRPr>
            </a:pPr>
            <a:r>
              <a:t>  •  UDDI enables find/lookup of services, retrieval of WSDL, and invocation via SOAP.</a:t>
            </a:r>
          </a:p>
          <a:p>
            <a:pPr>
              <a:spcAft>
                <a:spcPts val="1000"/>
              </a:spcAft>
              <a:defRPr sz="2200">
                <a:solidFill>
                  <a:srgbClr val="94A3B8"/>
                </a:solidFill>
              </a:defRPr>
            </a:pPr>
            <a:r>
              <a:t>  •  UDDI supports public, private, and hybrid registry deployments.</a:t>
            </a:r>
          </a:p>
        </p:txBody>
      </p:sp>
      <p:sp>
        <p:nvSpPr>
          <p:cNvPr id="5" name="TextBox 4"/>
          <p:cNvSpPr txBox="1"/>
          <p:nvPr/>
        </p:nvSpPr>
        <p:spPr>
          <a:xfrm>
            <a:off x="731520" y="3474720"/>
            <a:ext cx="10515600" cy="1371600"/>
          </a:xfrm>
          <a:prstGeom prst="rect">
            <a:avLst/>
          </a:prstGeom>
          <a:noFill/>
        </p:spPr>
        <p:txBody>
          <a:bodyPr wrap="square">
            <a:spAutoFit/>
          </a:bodyPr>
          <a:lstStyle/>
          <a:p>
            <a:pPr>
              <a:defRPr sz="2000">
                <a:solidFill>
                  <a:srgbClr val="94A3B8"/>
                </a:solidFill>
              </a:defRPr>
            </a:pPr>
            <a:r>
              <a:t>UDDI is part of the Web Services stack: after publishing a service, clients use UDDI to locate and bind to it.</a:t>
            </a:r>
          </a:p>
        </p:txBody>
      </p:sp>
      <p:sp>
        <p:nvSpPr>
          <p:cNvPr id="6" name="TextBox 5"/>
          <p:cNvSpPr txBox="1"/>
          <p:nvPr/>
        </p:nvSpPr>
        <p:spPr>
          <a:xfrm>
            <a:off x="731520" y="5120640"/>
            <a:ext cx="10515600" cy="1097280"/>
          </a:xfrm>
          <a:prstGeom prst="rect">
            <a:avLst/>
          </a:prstGeom>
          <a:noFill/>
        </p:spPr>
        <p:txBody>
          <a:bodyPr wrap="none">
            <a:spAutoFit/>
          </a:bodyPr>
          <a:lstStyle/>
          <a:p>
            <a:pPr>
              <a:defRPr sz="1800" i="1">
                <a:solidFill>
                  <a:srgbClr val="94A3B8"/>
                </a:solidFill>
              </a:defRPr>
            </a:pPr>
            <a:r>
              <a:t>Visual suggested: Three-step flow: 1) Business publishes service to UDDI registry, 2) Client queries UDDI, 3) Client retrieves WSDL and invokes service. Icons: database, magnifying glass, SOAP envelope. Dark background, accent lines connecting steps.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548640" y="1188720"/>
            <a:ext cx="2743200" cy="45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822960"/>
          </a:xfrm>
          <a:prstGeom prst="rect">
            <a:avLst/>
          </a:prstGeom>
          <a:noFill/>
        </p:spPr>
        <p:txBody>
          <a:bodyPr wrap="square">
            <a:spAutoFit/>
          </a:bodyPr>
          <a:lstStyle/>
          <a:p>
            <a:pPr>
              <a:defRPr sz="4400" b="1">
                <a:solidFill>
                  <a:srgbClr val="F1F5F9"/>
                </a:solidFill>
              </a:defRPr>
            </a:pPr>
            <a:r>
              <a:t>Cloud Computing: Core Concepts and Characteristics</a:t>
            </a:r>
          </a:p>
        </p:txBody>
      </p:sp>
      <p:sp>
        <p:nvSpPr>
          <p:cNvPr id="4" name="TextBox 3"/>
          <p:cNvSpPr txBox="1"/>
          <p:nvPr/>
        </p:nvSpPr>
        <p:spPr>
          <a:xfrm>
            <a:off x="731520" y="1463040"/>
            <a:ext cx="10515600" cy="1828800"/>
          </a:xfrm>
          <a:prstGeom prst="rect">
            <a:avLst/>
          </a:prstGeom>
          <a:noFill/>
        </p:spPr>
        <p:txBody>
          <a:bodyPr wrap="square">
            <a:spAutoFit/>
          </a:bodyPr>
          <a:lstStyle/>
          <a:p>
            <a:pPr>
              <a:spcAft>
                <a:spcPts val="1000"/>
              </a:spcAft>
              <a:defRPr sz="2200">
                <a:solidFill>
                  <a:srgbClr val="94A3B8"/>
                </a:solidFill>
              </a:defRPr>
            </a:pPr>
            <a:r>
              <a:t>  •  Cloud Computing is Internet-based computing that provides shared resources and data to devices on demand.</a:t>
            </a:r>
          </a:p>
          <a:p>
            <a:pPr>
              <a:spcAft>
                <a:spcPts val="1000"/>
              </a:spcAft>
              <a:defRPr sz="2200">
                <a:solidFill>
                  <a:srgbClr val="94A3B8"/>
                </a:solidFill>
              </a:defRPr>
            </a:pPr>
            <a:r>
              <a:t>  •  It hides infrastructure complexity via simple APIs or graphical interfaces.</a:t>
            </a:r>
          </a:p>
          <a:p>
            <a:pPr>
              <a:spcAft>
                <a:spcPts val="1000"/>
              </a:spcAft>
              <a:defRPr sz="2200">
                <a:solidFill>
                  <a:srgbClr val="94A3B8"/>
                </a:solidFill>
              </a:defRPr>
            </a:pPr>
            <a:r>
              <a:t>  •  Key characteristics: massive scale, resilience, virtualization, service orientation, low cost, and advanced security.</a:t>
            </a:r>
          </a:p>
          <a:p>
            <a:pPr>
              <a:spcAft>
                <a:spcPts val="1000"/>
              </a:spcAft>
              <a:defRPr sz="2200">
                <a:solidFill>
                  <a:srgbClr val="94A3B8"/>
                </a:solidFill>
              </a:defRPr>
            </a:pPr>
            <a:r>
              <a:t>  •  Essential characteristics: on-demand self-service, broad network access, resource pooling, rapid elasticity, and measured service.</a:t>
            </a:r>
          </a:p>
        </p:txBody>
      </p:sp>
      <p:sp>
        <p:nvSpPr>
          <p:cNvPr id="5" name="TextBox 4"/>
          <p:cNvSpPr txBox="1"/>
          <p:nvPr/>
        </p:nvSpPr>
        <p:spPr>
          <a:xfrm>
            <a:off x="731520" y="3474720"/>
            <a:ext cx="10515600" cy="1371600"/>
          </a:xfrm>
          <a:prstGeom prst="rect">
            <a:avLst/>
          </a:prstGeom>
          <a:noFill/>
        </p:spPr>
        <p:txBody>
          <a:bodyPr wrap="square">
            <a:spAutoFit/>
          </a:bodyPr>
          <a:lstStyle/>
          <a:p>
            <a:pPr>
              <a:defRPr sz="2000">
                <a:solidFill>
                  <a:srgbClr val="94A3B8"/>
                </a:solidFill>
              </a:defRPr>
            </a:pPr>
            <a:r>
              <a:t>Cloud Computing decouples services from hardware and OS, enabling migration, elasticity, and reduced operational overhead.</a:t>
            </a:r>
          </a:p>
        </p:txBody>
      </p:sp>
      <p:sp>
        <p:nvSpPr>
          <p:cNvPr id="6" name="TextBox 5"/>
          <p:cNvSpPr txBox="1"/>
          <p:nvPr/>
        </p:nvSpPr>
        <p:spPr>
          <a:xfrm>
            <a:off x="731520" y="5120640"/>
            <a:ext cx="10515600" cy="1097280"/>
          </a:xfrm>
          <a:prstGeom prst="rect">
            <a:avLst/>
          </a:prstGeom>
          <a:noFill/>
        </p:spPr>
        <p:txBody>
          <a:bodyPr wrap="none">
            <a:spAutoFit/>
          </a:bodyPr>
          <a:lstStyle/>
          <a:p>
            <a:pPr>
              <a:defRPr sz="1800" i="1">
                <a:solidFill>
                  <a:srgbClr val="94A3B8"/>
                </a:solidFill>
              </a:defRPr>
            </a:pPr>
            <a:r>
              <a:t>Visual suggested: A cloud icon with arrows pointing to 'Users', 'Applications', and 'Devices'. Inside the cloud: virtualized servers, storage, network. Labels: 'On-demand', 'Elastic', 'Shared'. Dark background, glowing cloud, white text.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548640" y="1188720"/>
            <a:ext cx="2743200" cy="45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822960"/>
          </a:xfrm>
          <a:prstGeom prst="rect">
            <a:avLst/>
          </a:prstGeom>
          <a:noFill/>
        </p:spPr>
        <p:txBody>
          <a:bodyPr wrap="square">
            <a:spAutoFit/>
          </a:bodyPr>
          <a:lstStyle/>
          <a:p>
            <a:pPr>
              <a:defRPr sz="4400" b="1">
                <a:solidFill>
                  <a:srgbClr val="F1F5F9"/>
                </a:solidFill>
              </a:defRPr>
            </a:pPr>
            <a:r>
              <a:t>IaaS, PaaS, SaaS: Cloud Service Models</a:t>
            </a:r>
          </a:p>
        </p:txBody>
      </p:sp>
      <p:sp>
        <p:nvSpPr>
          <p:cNvPr id="4" name="TextBox 3"/>
          <p:cNvSpPr txBox="1"/>
          <p:nvPr/>
        </p:nvSpPr>
        <p:spPr>
          <a:xfrm>
            <a:off x="731520" y="1463040"/>
            <a:ext cx="10515600" cy="1828800"/>
          </a:xfrm>
          <a:prstGeom prst="rect">
            <a:avLst/>
          </a:prstGeom>
          <a:noFill/>
        </p:spPr>
        <p:txBody>
          <a:bodyPr wrap="square">
            <a:spAutoFit/>
          </a:bodyPr>
          <a:lstStyle/>
          <a:p>
            <a:pPr>
              <a:spcAft>
                <a:spcPts val="1000"/>
              </a:spcAft>
              <a:defRPr sz="2200">
                <a:solidFill>
                  <a:srgbClr val="94A3B8"/>
                </a:solidFill>
              </a:defRPr>
            </a:pPr>
            <a:r>
              <a:t>  •  IaaS provides virtualized computing resources over the internet (e.g., VMs, storage, load balancers).</a:t>
            </a:r>
          </a:p>
          <a:p>
            <a:pPr>
              <a:spcAft>
                <a:spcPts val="1000"/>
              </a:spcAft>
              <a:defRPr sz="2200">
                <a:solidFill>
                  <a:srgbClr val="94A3B8"/>
                </a:solidFill>
              </a:defRPr>
            </a:pPr>
            <a:r>
              <a:t>  •  PaaS delivers hardware and software tools over the internet—typically for application development.</a:t>
            </a:r>
          </a:p>
          <a:p>
            <a:pPr>
              <a:spcAft>
                <a:spcPts val="1000"/>
              </a:spcAft>
              <a:defRPr sz="2200">
                <a:solidFill>
                  <a:srgbClr val="94A3B8"/>
                </a:solidFill>
              </a:defRPr>
            </a:pPr>
            <a:r>
              <a:t>  •  SaaS delivers software applications over the internet on a subscription basis (e.g., Gmail, Salesforce).</a:t>
            </a:r>
          </a:p>
          <a:p>
            <a:pPr>
              <a:spcAft>
                <a:spcPts val="1000"/>
              </a:spcAft>
              <a:defRPr sz="2200">
                <a:solidFill>
                  <a:srgbClr val="94A3B8"/>
                </a:solidFill>
              </a:defRPr>
            </a:pPr>
            <a:r>
              <a:t>  •  IaaS is the foundational layer; PaaS builds on IaaS; SaaS is the topmost, end-user layer.</a:t>
            </a:r>
          </a:p>
        </p:txBody>
      </p:sp>
      <p:graphicFrame>
        <p:nvGraphicFramePr>
          <p:cNvPr id="5" name="Table 4"/>
          <p:cNvGraphicFramePr>
            <a:graphicFrameLocks noGrp="1"/>
          </p:cNvGraphicFramePr>
          <p:nvPr/>
        </p:nvGraphicFramePr>
        <p:xfrm>
          <a:off x="731520" y="3474720"/>
          <a:ext cx="10515600" cy="1463040"/>
        </p:xfrm>
        <a:graphic>
          <a:graphicData uri="http://schemas.openxmlformats.org/drawingml/2006/table">
            <a:tbl>
              <a:tblPr firstRow="1" bandRow="1">
                <a:tableStyleId>{5C22544A-7EE6-4342-B048-85BDC9FD1C3A}</a:tableStyleId>
              </a:tblPr>
              <a:tblGrid>
                <a:gridCol w="3505200"/>
                <a:gridCol w="3505200"/>
                <a:gridCol w="3505200"/>
              </a:tblGrid>
              <a:tr h="365760">
                <a:tc>
                  <a:txBody>
                    <a:bodyPr/>
                    <a:lstStyle/>
                    <a:p>
                      <a:pPr>
                        <a:defRPr sz="1400"/>
                      </a:pPr>
                      <a:r>
                        <a:t>Layer</a:t>
                      </a:r>
                    </a:p>
                  </a:txBody>
                  <a:tcPr/>
                </a:tc>
                <a:tc>
                  <a:txBody>
                    <a:bodyPr/>
                    <a:lstStyle/>
                    <a:p>
                      <a:pPr>
                        <a:defRPr sz="1400"/>
                      </a:pPr>
                      <a:r>
                        <a:t>What You Get</a:t>
                      </a:r>
                    </a:p>
                  </a:txBody>
                  <a:tcPr/>
                </a:tc>
                <a:tc>
                  <a:txBody>
                    <a:bodyPr/>
                    <a:lstStyle/>
                    <a:p>
                      <a:pPr>
                        <a:defRPr sz="1400"/>
                      </a:pPr>
                      <a:r>
                        <a:t>Who Uses It</a:t>
                      </a:r>
                    </a:p>
                  </a:txBody>
                  <a:tcPr/>
                </a:tc>
              </a:tr>
              <a:tr h="365760">
                <a:tc>
                  <a:txBody>
                    <a:bodyPr/>
                    <a:lstStyle/>
                    <a:p>
                      <a:pPr>
                        <a:defRPr sz="1400"/>
                      </a:pPr>
                      <a:r>
                        <a:t>IaaS</a:t>
                      </a:r>
                    </a:p>
                  </a:txBody>
                  <a:tcPr/>
                </a:tc>
                <a:tc>
                  <a:txBody>
                    <a:bodyPr/>
                    <a:lstStyle/>
                    <a:p>
                      <a:pPr>
                        <a:defRPr sz="1400"/>
                      </a:pPr>
                      <a:r>
                        <a:t>Virtualized infrastructure (VMs, storage, network)</a:t>
                      </a:r>
                    </a:p>
                  </a:txBody>
                  <a:tcPr/>
                </a:tc>
                <a:tc>
                  <a:txBody>
                    <a:bodyPr/>
                    <a:lstStyle/>
                    <a:p>
                      <a:pPr>
                        <a:defRPr sz="1400"/>
                      </a:pPr>
                      <a:r>
                        <a:t>Developers, DevOps</a:t>
                      </a:r>
                    </a:p>
                  </a:txBody>
                  <a:tcPr/>
                </a:tc>
              </a:tr>
              <a:tr h="365760">
                <a:tc>
                  <a:txBody>
                    <a:bodyPr/>
                    <a:lstStyle/>
                    <a:p>
                      <a:pPr>
                        <a:defRPr sz="1400"/>
                      </a:pPr>
                      <a:r>
                        <a:t>PaaS</a:t>
                      </a:r>
                    </a:p>
                  </a:txBody>
                  <a:tcPr/>
                </a:tc>
                <a:tc>
                  <a:txBody>
                    <a:bodyPr/>
                    <a:lstStyle/>
                    <a:p>
                      <a:pPr>
                        <a:defRPr sz="1400"/>
                      </a:pPr>
                      <a:r>
                        <a:t>Runtime, middleware, databases, tools</a:t>
                      </a:r>
                    </a:p>
                  </a:txBody>
                  <a:tcPr/>
                </a:tc>
                <a:tc>
                  <a:txBody>
                    <a:bodyPr/>
                    <a:lstStyle/>
                    <a:p>
                      <a:pPr>
                        <a:defRPr sz="1400"/>
                      </a:pPr>
                      <a:r>
                        <a:t>Developers</a:t>
                      </a:r>
                    </a:p>
                  </a:txBody>
                  <a:tcPr/>
                </a:tc>
              </a:tr>
              <a:tr h="365760">
                <a:tc>
                  <a:txBody>
                    <a:bodyPr/>
                    <a:lstStyle/>
                    <a:p>
                      <a:pPr>
                        <a:defRPr sz="1400"/>
                      </a:pPr>
                      <a:r>
                        <a:t>SaaS</a:t>
                      </a:r>
                    </a:p>
                  </a:txBody>
                  <a:tcPr/>
                </a:tc>
                <a:tc>
                  <a:txBody>
                    <a:bodyPr/>
                    <a:lstStyle/>
                    <a:p>
                      <a:pPr>
                        <a:defRPr sz="1400"/>
                      </a:pPr>
                      <a:r>
                        <a:t>Pre-configured applications</a:t>
                      </a:r>
                    </a:p>
                  </a:txBody>
                  <a:tcPr/>
                </a:tc>
                <a:tc>
                  <a:txBody>
                    <a:bodyPr/>
                    <a:lstStyle/>
                    <a:p>
                      <a:pPr>
                        <a:defRPr sz="1400"/>
                      </a:pPr>
                      <a:r>
                        <a:t>End users, businesses</a:t>
                      </a:r>
                    </a:p>
                  </a:txBody>
                  <a:tcPr/>
                </a:tc>
              </a:tr>
            </a:tbl>
          </a:graphicData>
        </a:graphic>
      </p:graphicFrame>
      <p:sp>
        <p:nvSpPr>
          <p:cNvPr id="6" name="TextBox 5"/>
          <p:cNvSpPr txBox="1"/>
          <p:nvPr/>
        </p:nvSpPr>
        <p:spPr>
          <a:xfrm>
            <a:off x="731520" y="5212080"/>
            <a:ext cx="10515600" cy="1097280"/>
          </a:xfrm>
          <a:prstGeom prst="rect">
            <a:avLst/>
          </a:prstGeom>
          <a:noFill/>
        </p:spPr>
        <p:txBody>
          <a:bodyPr wrap="none">
            <a:spAutoFit/>
          </a:bodyPr>
          <a:lstStyle/>
          <a:p>
            <a:pPr>
              <a:defRPr sz="1800" i="1">
                <a:solidFill>
                  <a:srgbClr val="94A3B8"/>
                </a:solidFill>
              </a:defRPr>
            </a:pPr>
            <a:r>
              <a:t>Visual suggested: Three stacked layers: bottom 'IaaS' (server rack icon), middle 'PaaS' (code editor + database icon), top 'SaaS' (laptop with app icons). Arrows show upward dependency. Dark theme, gradient fill, white labels.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548640" y="1188720"/>
            <a:ext cx="2743200" cy="45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822960"/>
          </a:xfrm>
          <a:prstGeom prst="rect">
            <a:avLst/>
          </a:prstGeom>
          <a:noFill/>
        </p:spPr>
        <p:txBody>
          <a:bodyPr wrap="square">
            <a:spAutoFit/>
          </a:bodyPr>
          <a:lstStyle/>
          <a:p>
            <a:pPr>
              <a:defRPr sz="4400" b="1">
                <a:solidFill>
                  <a:srgbClr val="F1F5F9"/>
                </a:solidFill>
              </a:defRPr>
            </a:pPr>
            <a:r>
              <a:t>Virtualization and Hypervisors</a:t>
            </a:r>
          </a:p>
        </p:txBody>
      </p:sp>
      <p:sp>
        <p:nvSpPr>
          <p:cNvPr id="4" name="TextBox 3"/>
          <p:cNvSpPr txBox="1"/>
          <p:nvPr/>
        </p:nvSpPr>
        <p:spPr>
          <a:xfrm>
            <a:off x="731520" y="1463040"/>
            <a:ext cx="10515600" cy="1828800"/>
          </a:xfrm>
          <a:prstGeom prst="rect">
            <a:avLst/>
          </a:prstGeom>
          <a:noFill/>
        </p:spPr>
        <p:txBody>
          <a:bodyPr wrap="square">
            <a:spAutoFit/>
          </a:bodyPr>
          <a:lstStyle/>
          <a:p>
            <a:pPr>
              <a:spcAft>
                <a:spcPts val="1000"/>
              </a:spcAft>
              <a:defRPr sz="2200">
                <a:solidFill>
                  <a:srgbClr val="94A3B8"/>
                </a:solidFill>
              </a:defRPr>
            </a:pPr>
            <a:r>
              <a:t>  •  Virtualization separates the OS from hardware, enabling multiple VMs on one physical server.</a:t>
            </a:r>
          </a:p>
          <a:p>
            <a:pPr>
              <a:spcAft>
                <a:spcPts val="1000"/>
              </a:spcAft>
              <a:defRPr sz="2200">
                <a:solidFill>
                  <a:srgbClr val="94A3B8"/>
                </a:solidFill>
              </a:defRPr>
            </a:pPr>
            <a:r>
              <a:t>  •  Hypervisors manage VMs: Type 1 (bare-metal, e.g., VMware ESXi, Xen) and Type 2 (hosted, e.g., VMware Workstation).</a:t>
            </a:r>
          </a:p>
          <a:p>
            <a:pPr>
              <a:spcAft>
                <a:spcPts val="1000"/>
              </a:spcAft>
              <a:defRPr sz="2200">
                <a:solidFill>
                  <a:srgbClr val="94A3B8"/>
                </a:solidFill>
              </a:defRPr>
            </a:pPr>
            <a:r>
              <a:t>  •  Full virtualization simulates hardware (no guest OS modification); para-virtualization requires guest OS changes for performance.</a:t>
            </a:r>
          </a:p>
          <a:p>
            <a:pPr>
              <a:spcAft>
                <a:spcPts val="1000"/>
              </a:spcAft>
              <a:defRPr sz="2200">
                <a:solidFill>
                  <a:srgbClr val="94A3B8"/>
                </a:solidFill>
              </a:defRPr>
            </a:pPr>
            <a:r>
              <a:t>  •  Hardware-assisted virtualization (Intel VT-x, AMD-V) improves performance by offloading privileged instruction handling to the CPU.</a:t>
            </a:r>
          </a:p>
        </p:txBody>
      </p:sp>
      <p:graphicFrame>
        <p:nvGraphicFramePr>
          <p:cNvPr id="5" name="Table 4"/>
          <p:cNvGraphicFramePr>
            <a:graphicFrameLocks noGrp="1"/>
          </p:cNvGraphicFramePr>
          <p:nvPr/>
        </p:nvGraphicFramePr>
        <p:xfrm>
          <a:off x="731520" y="3474720"/>
          <a:ext cx="10515600" cy="1463040"/>
        </p:xfrm>
        <a:graphic>
          <a:graphicData uri="http://schemas.openxmlformats.org/drawingml/2006/table">
            <a:tbl>
              <a:tblPr firstRow="1" bandRow="1">
                <a:tableStyleId>{5C22544A-7EE6-4342-B048-85BDC9FD1C3A}</a:tableStyleId>
              </a:tblPr>
              <a:tblGrid>
                <a:gridCol w="2628900"/>
                <a:gridCol w="2628900"/>
                <a:gridCol w="2628900"/>
                <a:gridCol w="2628900"/>
              </a:tblGrid>
              <a:tr h="365760">
                <a:tc>
                  <a:txBody>
                    <a:bodyPr/>
                    <a:lstStyle/>
                    <a:p>
                      <a:pPr>
                        <a:defRPr sz="1400"/>
                      </a:pPr>
                      <a:r>
                        <a:t>Virtualization Type</a:t>
                      </a:r>
                    </a:p>
                  </a:txBody>
                  <a:tcPr/>
                </a:tc>
                <a:tc>
                  <a:txBody>
                    <a:bodyPr/>
                    <a:lstStyle/>
                    <a:p>
                      <a:pPr>
                        <a:defRPr sz="1400"/>
                      </a:pPr>
                      <a:r>
                        <a:t>Guest OS Modification</a:t>
                      </a:r>
                    </a:p>
                  </a:txBody>
                  <a:tcPr/>
                </a:tc>
                <a:tc>
                  <a:txBody>
                    <a:bodyPr/>
                    <a:lstStyle/>
                    <a:p>
                      <a:pPr>
                        <a:defRPr sz="1400"/>
                      </a:pPr>
                      <a:r>
                        <a:t>Performance</a:t>
                      </a:r>
                    </a:p>
                  </a:txBody>
                  <a:tcPr/>
                </a:tc>
                <a:tc>
                  <a:txBody>
                    <a:bodyPr/>
                    <a:lstStyle/>
                    <a:p>
                      <a:pPr>
                        <a:defRPr sz="1400"/>
                      </a:pPr>
                      <a:r>
                        <a:t>Examples</a:t>
                      </a:r>
                    </a:p>
                  </a:txBody>
                  <a:tcPr/>
                </a:tc>
              </a:tr>
              <a:tr h="365760">
                <a:tc>
                  <a:txBody>
                    <a:bodyPr/>
                    <a:lstStyle/>
                    <a:p>
                      <a:pPr>
                        <a:defRPr sz="1400"/>
                      </a:pPr>
                      <a:r>
                        <a:t>Full Virtualization</a:t>
                      </a:r>
                    </a:p>
                  </a:txBody>
                  <a:tcPr/>
                </a:tc>
                <a:tc>
                  <a:txBody>
                    <a:bodyPr/>
                    <a:lstStyle/>
                    <a:p>
                      <a:pPr>
                        <a:defRPr sz="1400"/>
                      </a:pPr>
                      <a:r>
                        <a:t>No</a:t>
                      </a:r>
                    </a:p>
                  </a:txBody>
                  <a:tcPr/>
                </a:tc>
                <a:tc>
                  <a:txBody>
                    <a:bodyPr/>
                    <a:lstStyle/>
                    <a:p>
                      <a:pPr>
                        <a:defRPr sz="1400"/>
                      </a:pPr>
                      <a:r>
                        <a:t>Moderate</a:t>
                      </a:r>
                    </a:p>
                  </a:txBody>
                  <a:tcPr/>
                </a:tc>
                <a:tc>
                  <a:txBody>
                    <a:bodyPr/>
                    <a:lstStyle/>
                    <a:p>
                      <a:pPr>
                        <a:defRPr sz="1400"/>
                      </a:pPr>
                      <a:r>
                        <a:t>VMware ESXi, KVM</a:t>
                      </a:r>
                    </a:p>
                  </a:txBody>
                  <a:tcPr/>
                </a:tc>
              </a:tr>
              <a:tr h="365760">
                <a:tc>
                  <a:txBody>
                    <a:bodyPr/>
                    <a:lstStyle/>
                    <a:p>
                      <a:pPr>
                        <a:defRPr sz="1400"/>
                      </a:pPr>
                      <a:r>
                        <a:t>Para-Virtualization</a:t>
                      </a:r>
                    </a:p>
                  </a:txBody>
                  <a:tcPr/>
                </a:tc>
                <a:tc>
                  <a:txBody>
                    <a:bodyPr/>
                    <a:lstStyle/>
                    <a:p>
                      <a:pPr>
                        <a:defRPr sz="1400"/>
                      </a:pPr>
                      <a:r>
                        <a:t>Yes</a:t>
                      </a:r>
                    </a:p>
                  </a:txBody>
                  <a:tcPr/>
                </a:tc>
                <a:tc>
                  <a:txBody>
                    <a:bodyPr/>
                    <a:lstStyle/>
                    <a:p>
                      <a:pPr>
                        <a:defRPr sz="1400"/>
                      </a:pPr>
                      <a:r>
                        <a:t>High</a:t>
                      </a:r>
                    </a:p>
                  </a:txBody>
                  <a:tcPr/>
                </a:tc>
                <a:tc>
                  <a:txBody>
                    <a:bodyPr/>
                    <a:lstStyle/>
                    <a:p>
                      <a:pPr>
                        <a:defRPr sz="1400"/>
                      </a:pPr>
                      <a:r>
                        <a:t>Xen</a:t>
                      </a:r>
                    </a:p>
                  </a:txBody>
                  <a:tcPr/>
                </a:tc>
              </a:tr>
              <a:tr h="365760">
                <a:tc>
                  <a:txBody>
                    <a:bodyPr/>
                    <a:lstStyle/>
                    <a:p>
                      <a:pPr>
                        <a:defRPr sz="1400"/>
                      </a:pPr>
                      <a:r>
                        <a:t>Hardware-Assisted</a:t>
                      </a:r>
                    </a:p>
                  </a:txBody>
                  <a:tcPr/>
                </a:tc>
                <a:tc>
                  <a:txBody>
                    <a:bodyPr/>
                    <a:lstStyle/>
                    <a:p>
                      <a:pPr>
                        <a:defRPr sz="1400"/>
                      </a:pPr>
                      <a:r>
                        <a:t>No</a:t>
                      </a:r>
                    </a:p>
                  </a:txBody>
                  <a:tcPr/>
                </a:tc>
                <a:tc>
                  <a:txBody>
                    <a:bodyPr/>
                    <a:lstStyle/>
                    <a:p>
                      <a:pPr>
                        <a:defRPr sz="1400"/>
                      </a:pPr>
                      <a:r>
                        <a:t>High</a:t>
                      </a:r>
                    </a:p>
                  </a:txBody>
                  <a:tcPr/>
                </a:tc>
                <a:tc>
                  <a:txBody>
                    <a:bodyPr/>
                    <a:lstStyle/>
                    <a:p>
                      <a:pPr>
                        <a:defRPr sz="1400"/>
                      </a:pPr>
                      <a:r>
                        <a:t>VMware with VT-x</a:t>
                      </a:r>
                    </a:p>
                  </a:txBody>
                  <a:tcPr/>
                </a:tc>
              </a:tr>
            </a:tbl>
          </a:graphicData>
        </a:graphic>
      </p:graphicFrame>
      <p:sp>
        <p:nvSpPr>
          <p:cNvPr id="6" name="TextBox 5"/>
          <p:cNvSpPr txBox="1"/>
          <p:nvPr/>
        </p:nvSpPr>
        <p:spPr>
          <a:xfrm>
            <a:off x="731520" y="5212080"/>
            <a:ext cx="10515600" cy="1097280"/>
          </a:xfrm>
          <a:prstGeom prst="rect">
            <a:avLst/>
          </a:prstGeom>
          <a:noFill/>
        </p:spPr>
        <p:txBody>
          <a:bodyPr wrap="none">
            <a:spAutoFit/>
          </a:bodyPr>
          <a:lstStyle/>
          <a:p>
            <a:pPr>
              <a:defRPr sz="1800" i="1">
                <a:solidFill>
                  <a:srgbClr val="94A3B8"/>
                </a:solidFill>
              </a:defRPr>
            </a:pPr>
            <a:r>
              <a:t>Visual suggested: Layered architecture: bottom 'Hardware', middle 'Hypervisor', top 'Guest OS 1', 'Guest OS 2'. Arrows show resource allocation. Type 1 vs Type 2 comparison inset. Dark theme, technical cross-section style.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548640" y="1188720"/>
            <a:ext cx="2743200" cy="45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822960"/>
          </a:xfrm>
          <a:prstGeom prst="rect">
            <a:avLst/>
          </a:prstGeom>
          <a:noFill/>
        </p:spPr>
        <p:txBody>
          <a:bodyPr wrap="square">
            <a:spAutoFit/>
          </a:bodyPr>
          <a:lstStyle/>
          <a:p>
            <a:pPr>
              <a:defRPr sz="4400" b="1">
                <a:solidFill>
                  <a:srgbClr val="F1F5F9"/>
                </a:solidFill>
              </a:defRPr>
            </a:pPr>
            <a:r>
              <a:t>Distributed Systems and Middleware</a:t>
            </a:r>
          </a:p>
        </p:txBody>
      </p:sp>
      <p:sp>
        <p:nvSpPr>
          <p:cNvPr id="4" name="TextBox 3"/>
          <p:cNvSpPr txBox="1"/>
          <p:nvPr/>
        </p:nvSpPr>
        <p:spPr>
          <a:xfrm>
            <a:off x="731520" y="1463040"/>
            <a:ext cx="10515600" cy="1828800"/>
          </a:xfrm>
          <a:prstGeom prst="rect">
            <a:avLst/>
          </a:prstGeom>
          <a:noFill/>
        </p:spPr>
        <p:txBody>
          <a:bodyPr wrap="square">
            <a:spAutoFit/>
          </a:bodyPr>
          <a:lstStyle/>
          <a:p>
            <a:pPr>
              <a:spcAft>
                <a:spcPts val="1000"/>
              </a:spcAft>
              <a:defRPr sz="2200">
                <a:solidFill>
                  <a:srgbClr val="94A3B8"/>
                </a:solidFill>
              </a:defRPr>
            </a:pPr>
            <a:r>
              <a:t>  •  A distributed system is a collection of independent computers that appears as a single coherent system to users.</a:t>
            </a:r>
          </a:p>
          <a:p>
            <a:pPr>
              <a:spcAft>
                <a:spcPts val="1000"/>
              </a:spcAft>
              <a:defRPr sz="2200">
                <a:solidFill>
                  <a:srgbClr val="94A3B8"/>
                </a:solidFill>
              </a:defRPr>
            </a:pPr>
            <a:r>
              <a:t>  •  Key properties: transparency (access, location, failure), openness, scalability, concurrency, heterogeneity, and fault tolerance.</a:t>
            </a:r>
          </a:p>
          <a:p>
            <a:pPr>
              <a:spcAft>
                <a:spcPts val="1000"/>
              </a:spcAft>
              <a:defRPr sz="2200">
                <a:solidFill>
                  <a:srgbClr val="94A3B8"/>
                </a:solidFill>
              </a:defRPr>
            </a:pPr>
            <a:r>
              <a:t>  •  Middleware is a software layer between OS and applications that masks heterogeneity and provides programming abstractions.</a:t>
            </a:r>
          </a:p>
          <a:p>
            <a:pPr>
              <a:spcAft>
                <a:spcPts val="1000"/>
              </a:spcAft>
              <a:defRPr sz="2200">
                <a:solidFill>
                  <a:srgbClr val="94A3B8"/>
                </a:solidFill>
              </a:defRPr>
            </a:pPr>
            <a:r>
              <a:t>  •  Examples: RPC, RMI, CORBA, DCOM, and database connectivity APIs (ODBC, JDBC).</a:t>
            </a:r>
          </a:p>
        </p:txBody>
      </p:sp>
      <p:sp>
        <p:nvSpPr>
          <p:cNvPr id="5" name="TextBox 4"/>
          <p:cNvSpPr txBox="1"/>
          <p:nvPr/>
        </p:nvSpPr>
        <p:spPr>
          <a:xfrm>
            <a:off x="731520" y="3474720"/>
            <a:ext cx="10515600" cy="1371600"/>
          </a:xfrm>
          <a:prstGeom prst="rect">
            <a:avLst/>
          </a:prstGeom>
          <a:noFill/>
        </p:spPr>
        <p:txBody>
          <a:bodyPr wrap="square">
            <a:spAutoFit/>
          </a:bodyPr>
          <a:lstStyle/>
          <a:p>
            <a:pPr>
              <a:defRPr sz="2000">
                <a:solidFill>
                  <a:srgbClr val="94A3B8"/>
                </a:solidFill>
              </a:defRPr>
            </a:pPr>
            <a:r>
              <a:t>Middleware enables transparent communication across heterogeneous platforms, forming the backbone of distributed object systems and Web Services.</a:t>
            </a:r>
          </a:p>
        </p:txBody>
      </p:sp>
      <p:sp>
        <p:nvSpPr>
          <p:cNvPr id="6" name="TextBox 5"/>
          <p:cNvSpPr txBox="1"/>
          <p:nvPr/>
        </p:nvSpPr>
        <p:spPr>
          <a:xfrm>
            <a:off x="731520" y="5120640"/>
            <a:ext cx="10515600" cy="1097280"/>
          </a:xfrm>
          <a:prstGeom prst="rect">
            <a:avLst/>
          </a:prstGeom>
          <a:noFill/>
        </p:spPr>
        <p:txBody>
          <a:bodyPr wrap="none">
            <a:spAutoFit/>
          </a:bodyPr>
          <a:lstStyle/>
          <a:p>
            <a:pPr>
              <a:defRPr sz="1800" i="1">
                <a:solidFill>
                  <a:srgbClr val="94A3B8"/>
                </a:solidFill>
              </a:defRPr>
            </a:pPr>
            <a:r>
              <a:t>Visual suggested: Three-tier diagram: 'Application Layer' → 'Middleware Layer' (labeled 'RPC, CORBA, JDBC') → 'OS &amp; Network Layer'. Arrows show message passing. Dark background, white lines, clean technical illustration.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548640" y="1188720"/>
            <a:ext cx="2743200" cy="45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822960"/>
          </a:xfrm>
          <a:prstGeom prst="rect">
            <a:avLst/>
          </a:prstGeom>
          <a:noFill/>
        </p:spPr>
        <p:txBody>
          <a:bodyPr wrap="square">
            <a:spAutoFit/>
          </a:bodyPr>
          <a:lstStyle/>
          <a:p>
            <a:pPr>
              <a:defRPr sz="4400" b="1">
                <a:solidFill>
                  <a:srgbClr val="F1F5F9"/>
                </a:solidFill>
              </a:defRPr>
            </a:pPr>
            <a:r>
              <a:t>Grid vs. Cloud Computing</a:t>
            </a:r>
          </a:p>
        </p:txBody>
      </p:sp>
      <p:sp>
        <p:nvSpPr>
          <p:cNvPr id="4" name="TextBox 3"/>
          <p:cNvSpPr txBox="1"/>
          <p:nvPr/>
        </p:nvSpPr>
        <p:spPr>
          <a:xfrm>
            <a:off x="731520" y="1463040"/>
            <a:ext cx="10515600" cy="1828800"/>
          </a:xfrm>
          <a:prstGeom prst="rect">
            <a:avLst/>
          </a:prstGeom>
          <a:noFill/>
        </p:spPr>
        <p:txBody>
          <a:bodyPr wrap="square">
            <a:spAutoFit/>
          </a:bodyPr>
          <a:lstStyle/>
          <a:p>
            <a:pPr>
              <a:spcAft>
                <a:spcPts val="1000"/>
              </a:spcAft>
              <a:defRPr sz="2200">
                <a:solidFill>
                  <a:srgbClr val="94A3B8"/>
                </a:solidFill>
              </a:defRPr>
            </a:pPr>
            <a:r>
              <a:t>  •  Grid Computing: heterogeneous, geographically dispersed, resource sharing across administrative domains (e.g., scientific research).</a:t>
            </a:r>
          </a:p>
          <a:p>
            <a:pPr>
              <a:spcAft>
                <a:spcPts val="1000"/>
              </a:spcAft>
              <a:defRPr sz="2200">
                <a:solidFill>
                  <a:srgbClr val="94A3B8"/>
                </a:solidFill>
              </a:defRPr>
            </a:pPr>
            <a:r>
              <a:t>  •  Cloud Computing: homogeneous, single-domain, utility-based provisioning with SLAs (e.g., AWS, Azure).</a:t>
            </a:r>
          </a:p>
          <a:p>
            <a:pPr>
              <a:spcAft>
                <a:spcPts val="1000"/>
              </a:spcAft>
              <a:defRPr sz="2200">
                <a:solidFill>
                  <a:srgbClr val="94A3B8"/>
                </a:solidFill>
              </a:defRPr>
            </a:pPr>
            <a:r>
              <a:t>  •  Grid emphasizes solving large-scale problems; Cloud emphasizes scalable, standard environments for development and deployment.</a:t>
            </a:r>
          </a:p>
          <a:p>
            <a:pPr>
              <a:spcAft>
                <a:spcPts val="1000"/>
              </a:spcAft>
              <a:defRPr sz="2200">
                <a:solidFill>
                  <a:srgbClr val="94A3B8"/>
                </a:solidFill>
              </a:defRPr>
            </a:pPr>
            <a:r>
              <a:t>  •  Grid uses utility computing for resource negotiation; Cloud uses simple user→provider models with pay-per-use.</a:t>
            </a:r>
          </a:p>
        </p:txBody>
      </p:sp>
      <p:graphicFrame>
        <p:nvGraphicFramePr>
          <p:cNvPr id="5" name="Table 4"/>
          <p:cNvGraphicFramePr>
            <a:graphicFrameLocks noGrp="1"/>
          </p:cNvGraphicFramePr>
          <p:nvPr/>
        </p:nvGraphicFramePr>
        <p:xfrm>
          <a:off x="731520" y="3474720"/>
          <a:ext cx="10515600" cy="1828800"/>
        </p:xfrm>
        <a:graphic>
          <a:graphicData uri="http://schemas.openxmlformats.org/drawingml/2006/table">
            <a:tbl>
              <a:tblPr firstRow="1" bandRow="1">
                <a:tableStyleId>{5C22544A-7EE6-4342-B048-85BDC9FD1C3A}</a:tableStyleId>
              </a:tblPr>
              <a:tblGrid>
                <a:gridCol w="3505200"/>
                <a:gridCol w="3505200"/>
                <a:gridCol w="3505200"/>
              </a:tblGrid>
              <a:tr h="365760">
                <a:tc>
                  <a:txBody>
                    <a:bodyPr/>
                    <a:lstStyle/>
                    <a:p>
                      <a:pPr>
                        <a:defRPr sz="1400"/>
                      </a:pPr>
                      <a:r>
                        <a:t>Feature</a:t>
                      </a:r>
                    </a:p>
                  </a:txBody>
                  <a:tcPr/>
                </a:tc>
                <a:tc>
                  <a:txBody>
                    <a:bodyPr/>
                    <a:lstStyle/>
                    <a:p>
                      <a:pPr>
                        <a:defRPr sz="1400"/>
                      </a:pPr>
                      <a:r>
                        <a:t>Grid Computing</a:t>
                      </a:r>
                    </a:p>
                  </a:txBody>
                  <a:tcPr/>
                </a:tc>
                <a:tc>
                  <a:txBody>
                    <a:bodyPr/>
                    <a:lstStyle/>
                    <a:p>
                      <a:pPr>
                        <a:defRPr sz="1400"/>
                      </a:pPr>
                      <a:r>
                        <a:t>Cloud Computing</a:t>
                      </a:r>
                    </a:p>
                  </a:txBody>
                  <a:tcPr/>
                </a:tc>
              </a:tr>
              <a:tr h="365760">
                <a:tc>
                  <a:txBody>
                    <a:bodyPr/>
                    <a:lstStyle/>
                    <a:p>
                      <a:pPr>
                        <a:defRPr sz="1400"/>
                      </a:pPr>
                      <a:r>
                        <a:t>Heterogeneity</a:t>
                      </a:r>
                    </a:p>
                  </a:txBody>
                  <a:tcPr/>
                </a:tc>
                <a:tc>
                  <a:txBody>
                    <a:bodyPr/>
                    <a:lstStyle/>
                    <a:p>
                      <a:pPr>
                        <a:defRPr sz="1400"/>
                      </a:pPr>
                      <a:r>
                        <a:t>High (mixed OS/hardware)</a:t>
                      </a:r>
                    </a:p>
                  </a:txBody>
                  <a:tcPr/>
                </a:tc>
                <a:tc>
                  <a:txBody>
                    <a:bodyPr/>
                    <a:lstStyle/>
                    <a:p>
                      <a:pPr>
                        <a:defRPr sz="1400"/>
                      </a:pPr>
                      <a:r>
                        <a:t>Low (homogeneous infrastructure)</a:t>
                      </a:r>
                    </a:p>
                  </a:txBody>
                  <a:tcPr/>
                </a:tc>
              </a:tr>
              <a:tr h="365760">
                <a:tc>
                  <a:txBody>
                    <a:bodyPr/>
                    <a:lstStyle/>
                    <a:p>
                      <a:pPr>
                        <a:defRPr sz="1400"/>
                      </a:pPr>
                      <a:r>
                        <a:t>Resource Management</a:t>
                      </a:r>
                    </a:p>
                  </a:txBody>
                  <a:tcPr/>
                </a:tc>
                <a:tc>
                  <a:txBody>
                    <a:bodyPr/>
                    <a:lstStyle/>
                    <a:p>
                      <a:pPr>
                        <a:defRPr sz="1400"/>
                      </a:pPr>
                      <a:r>
                        <a:t>Decentralized, autonomous nodes</a:t>
                      </a:r>
                    </a:p>
                  </a:txBody>
                  <a:tcPr/>
                </a:tc>
                <a:tc>
                  <a:txBody>
                    <a:bodyPr/>
                    <a:lstStyle/>
                    <a:p>
                      <a:pPr>
                        <a:defRPr sz="1400"/>
                      </a:pPr>
                      <a:r>
                        <a:t>Centralized or orchestrated</a:t>
                      </a:r>
                    </a:p>
                  </a:txBody>
                  <a:tcPr/>
                </a:tc>
              </a:tr>
              <a:tr h="365760">
                <a:tc>
                  <a:txBody>
                    <a:bodyPr/>
                    <a:lstStyle/>
                    <a:p>
                      <a:pPr>
                        <a:defRPr sz="1400"/>
                      </a:pPr>
                      <a:r>
                        <a:t>Use Case</a:t>
                      </a:r>
                    </a:p>
                  </a:txBody>
                  <a:tcPr/>
                </a:tc>
                <a:tc>
                  <a:txBody>
                    <a:bodyPr/>
                    <a:lstStyle/>
                    <a:p>
                      <a:pPr>
                        <a:defRPr sz="1400"/>
                      </a:pPr>
                      <a:r>
                        <a:t>Scientific, compute-intensive</a:t>
                      </a:r>
                    </a:p>
                  </a:txBody>
                  <a:tcPr/>
                </a:tc>
                <a:tc>
                  <a:txBody>
                    <a:bodyPr/>
                    <a:lstStyle/>
                    <a:p>
                      <a:pPr>
                        <a:defRPr sz="1400"/>
                      </a:pPr>
                      <a:r>
                        <a:t>Web apps, enterprise IT</a:t>
                      </a:r>
                    </a:p>
                  </a:txBody>
                  <a:tcPr/>
                </a:tc>
              </a:tr>
              <a:tr h="365760">
                <a:tc>
                  <a:txBody>
                    <a:bodyPr/>
                    <a:lstStyle/>
                    <a:p>
                      <a:pPr>
                        <a:defRPr sz="1400"/>
                      </a:pPr>
                      <a:r>
                        <a:t>Billing</a:t>
                      </a:r>
                    </a:p>
                  </a:txBody>
                  <a:tcPr/>
                </a:tc>
                <a:tc>
                  <a:txBody>
                    <a:bodyPr/>
                    <a:lstStyle/>
                    <a:p>
                      <a:pPr>
                        <a:defRPr sz="1400"/>
                      </a:pPr>
                      <a:r>
                        <a:t>Negotiated, complex</a:t>
                      </a:r>
                    </a:p>
                  </a:txBody>
                  <a:tcPr/>
                </a:tc>
                <a:tc>
                  <a:txBody>
                    <a:bodyPr/>
                    <a:lstStyle/>
                    <a:p>
                      <a:pPr>
                        <a:defRPr sz="1400"/>
                      </a:pPr>
                      <a:r>
                        <a:t>Simple pay-per-use</a:t>
                      </a:r>
                    </a:p>
                  </a:txBody>
                  <a:tcPr/>
                </a:tc>
              </a:tr>
            </a:tbl>
          </a:graphicData>
        </a:graphic>
      </p:graphicFrame>
      <p:sp>
        <p:nvSpPr>
          <p:cNvPr id="6" name="TextBox 5"/>
          <p:cNvSpPr txBox="1"/>
          <p:nvPr/>
        </p:nvSpPr>
        <p:spPr>
          <a:xfrm>
            <a:off x="731520" y="5577840"/>
            <a:ext cx="10515600" cy="1097280"/>
          </a:xfrm>
          <a:prstGeom prst="rect">
            <a:avLst/>
          </a:prstGeom>
          <a:noFill/>
        </p:spPr>
        <p:txBody>
          <a:bodyPr wrap="none">
            <a:spAutoFit/>
          </a:bodyPr>
          <a:lstStyle/>
          <a:p>
            <a:pPr>
              <a:defRPr sz="1800" i="1">
                <a:solidFill>
                  <a:srgbClr val="94A3B8"/>
                </a:solidFill>
              </a:defRPr>
            </a:pPr>
            <a:r>
              <a:t>Visual suggested: Split comparison: left side shows global grid of computers with arrows and 'Science' label; right side shows centralized data center with cloud icon and 'Enterprise' label. Dark background, contrasting colors.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548640" y="1188720"/>
            <a:ext cx="2743200" cy="45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822960"/>
          </a:xfrm>
          <a:prstGeom prst="rect">
            <a:avLst/>
          </a:prstGeom>
          <a:noFill/>
        </p:spPr>
        <p:txBody>
          <a:bodyPr wrap="square">
            <a:spAutoFit/>
          </a:bodyPr>
          <a:lstStyle/>
          <a:p>
            <a:pPr>
              <a:defRPr sz="4400" b="1">
                <a:solidFill>
                  <a:srgbClr val="F1F5F9"/>
                </a:solidFill>
              </a:defRPr>
            </a:pPr>
            <a:r>
              <a:t>Advantages and Disadvantages of Cloud Computing</a:t>
            </a:r>
          </a:p>
        </p:txBody>
      </p:sp>
      <p:sp>
        <p:nvSpPr>
          <p:cNvPr id="4" name="TextBox 3"/>
          <p:cNvSpPr txBox="1"/>
          <p:nvPr/>
        </p:nvSpPr>
        <p:spPr>
          <a:xfrm>
            <a:off x="731520" y="1463040"/>
            <a:ext cx="10515600" cy="1828800"/>
          </a:xfrm>
          <a:prstGeom prst="rect">
            <a:avLst/>
          </a:prstGeom>
          <a:noFill/>
        </p:spPr>
        <p:txBody>
          <a:bodyPr wrap="square">
            <a:spAutoFit/>
          </a:bodyPr>
          <a:lstStyle/>
          <a:p>
            <a:pPr>
              <a:spcAft>
                <a:spcPts val="1000"/>
              </a:spcAft>
              <a:defRPr sz="2200">
                <a:solidFill>
                  <a:srgbClr val="94A3B8"/>
                </a:solidFill>
              </a:defRPr>
            </a:pPr>
            <a:r>
              <a:t>  •  Advantages: lower costs, reduced software licensing, improved performance, unlimited storage, universal access, automatic updates, and enhanced reliability.</a:t>
            </a:r>
          </a:p>
          <a:p>
            <a:pPr>
              <a:spcAft>
                <a:spcPts val="1000"/>
              </a:spcAft>
              <a:defRPr sz="2200">
                <a:solidFill>
                  <a:srgbClr val="94A3B8"/>
                </a:solidFill>
              </a:defRPr>
            </a:pPr>
            <a:r>
              <a:t>  •  Disadvantages: requires constant internet, may be slow, stored data may be insecure, potential vendor lock-in, and limited feature sets compared to desktop apps.</a:t>
            </a:r>
          </a:p>
          <a:p>
            <a:pPr>
              <a:spcAft>
                <a:spcPts val="1000"/>
              </a:spcAft>
              <a:defRPr sz="2200">
                <a:solidFill>
                  <a:srgbClr val="94A3B8"/>
                </a:solidFill>
              </a:defRPr>
            </a:pPr>
            <a:r>
              <a:t>  •  IaaS advantages: no hardware investment, utility-style costing, scalability, location independence, and no single point of failure.</a:t>
            </a:r>
          </a:p>
          <a:p>
            <a:pPr>
              <a:spcAft>
                <a:spcPts val="1000"/>
              </a:spcAft>
              <a:defRPr sz="2200">
                <a:solidFill>
                  <a:srgbClr val="94A3B8"/>
                </a:solidFill>
              </a:defRPr>
            </a:pPr>
            <a:r>
              <a:t>  •  IaaS disadvantages: hardware/software constraints, legal issues with data location, security gaps, and latency for high-speed interactions.</a:t>
            </a:r>
          </a:p>
        </p:txBody>
      </p:sp>
      <p:sp>
        <p:nvSpPr>
          <p:cNvPr id="5" name="TextBox 4"/>
          <p:cNvSpPr txBox="1"/>
          <p:nvPr/>
        </p:nvSpPr>
        <p:spPr>
          <a:xfrm>
            <a:off x="731520" y="3474720"/>
            <a:ext cx="10515600" cy="1097280"/>
          </a:xfrm>
          <a:prstGeom prst="rect">
            <a:avLst/>
          </a:prstGeom>
          <a:noFill/>
        </p:spPr>
        <p:txBody>
          <a:bodyPr wrap="none">
            <a:spAutoFit/>
          </a:bodyPr>
          <a:lstStyle/>
          <a:p>
            <a:pPr>
              <a:defRPr sz="1800" i="1">
                <a:solidFill>
                  <a:srgbClr val="94A3B8"/>
                </a:solidFill>
              </a:defRPr>
            </a:pPr>
            <a:r>
              <a:t>Visual suggested: Two-panel scale: left 'Advantages' (checkmarks: cost, scale, reliability); right 'Disadvantages' (warning icons: internet dependency, security, lock-in). Dark background, balanced composition.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