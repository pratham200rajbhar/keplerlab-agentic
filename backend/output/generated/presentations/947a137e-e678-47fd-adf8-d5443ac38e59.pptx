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6EDF3"/>
                </a:solidFill>
              </a:defRPr>
            </a:pPr>
            <a:r>
              <a:t>Distributed Systems: Core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58A6FF"/>
                </a:solidFill>
              </a:defRPr>
            </a:pPr>
            <a:r>
              <a:t>Transparency, Openness, and Heterogeneity Masking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A distributed system is one on which I cannot get any work done because some machine I have never heard of crashed.</a:t>
            </a:r>
          </a:p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Desired properties: Transparency, Openness, Scalability, Enhanced Availability, Concurrency, Independent failures, Heterogeneity.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B949E"/>
                </a:solidFill>
              </a:defRPr>
            </a:pPr>
            <a:r>
              <a:t>Distributed systems must abstract away underlying complexity to enable seamless interaction across heterogeneous environments.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6EDF3"/>
                </a:solidFill>
              </a:defRPr>
            </a:pPr>
            <a:r>
              <a:t>Transparency in Distributed Systems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Transparency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 differences in data representation and how a resource is accessed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 where a resource is located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 that a resource may move to another location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 that a resource is replicated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 that a resource may be shared by several competitive users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 the failure and recovery of a resource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97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949E"/>
                </a:solidFill>
              </a:defRPr>
            </a:pPr>
            <a:r>
              <a:t>Visual suggested: A layered diagram showing a user interface overlaying transparent layers labeled 'Access', 'Location', 'Migration', 'Replication', 'Concurrency', and 'Failure'—each layer obscuring the underlying infrastructure beneath, with arrows indicating seamless access from top to bottom.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6EDF3"/>
                </a:solidFill>
              </a:defRPr>
            </a:pPr>
            <a:r>
              <a:t>Heterogeneity Masking via Middleware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Middleware frameworks mask heterogeneity of networks and hardware.</a:t>
            </a:r>
          </a:p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Most also mask heterogeneity of operating systems or programming languages, or both.</a:t>
            </a:r>
          </a:p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CORBA and similar frameworks mask heterogeneity among vendor implementations of the same middleware standard.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B949E"/>
                </a:solidFill>
              </a:defRPr>
            </a:pPr>
            <a:r>
              <a:t>Middleware ensures that distributed systems remain independent of underlying hardware, platforms, and programming languages.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6EDF3"/>
                </a:solidFill>
              </a:defRPr>
            </a:pPr>
            <a:r>
              <a:t>Openness and Interoperability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Systems should conform to well-defined interfaces.</a:t>
            </a:r>
          </a:p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Systems should support portability of applications.</a:t>
            </a:r>
          </a:p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Systems should easily interoperate with services from other open systems, irrespective of the underlying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949E"/>
                </a:solidFill>
              </a:defRPr>
            </a:pPr>
            <a:r>
              <a:t>Visual suggested: Three distinct computing platforms—Linux server, Windows workstation, and macOS laptop—connected via standardized API endpoints, with arrows labeled 'Well-defined Interface', 'Portability', and 'Interoperability' bridging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6EDF3"/>
                </a:solidFill>
              </a:defRPr>
            </a:pPr>
            <a:r>
              <a:t>XML vs. HTML: Structural and Functional Differences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HTML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Extensible—user-defined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Fixed—pre-determined and rigid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Transport and store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Display data and describe appearance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Orientation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Content-oriented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Presentation-oriented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Supports DTD and XML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 built-in validation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Data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Supports custom and predefined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 data typing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931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B949E"/>
                </a:solidFill>
              </a:defRPr>
            </a:pPr>
            <a:r>
              <a:t>XML is designed for data transport and storage with rich validation; HTML is designed for human-readable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6EDF3"/>
                </a:solidFill>
              </a:defRPr>
            </a:pPr>
            <a:r>
              <a:t>XML Schema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XML Schema is itself an XML document.</a:t>
            </a:r>
          </a:p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Supports predefined simple types (integers, booleans, dateTime) and user-defined complex types.</a:t>
            </a:r>
          </a:p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Provides validation capabilities including restrictions on types.</a:t>
            </a:r>
          </a:p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Alternative to DTD with added functionality and richer data typing.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B949E"/>
                </a:solidFill>
              </a:defRPr>
            </a:pPr>
            <a:r>
              <a:t>XML Schema enables robust, type-safe validation of XML instances, unlike DTD.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6EDF3"/>
                </a:solidFill>
              </a:defRPr>
            </a:pPr>
            <a:r>
              <a:t>XML Processing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SAX (Simple API for XML): Event-based parsing.</a:t>
            </a:r>
          </a:p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DOM (Document Object Model): Loads XML into memory as a tree structure.</a:t>
            </a:r>
          </a:p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Python implements these via the PyXML 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949E"/>
                </a:solidFill>
              </a:defRPr>
            </a:pPr>
            <a:r>
              <a:t>Visual suggested: Side-by-side visual: on the left, a scrolling stream of XML tokens triggering event handlers (SAX); on the right, a hierarchical tree of nodes representing the XML document (DOM).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6EDF3"/>
                </a:solidFill>
              </a:defRPr>
            </a:pPr>
            <a:r>
              <a:t>Web Services Stack: WSDL, SOAP, and Binding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Example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WSDL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Describes available operations and message formats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&lt;portType name="Hello_PortType"&gt;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SOAP Binding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Maps WSDL operations to transport protocols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&lt;soap:binding style="rpc" transport="http://schemas.xmlsoap.org/soap/http"/&gt;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SOAP Envelope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Encodes messages for 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&lt;SOAP-ENV:Envelope xmlns:SOAP-ENV="http://schemas.xmlsoap.org/soap/envelope/"&gt;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B949E"/>
                </a:solidFill>
              </a:defRPr>
            </a:pPr>
            <a:r>
              <a:t>WSDL defines service contracts; SOAP bindings and envelopes enable platform-independent remote procedure calls.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6EDF3"/>
                </a:solidFill>
              </a:defRPr>
            </a:pPr>
            <a:r>
              <a:t>Remote vs. Local Procedure Calls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Local RPC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Remote RPC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Same process address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Different processes, possibly on different machines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Direct function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Through stubs and network communication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Stubs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One stub per process for marshaling/unmarshaling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949E"/>
                </a:solidFill>
              </a:defRPr>
            </a:pPr>
            <a:r>
              <a:t>Visual suggested: Two diagrams: left side shows two functions in the same memory space calling each other directly; right side shows two processes on separate machines, each with a stub, connected by a network link labeled 'transport stubs'.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6EDF3"/>
                </a:solidFill>
              </a:defRPr>
            </a:pPr>
            <a:r>
              <a:t>Middleware Examples and Grid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CORBA: Common Object Request Broker Architecture.</a:t>
            </a:r>
          </a:p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DCOM: Distributed Component Object Model.</a:t>
            </a:r>
          </a:p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Grid Computing: Uses loosely coupled, heterogeneous, geographically dispersed clusters.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B949E"/>
                </a:solidFill>
              </a:defRPr>
            </a:pPr>
            <a:r>
              <a:t>Middleware frameworks like CORBA and DCOM abstract platform and language differences; Grid Computing extends this across distributed, heterogeneous infrastructures.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6EDF3"/>
                </a:solidFill>
              </a:defRPr>
            </a:pPr>
            <a:r>
              <a:t>Virtualization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Enables abstraction of underlying hardware and OS.</a:t>
            </a:r>
          </a:p>
          <a:p>
            <a:pPr>
              <a:spcAft>
                <a:spcPts val="1000"/>
              </a:spcAft>
              <a:defRPr sz="2200">
                <a:solidFill>
                  <a:srgbClr val="8B949E"/>
                </a:solidFill>
              </a:defRPr>
            </a:pPr>
            <a:r>
              <a:t>  •  Disadvantage: Requires modification of guest OS kernel to communicate with hypervisor.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949E"/>
                </a:solidFill>
              </a:defRPr>
            </a:pPr>
            <a:r>
              <a:t>Visual suggested: A layered architecture: physical hardware at bottom, hypervisor in middle, two virtual machines on top—one with a modified kernel (highlighted in red), one with standard kernel (grayed out), with annotations indicating kernel modification overhead.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