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F1F5F9"/>
                </a:solidFill>
                <a:latin typeface="Inter"/>
              </a:defRPr>
            </a:pPr>
            <a:r>
              <a:t>Infrastructure as a Service (IaaS)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38BDF8"/>
                </a:solidFill>
                <a:latin typeface="Inter"/>
              </a:defRPr>
            </a:pPr>
            <a:r>
              <a:t>Virtualized Computing Resources on Demand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0" i="1">
                <a:solidFill>
                  <a:srgbClr val="F1F5F9"/>
                </a:solidFill>
                <a:latin typeface="Inter"/>
              </a:defRPr>
            </a:pPr>
            <a:r>
              <a:t>All cloud computing services provide access to computing resources in a virtualized environment, 'the Cloud', across a public connection, usually the internet.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78608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F1F5F9"/>
                </a:solidFill>
                <a:latin typeface="Inter"/>
              </a:defRPr>
            </a:pPr>
            <a:r>
              <a:t>IaaS delivers virtualized hardware—virtual machines, storage, networking—over the internet or private networks.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36976"/>
            <a:ext cx="1109441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F1F5F9"/>
                </a:solidFill>
                <a:latin typeface="Inter"/>
              </a:defRPr>
            </a:pPr>
            <a:r>
              <a:t>IaaS enables users to access computing infrastructure as if they owned it, while the provider manages physical hardware in data centers.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F1F5F9"/>
                </a:solidFill>
                <a:latin typeface="Inter"/>
              </a:defRPr>
            </a:pPr>
            <a:r>
              <a:t>Core Characteristics of IaaS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9846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F1F5F9"/>
                </a:solidFill>
                <a:latin typeface="Inter"/>
              </a:defRPr>
            </a:pPr>
            <a:r>
              <a:t>• Self-service provisioning: Users independently request and deploy resources without IT intervention.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29384"/>
            <a:ext cx="109846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F1F5F9"/>
                </a:solidFill>
                <a:latin typeface="Inter"/>
              </a:defRPr>
            </a:pPr>
            <a:r>
              <a:t>• Virtualization: All infrastructure components (CPU, memory, storage, networking) are abstracted and pooled.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32888"/>
            <a:ext cx="109846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F1F5F9"/>
                </a:solidFill>
                <a:latin typeface="Inter"/>
              </a:defRPr>
            </a:pPr>
            <a:r>
              <a:t>• Dynamic scaling: Resources automatically scale up or down based on demand.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36392"/>
            <a:ext cx="109846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F1F5F9"/>
                </a:solidFill>
                <a:latin typeface="Inter"/>
              </a:defRPr>
            </a:pPr>
            <a:r>
              <a:t>• Metered usage: Customers pay only for consumed resources—CPU, memory, storage—measured per instance-hour.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39896"/>
            <a:ext cx="11094415" cy="2377440"/>
          </a:xfrm>
          <a:prstGeom prst="roundRect">
            <a:avLst/>
          </a:prstGeom>
          <a:solidFill>
            <a:srgbClr val="F7F9FC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 i="1">
                <a:solidFill>
                  <a:srgbClr val="F1F5F9"/>
                </a:solidFill>
                <a:latin typeface="Inter"/>
              </a:defRPr>
            </a:pPr>
            <a:r>
              <a:t>A diagram showing a user clicking a self-service portal to provision a VM, which is then dynamically scaled and metered in real time, with icons for CPU, RAM, storage, and billing metrics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F1F5F9"/>
                </a:solidFill>
                <a:latin typeface="Inter"/>
              </a:defRPr>
            </a:pPr>
            <a:r>
              <a:t>Self-Service as a Business Enabler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859536"/>
          </a:xfrm>
          <a:prstGeom prst="roundRect">
            <a:avLst/>
          </a:prstGeom>
          <a:solidFill>
            <a:srgbClr val="F5F7F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0" i="1">
                <a:solidFill>
                  <a:srgbClr val="F1F5F9"/>
                </a:solidFill>
                <a:latin typeface="Inter"/>
              </a:defRPr>
            </a:pPr>
            <a:r>
              <a:t>The banking ATM service is a great example of the business value of self service. Without the availability of the self-service ATM, banks would be required to use costly resources to manage activities of all their customers—even for the most repetitive tasks.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13432"/>
            <a:ext cx="1109441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F1F5F9"/>
                </a:solidFill>
                <a:latin typeface="Inter"/>
              </a:defRPr>
            </a:pPr>
            <a:r>
              <a:t>Self-service in IaaS mirrors this: users make direct requests for routine infrastructure tasks, conforming to predefined business rules, eliminating manual overhead.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136392"/>
            <a:ext cx="109846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F1F5F9"/>
                </a:solidFill>
                <a:latin typeface="Inter"/>
              </a:defRPr>
            </a:pPr>
            <a:r>
              <a:t>• Users bypass IT bottlenecks for VM provisioning, storage allocation, and network configuration.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739896"/>
            <a:ext cx="109846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F1F5F9"/>
                </a:solidFill>
                <a:latin typeface="Inter"/>
              </a:defRPr>
            </a:pPr>
            <a:r>
              <a:t>• Reduces operational cost and accelerates time-to-service.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343400"/>
            <a:ext cx="11094415" cy="365760"/>
          </a:xfrm>
          <a:prstGeom prst="roundRect">
            <a:avLst/>
          </a:prstGeom>
          <a:solidFill>
            <a:srgbClr val="F5F7F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F1F5F9"/>
                </a:solidFill>
                <a:latin typeface="Inter"/>
              </a:defRPr>
            </a:pPr>
            <a:r>
              <a:t>Self-service is imperative—not optional—in IaaS design and user experience.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F1F5F9"/>
                </a:solidFill>
                <a:latin typeface="Inter"/>
              </a:defRPr>
            </a:pPr>
            <a:r>
              <a:t>Hybrid Cloud &amp; Cloud Bursting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F1F5F9"/>
                </a:solidFill>
                <a:latin typeface="Inter"/>
              </a:defRPr>
            </a:pPr>
            <a:r>
              <a:t>Hybrid cloud combines private/internal and external cloud resources to optimize flexibility and resource allocation.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84248"/>
            <a:ext cx="109846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F1F5F9"/>
                </a:solidFill>
                <a:latin typeface="Inter"/>
              </a:defRPr>
            </a:pPr>
            <a:r>
              <a:t>• Private clouds: Internal infrastructure behind firewall, used for sensitive data and day-to-day operations.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87752"/>
            <a:ext cx="109846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F1F5F9"/>
                </a:solidFill>
                <a:latin typeface="Inter"/>
              </a:defRPr>
            </a:pPr>
            <a:r>
              <a:t>• Public clouds: External providers offering scalable, on-demand infrastructure.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91256"/>
            <a:ext cx="109846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F1F5F9"/>
                </a:solidFill>
                <a:latin typeface="Inter"/>
              </a:defRPr>
            </a:pPr>
            <a:r>
              <a:t>• Cloud bursting: Offloading workloads to public cloud during demand spikes, releasing resources when demand drops.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794760"/>
          <a:ext cx="11094412" cy="1408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3"/>
              </a:tblGrid>
              <a:tr h="469392"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Control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Scalability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</a:tr>
              <a:tr h="469392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F1F5F9"/>
                          </a:solidFill>
                          <a:latin typeface="Inter"/>
                        </a:defRPr>
                      </a:pPr>
                      <a:r>
                        <a:t>Private Cloud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F1F5F9"/>
                          </a:solidFill>
                          <a:latin typeface="Inter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F1F5F9"/>
                          </a:solidFill>
                          <a:latin typeface="Inter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F1F5F9"/>
                          </a:solidFill>
                          <a:latin typeface="Inter"/>
                        </a:defRPr>
                      </a:pPr>
                      <a:r>
                        <a:t>Regulated data, internal apps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469392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F1F5F9"/>
                          </a:solidFill>
                          <a:latin typeface="Inter"/>
                        </a:defRPr>
                      </a:pPr>
                      <a:r>
                        <a:t>Hybrid Cloud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F1F5F9"/>
                          </a:solidFill>
                          <a:latin typeface="Inter"/>
                        </a:defRPr>
                      </a:pPr>
                      <a:r>
                        <a:t>Balanced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F1F5F9"/>
                          </a:solidFill>
                          <a:latin typeface="Inter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F1F5F9"/>
                          </a:solidFill>
                          <a:latin typeface="Inter"/>
                        </a:defRPr>
                      </a:pPr>
                      <a:r>
                        <a:t>Bursting, disaster recovery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F1F5F9"/>
                </a:solidFill>
                <a:latin typeface="Inter"/>
              </a:defRPr>
            </a:pPr>
            <a:r>
              <a:t>Hybrid Cloud &amp; Cloud Bursting (cont.)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2377440"/>
          </a:xfrm>
          <a:prstGeom prst="roundRect">
            <a:avLst/>
          </a:prstGeom>
          <a:solidFill>
            <a:srgbClr val="F7F9FC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 i="1">
                <a:solidFill>
                  <a:srgbClr val="F1F5F9"/>
                </a:solidFill>
                <a:latin typeface="Inter"/>
              </a:defRPr>
            </a:pPr>
            <a:r>
              <a:t>A split-screen visual: left side shows a secure data center behind a firewall labeled 'Private Cloud'; right side shows a public cloud icon with arrows flowing into it labeled 'Cloud Bursting'; a central dashboard shows workload balancing between both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F1F5F9"/>
                </a:solidFill>
                <a:latin typeface="Inter"/>
              </a:defRPr>
            </a:pPr>
            <a:r>
              <a:t>Virtualization &amp; VM Lifecycle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F1F5F9"/>
                </a:solidFill>
                <a:latin typeface="Inter"/>
              </a:defRPr>
            </a:pPr>
            <a:r>
              <a:t>Virtualization enables infrastructure abstraction, allowing VMs to be managed as portable data files—facilitating migration, automation, and optimization.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84248"/>
            <a:ext cx="109846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F1F5F9"/>
                </a:solidFill>
                <a:latin typeface="Inter"/>
              </a:defRPr>
            </a:pPr>
            <a:r>
              <a:t>1. VM request → IT reviews resource pool → provisioning begins.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87752"/>
            <a:ext cx="109846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F1F5F9"/>
                </a:solidFill>
                <a:latin typeface="Inter"/>
              </a:defRPr>
            </a:pPr>
            <a:r>
              <a:t>1. VM provisioned and started → service delivered per SLA.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91256"/>
            <a:ext cx="109846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F1F5F9"/>
                </a:solidFill>
                <a:latin typeface="Inter"/>
              </a:defRPr>
            </a:pPr>
            <a:r>
              <a:t>1. VM released after lifecycle ends → resources freed for reuse.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794760"/>
            <a:ext cx="109846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F1F5F9"/>
                </a:solidFill>
                <a:latin typeface="Inter"/>
              </a:defRPr>
            </a:pPr>
            <a:r>
              <a:t>• Live migration: Moves powered-on VMs between hosts in milliseconds—no user impact.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398264"/>
            <a:ext cx="109846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F1F5F9"/>
                </a:solidFill>
                <a:latin typeface="Inter"/>
              </a:defRPr>
            </a:pPr>
            <a:r>
              <a:t>• Use cases: Proactive maintenance, load balancing, zero-downtime updates.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001768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F1F5F9"/>
                </a:solidFill>
                <a:latin typeface="Inter"/>
              </a:defRPr>
            </a:pPr>
            <a:r>
              <a:t>VM migration tools like VMware VMotion and Citrix XenMotion enable seamless mobility.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F1F5F9"/>
                </a:solidFill>
                <a:latin typeface="Inter"/>
              </a:defRPr>
            </a:pPr>
            <a:r>
              <a:t>IaaS Deployment Models &amp; Considerations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4414" cy="1106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8"/>
              </a:tblGrid>
              <a:tr h="553212"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Provider Examples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Private Frameworks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Public Providers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</a:tr>
              <a:tr h="553212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F1F5F9"/>
                          </a:solidFill>
                          <a:latin typeface="Inter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F1F5F9"/>
                          </a:solidFill>
                          <a:latin typeface="Inter"/>
                        </a:defRPr>
                      </a:pPr>
                      <a:r>
                        <a:t>Eucalyptus, OpenNebula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F1F5F9"/>
                          </a:solidFill>
                          <a:latin typeface="Inter"/>
                        </a:defRPr>
                      </a:pPr>
                      <a:r>
                        <a:t>Amazon EC2, others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2578608"/>
            <a:ext cx="109846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F1F5F9"/>
                </a:solidFill>
                <a:latin typeface="Inter"/>
              </a:defRPr>
            </a:pPr>
            <a:r>
              <a:t>• Amazon EC2 supports rapid instance provisioning (minutes), with varied instance sizes: small, large, high-CPU, high-memory.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182112"/>
            <a:ext cx="109846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F1F5F9"/>
                </a:solidFill>
                <a:latin typeface="Inter"/>
              </a:defRPr>
            </a:pPr>
            <a:r>
              <a:t>• Service-level agreements (SLAs) may guarantee 99.999% availability and auto-scaling at &gt;80% utilization.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785615"/>
            <a:ext cx="109846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F1F5F9"/>
                </a:solidFill>
                <a:latin typeface="Inter"/>
              </a:defRPr>
            </a:pPr>
            <a:r>
              <a:t>• Rental model: Users pay for instance-hours (e.g., $0.02–$2.60/hr), not physical hardware.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389120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F1F5F9"/>
                </a:solidFill>
                <a:latin typeface="Inter"/>
              </a:defRPr>
            </a:pPr>
            <a:r>
              <a:t>Private IaaS enables charge-back models—departments billed based on usage (weekly/monthly).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47488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F1F5F9"/>
                </a:solidFill>
                <a:latin typeface="Inter"/>
              </a:defRPr>
            </a:pPr>
            <a:r>
              <a:t>Limitations: Hardware/software specificity, legal restrictions, security gaps, and latency concerns may preclude IaaS adoption.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