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D9488"/>
                </a:solidFill>
              </a:defRPr>
            </a:pPr>
            <a:r>
              <a:t>XML vs HTML: Purpose and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D9488"/>
                </a:solidFill>
              </a:defRPr>
            </a:pPr>
            <a:r>
              <a:t>Foundational Markup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XML: Content-oriented, extensible tags, designed to transport and store data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HTML: Presentation-oriented, fixed tags, designed to display data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XML supports user-defined tags and attributes; HTML uses pre-determined, rigid tag set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XML enables data validation via schemas; HTML lacks native validation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XML serves as a structured data format for machine interpretation, while HTML focuses on visual rendering for human consumption.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F172A"/>
                </a:solidFill>
              </a:defRPr>
            </a:pPr>
            <a:r>
              <a:t>Visual suggested: Side-by-side comparison: left side shows XML document with custom tags like &lt;book&gt;&lt;author&gt;John Doe&lt;/author&gt;&lt;/book&gt;, right side shows HTML with presentation tags like &lt;h1&gt;, &lt;font color='red'&gt;, &lt;br&gt;. Use clean, modern UI styling with labeled arrows pointing to key differences.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D9488"/>
                </a:solidFill>
              </a:defRPr>
            </a:pPr>
            <a:r>
              <a:t>XML Document Structure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D9488"/>
                </a:solidFill>
              </a:defRPr>
            </a:pPr>
            <a:r>
              <a:t>Syntax, Namespaces, and Schema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XML documents begin with an XML declaration (e.g., &lt;?xml version='1.0' encoding='UTF-8'?&gt;)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Namespaces (xmlns) and schemaLocation enable schema-based validation and tag disambiguation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Well-formedness requires proper nesting, closing tags, and escaped special characters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Validation via XSD or DTD ensures data integrity and structural correctness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XML’s extensibility and formal validation mechanisms make it suitable for reliable data exchange in distributed systems.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585216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XML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Tag Flexibility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User-defined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Schema-based (XSD/DTD)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Primary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Data transport/storage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75895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F172A"/>
                </a:solidFill>
              </a:defRPr>
            </a:pPr>
            <a:r>
              <a:t>Visual suggested: Visual of an XML document with highlighted namespace declarations, schemaLocation, and nested elements like &lt;books&gt;&lt;book&gt;&lt;author&gt;John Doe&lt;/author&gt;&lt;/book&gt;&lt;/books&gt;. Include a small inset showing an XSD schema snippet validating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D9488"/>
                </a:solidFill>
              </a:defRPr>
            </a:pPr>
            <a:r>
              <a:t>SOAP Message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D9488"/>
                </a:solidFill>
              </a:defRPr>
            </a:pPr>
            <a:r>
              <a:t>Envelope, Body, and Data Encoding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SOAP messages use an envelope structure with xmlns declarations for namespaces and encoding rules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The &lt;SOAP-ENV:Body&gt; contains the actual request/response payload (e.g., &lt;calculateCarPayment&gt;)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Data types are explicitly declared using xsi:type and xsd: prefixes (e.g., xsi:type='xsd:string')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Encoding style follows SOAP Encoding rules (http://schemas.xmlsoap.org/soap/encoding/)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SOAP ensures interoperability by standardizing how structured data is packaged and transmitted across heterogeneous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F172A"/>
                </a:solidFill>
              </a:defRPr>
            </a:pPr>
            <a:r>
              <a:t>Visual suggested: Hierarchical diagram of a SOAP message: outer envelope labeled 'SOAP-ENV:Envelope', inner 'Body' containing a nested &lt;calculateCarPayment&gt; element with child elements &lt;loanAmount&gt;, &lt;loanTerm&gt;, &lt;loanRate&gt;, each annotated with type attributes.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D9488"/>
                </a:solidFill>
              </a:defRPr>
            </a:pPr>
            <a:r>
              <a:t>Full Virtualization: Principles and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D9488"/>
                </a:solidFill>
              </a:defRPr>
            </a:pPr>
            <a:r>
              <a:t>Hardware Abstraction Without Guest Modification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Full virtualization presents a complete hardware abstraction layer to the guest OS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Uses binary translation for privileged instructions and direct execution for user-level code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No modification required to guest OS or applications—transparent to the guest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Significant overhead due to instruction translation and trap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This approach enables legacy and unmodified operating systems to run on virtualized infrastructure without compatibility concerns.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585216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Full Virtualization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Guest OS Modification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None required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Virtualization Overhead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 (binary translation)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VMware ESX, KVM, Xen HVM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75895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F172A"/>
                </a:solidFill>
              </a:defRPr>
            </a:pPr>
            <a:r>
              <a:t>Visual suggested: Layered architecture diagram: Physical hardware at bottom, hypervisor layer in middle, two virtual machines on top—each running unmodified OS (e.g., Windows, Linux), with arrows showing binary translation between hypervisor and privileged instructions.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D9488"/>
                </a:solidFill>
              </a:defRPr>
            </a:pPr>
            <a:r>
              <a:t>Distributed System Interoperability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D9488"/>
                </a:solidFill>
              </a:defRPr>
            </a:pPr>
            <a:r>
              <a:t>Cross-Platform and Cross-Environment Compatibility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Interoperability spans operating systems, hardware architectures, and communication protocols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Must support heterogeneous programming languages, security models, and data representations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Openness requires independence from underlying hardware, platforms, and language specifics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Middleware standards (CORBA, DCOM, DCE) enable abstraction across these dimensions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Achieving openness ensures distributed systems remain scalable and maintainable despite technological heterogeneity.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F172A"/>
                </a:solidFill>
              </a:defRPr>
            </a:pPr>
            <a:r>
              <a:t>Visual suggested: Network diagram with nodes representing different OS (Linux, Windows), hardware (x86, ARM), languages (Java, C++, Python), and security domains (firewall, LDAP). Arrows labeled 'CORBA', 'DCOM', 'DCE' connect nodes, emphasizing middleware mediation.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