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906000" cy="6858000"/>
  <p:notesSz cx="9906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6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6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5300" y="1079500"/>
            <a:ext cx="8832850" cy="127000"/>
          </a:xfrm>
          <a:custGeom>
            <a:avLst/>
            <a:gdLst/>
            <a:ahLst/>
            <a:cxnLst/>
            <a:rect l="l" t="t" r="r" b="b"/>
            <a:pathLst>
              <a:path w="8832850" h="127000">
                <a:moveTo>
                  <a:pt x="0" y="127000"/>
                </a:moveTo>
                <a:lnTo>
                  <a:pt x="8832850" y="127000"/>
                </a:lnTo>
                <a:lnTo>
                  <a:pt x="883285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566" y="405511"/>
            <a:ext cx="8868867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040" y="1210056"/>
            <a:ext cx="8992235" cy="4694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63300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27541" y="6426936"/>
            <a:ext cx="28765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ervice-architecture.com/articles/cloud-computing/cloud_computing_definition.html" TargetMode="Externa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7617" y="3219069"/>
            <a:ext cx="535051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Infrastructure</a:t>
            </a:r>
            <a:r>
              <a:rPr dirty="0" spc="-6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as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Services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8073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Chapter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outline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85291" y="1432916"/>
            <a:ext cx="3916045" cy="258635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 spc="-2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solidFill>
                  <a:srgbClr val="663300"/>
                </a:solidFill>
                <a:latin typeface="Microsoft Sans Serif"/>
                <a:cs typeface="Microsoft Sans Serif"/>
              </a:rPr>
              <a:t>Characteristics</a:t>
            </a:r>
            <a:r>
              <a:rPr dirty="0" sz="20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20">
                <a:solidFill>
                  <a:srgbClr val="663300"/>
                </a:solidFill>
                <a:latin typeface="Microsoft Sans Serif"/>
                <a:cs typeface="Microsoft Sans Serif"/>
              </a:rPr>
              <a:t> IaaS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solidFill>
                  <a:srgbClr val="663300"/>
                </a:solidFill>
                <a:latin typeface="Microsoft Sans Serif"/>
                <a:cs typeface="Microsoft Sans Serif"/>
              </a:rPr>
              <a:t>Utilization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solidFill>
                  <a:srgbClr val="663300"/>
                </a:solidFill>
                <a:latin typeface="Microsoft Sans Serif"/>
                <a:cs typeface="Microsoft Sans Serif"/>
              </a:rPr>
              <a:t>Benefits</a:t>
            </a:r>
            <a:r>
              <a:rPr dirty="0" sz="20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663300"/>
                </a:solidFill>
                <a:latin typeface="Microsoft Sans Serif"/>
                <a:cs typeface="Microsoft Sans Serif"/>
              </a:rPr>
              <a:t>Futures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solidFill>
                  <a:srgbClr val="663300"/>
                </a:solidFill>
                <a:latin typeface="Microsoft Sans Serif"/>
                <a:cs typeface="Microsoft Sans Serif"/>
              </a:rPr>
              <a:t>Advantages and</a:t>
            </a:r>
            <a:r>
              <a:rPr dirty="0" sz="20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663300"/>
                </a:solidFill>
                <a:latin typeface="Microsoft Sans Serif"/>
                <a:cs typeface="Microsoft Sans Serif"/>
              </a:rPr>
              <a:t>disadvantages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solidFill>
                  <a:srgbClr val="663300"/>
                </a:solidFill>
                <a:latin typeface="Microsoft Sans Serif"/>
                <a:cs typeface="Microsoft Sans Serif"/>
              </a:rPr>
              <a:t>Virtualization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3322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Infrastructure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as a</a:t>
            </a:r>
            <a:r>
              <a:rPr dirty="0" spc="-10" b="1">
                <a:latin typeface="Arial"/>
                <a:cs typeface="Arial"/>
              </a:rPr>
              <a:t> 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701" y="1455800"/>
            <a:ext cx="5416550" cy="467829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460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What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10" b="1">
                <a:latin typeface="Arial"/>
                <a:cs typeface="Arial"/>
              </a:rPr>
              <a:t> IaaS?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0844" y="1461896"/>
            <a:ext cx="8074659" cy="44430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just" marL="355600" marR="5080" indent="-342900">
              <a:lnSpc>
                <a:spcPts val="1939"/>
              </a:lnSpc>
              <a:spcBef>
                <a:spcPts val="34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a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environment,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80">
                <a:solidFill>
                  <a:srgbClr val="663300"/>
                </a:solidFill>
                <a:latin typeface="Microsoft Sans Serif"/>
                <a:cs typeface="Microsoft Sans Serif"/>
              </a:rPr>
              <a:t>―the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Cloud‖,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public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connection,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usually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internet.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6350" indent="-342900">
              <a:lnSpc>
                <a:spcPts val="1939"/>
              </a:lnSpc>
              <a:spcBef>
                <a:spcPts val="10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case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provided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specifically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hardware,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other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words,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endParaRPr sz="1800">
              <a:latin typeface="Microsoft Sans Serif"/>
              <a:cs typeface="Microsoft Sans Serif"/>
            </a:endParaRPr>
          </a:p>
          <a:p>
            <a:pPr marL="355600" marR="8890" indent="-342900">
              <a:lnSpc>
                <a:spcPts val="1939"/>
              </a:lnSpc>
              <a:spcBef>
                <a:spcPts val="1090"/>
              </a:spcBef>
              <a:buFont typeface="Wingdings"/>
              <a:buChar char=""/>
              <a:tabLst>
                <a:tab pos="355600" algn="l"/>
                <a:tab pos="964565" algn="l"/>
                <a:tab pos="1969135" algn="l"/>
                <a:tab pos="2820035" algn="l"/>
                <a:tab pos="3150235" algn="l"/>
                <a:tab pos="4293870" algn="l"/>
                <a:tab pos="4918710" algn="l"/>
                <a:tab pos="5299710" algn="l"/>
                <a:tab pos="6266180" algn="l"/>
                <a:tab pos="7447280" algn="l"/>
              </a:tabLst>
            </a:pP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such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machines,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virtual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machines,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storage.</a:t>
            </a:r>
            <a:endParaRPr sz="18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disk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endParaRPr sz="18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local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area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(VLANs)</a:t>
            </a:r>
            <a:endParaRPr sz="18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Load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balancers</a:t>
            </a:r>
            <a:endParaRPr sz="18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IP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addresses</a:t>
            </a:r>
            <a:endParaRPr sz="18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bundles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5715" indent="-342900">
              <a:lnSpc>
                <a:spcPct val="90100"/>
              </a:lnSpc>
              <a:spcBef>
                <a:spcPts val="107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made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end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via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virtualization.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Moreover,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these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2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accessed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customers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they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own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them.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460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What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10" b="1">
                <a:latin typeface="Arial"/>
                <a:cs typeface="Arial"/>
              </a:rPr>
              <a:t> IaaS?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0844" y="1489328"/>
            <a:ext cx="8072755" cy="153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Physically,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pool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pulled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multitude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usually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distributed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numerous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centers,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all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responsible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maintaining.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client,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other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hand,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given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components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order to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build their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own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platforms.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460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What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10" b="1">
                <a:latin typeface="Arial"/>
                <a:cs typeface="Arial"/>
              </a:rPr>
              <a:t> IaaS?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426" y="1439862"/>
            <a:ext cx="6472174" cy="455990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37691" y="1626870"/>
            <a:ext cx="2905760" cy="249491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Dynamic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Scaling: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Levels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Rental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Model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Licensing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Metering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Costs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Self-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Provisioning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265301"/>
            <a:ext cx="8990330" cy="3674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Dynamic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Scaling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Clr>
                <a:srgbClr val="663300"/>
              </a:buClr>
              <a:buFont typeface="Wingdings"/>
              <a:buChar char=""/>
            </a:pPr>
            <a:endParaRPr sz="1800">
              <a:latin typeface="Arial"/>
              <a:cs typeface="Arial"/>
            </a:endParaRPr>
          </a:p>
          <a:p>
            <a:pPr algn="just" lvl="1" marL="755015" indent="-285115">
              <a:lnSpc>
                <a:spcPct val="100000"/>
              </a:lnSpc>
              <a:buChar char="–"/>
              <a:tabLst>
                <a:tab pos="75501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level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uncertainty always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exists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planning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635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major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benefits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companies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faced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type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uncertainty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fact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3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scaled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3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3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down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based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requirements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application.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715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important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characteristic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called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dynamic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scaling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745">
                <a:solidFill>
                  <a:srgbClr val="663300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customers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wind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needing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more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than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expected,</a:t>
            </a:r>
            <a:r>
              <a:rPr dirty="0" sz="18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they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get</a:t>
            </a:r>
            <a:r>
              <a:rPr dirty="0" sz="18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them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immediately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(probably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given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limit).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creator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typically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optimizes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environment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hardware,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operating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system,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automation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support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huge</a:t>
            </a:r>
            <a:r>
              <a:rPr dirty="0" sz="1800" spc="1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number</a:t>
            </a:r>
            <a:r>
              <a:rPr dirty="0" sz="18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workloads.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265301"/>
            <a:ext cx="8994140" cy="4881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Service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 Levels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Clr>
                <a:srgbClr val="663300"/>
              </a:buClr>
              <a:buFont typeface="Wingdings"/>
              <a:buChar char=""/>
            </a:pPr>
            <a:endParaRPr sz="1800">
              <a:latin typeface="Arial"/>
              <a:cs typeface="Arial"/>
            </a:endParaRPr>
          </a:p>
          <a:p>
            <a:pPr algn="just" lvl="1" marL="754380" marR="9525" indent="-285115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Consumers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acquire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ways.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Many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consumers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rent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based on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on-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contract.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5015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501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other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situations,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consumer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signs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contract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amount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endParaRPr sz="1800">
              <a:latin typeface="Microsoft Sans Serif"/>
              <a:cs typeface="Microsoft Sans Serif"/>
            </a:endParaRPr>
          </a:p>
          <a:p>
            <a:pPr algn="just" marL="75628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 or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compute.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5015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501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typical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contract has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level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guarantee.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At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low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end,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might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simply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state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company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its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best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good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service.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consumers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willing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</a:t>
            </a:r>
            <a:r>
              <a:rPr dirty="0" sz="18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premium</a:t>
            </a:r>
            <a:r>
              <a:rPr dirty="0" sz="18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price,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they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might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get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mirrored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almost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change-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of-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 	interruptions.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6285" marR="8255" indent="-287020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  <a:tab pos="80581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A typical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level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agreement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states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what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has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agreed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deliver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terms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availability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response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demand.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6985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level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might,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specify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available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99.999%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time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more</a:t>
            </a:r>
            <a:r>
              <a:rPr dirty="0" sz="1800" spc="3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3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provided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greater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than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80%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any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given resource is being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used.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52941" y="6410045"/>
            <a:ext cx="223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Microsoft Sans Serif"/>
                <a:cs typeface="Microsoft Sans Serif"/>
              </a:rPr>
              <a:t>10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74040" y="1210056"/>
            <a:ext cx="8992870" cy="51847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The</a:t>
            </a:r>
            <a:r>
              <a:rPr dirty="0" sz="1800" spc="-2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Rental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companies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IaaS,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it’s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often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said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servers,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storage,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other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IT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components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rented for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 fee based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 the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quantity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used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how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long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they’re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use.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Although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true,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important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differences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between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rental arrangement 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traditional rental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may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familiar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with.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3745" marR="5715" indent="-284480">
              <a:lnSpc>
                <a:spcPct val="100000"/>
              </a:lnSpc>
              <a:spcBef>
                <a:spcPts val="430"/>
              </a:spcBef>
              <a:buClr>
                <a:srgbClr val="663300"/>
              </a:buClr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F2F9F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5">
                <a:solidFill>
                  <a:srgbClr val="6F2F9F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F2F9F"/>
                </a:solidFill>
                <a:latin typeface="Microsoft Sans Serif"/>
                <a:cs typeface="Microsoft Sans Serif"/>
              </a:rPr>
              <a:t>example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purchase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using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IaaS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services,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gain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immediate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4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need.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aren’t,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however,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renting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actual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other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infrastructure.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Don’t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expect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big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truck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pull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2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2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office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deliver</a:t>
            </a:r>
            <a:r>
              <a:rPr dirty="0" sz="1800" spc="2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complete</a:t>
            </a:r>
            <a:r>
              <a:rPr dirty="0" sz="1800" spc="3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3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project.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components</a:t>
            </a:r>
            <a:r>
              <a:rPr dirty="0" sz="1800" spc="3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stay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put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provider’s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center.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concept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renting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essential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element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computing,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foundation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cost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scalability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benefits of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various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models.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Within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model,</a:t>
            </a:r>
            <a:r>
              <a:rPr dirty="0" sz="1800" spc="3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renting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takes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800" spc="3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focus.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Although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might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each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resource,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charge-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back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model,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3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allocate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usage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fees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based</a:t>
            </a:r>
            <a:r>
              <a:rPr dirty="0" sz="1800" spc="3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3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usage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over</a:t>
            </a:r>
            <a:r>
              <a:rPr dirty="0" sz="18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a 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week,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month,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year.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Because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flexibility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model,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8005" y="6368897"/>
            <a:ext cx="4317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 more of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budget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heavy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users.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pc="-10" b="1">
                <a:latin typeface="Arial"/>
                <a:cs typeface="Arial"/>
              </a:rPr>
              <a:t>Licensing</a:t>
            </a:r>
          </a:p>
          <a:p>
            <a:pPr algn="just" lvl="1" marL="754380" marR="889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public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led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innovation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licensing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payment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models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want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run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these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environments.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licensing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want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run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cloud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environment,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license between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provider.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715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providers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created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―bring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own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license‖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(BYOL)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plan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way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both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traditional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environments.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6985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Another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option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called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―pay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go‖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(PAYG),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generally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integrates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licenses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 the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on-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6985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22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2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say</a:t>
            </a:r>
            <a:r>
              <a:rPr dirty="0" sz="1800" spc="2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you’re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running</a:t>
            </a:r>
            <a:r>
              <a:rPr dirty="0" sz="1800" spc="22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Microsoft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Windows</a:t>
            </a:r>
            <a:r>
              <a:rPr dirty="0" sz="1800" spc="2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2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using</a:t>
            </a:r>
            <a:r>
              <a:rPr dirty="0" sz="1800" spc="2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PAYG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route.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you’re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paying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ten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cents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hour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access,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few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cents</a:t>
            </a:r>
            <a:r>
              <a:rPr dirty="0" sz="18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 fee might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 going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Microsoft.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210056"/>
            <a:ext cx="8992235" cy="51847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Metering</a:t>
            </a:r>
            <a:r>
              <a:rPr dirty="0" sz="1800" spc="-1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and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Costs</a:t>
            </a:r>
            <a:endParaRPr sz="1800">
              <a:latin typeface="Arial"/>
              <a:cs typeface="Arial"/>
            </a:endParaRPr>
          </a:p>
          <a:p>
            <a:pPr algn="just" lvl="1" marL="754380" marR="635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Clearly,</a:t>
            </a:r>
            <a:r>
              <a:rPr dirty="0" sz="1800" spc="3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derive</a:t>
            </a:r>
            <a:r>
              <a:rPr dirty="0" sz="1800" spc="3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potential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economic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benefit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3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controlling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amount</a:t>
            </a:r>
            <a:r>
              <a:rPr dirty="0" sz="1800" spc="3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</a:t>
            </a:r>
            <a:r>
              <a:rPr dirty="0" sz="1800" spc="25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2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just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right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match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with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requirements.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ensure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users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charged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4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they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request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use,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predictable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way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measure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usage.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called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metering.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3745" marR="5715" indent="-284480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Ideally,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transparent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charges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incurred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user.</a:t>
            </a:r>
            <a:r>
              <a:rPr dirty="0" sz="1800" spc="3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800" spc="3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users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accessing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3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same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environment,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needs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accurate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method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measuring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make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sure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each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charged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right 	amount.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providers</a:t>
            </a:r>
            <a:r>
              <a:rPr dirty="0" sz="1800" spc="3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often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metering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users</a:t>
            </a:r>
            <a:r>
              <a:rPr dirty="0" sz="1800" spc="3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based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consumed.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defined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CPU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power</a:t>
            </a:r>
            <a:r>
              <a:rPr dirty="0" sz="18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memory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space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consumed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hour.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is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initiated,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hourly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begin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accumulate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until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terminated.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charge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very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small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may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little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two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cents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hour;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hourly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fee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could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increase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$2.60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large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intensive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running 	Windows.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Basic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Characteristics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1343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pc="-10" b="1">
                <a:latin typeface="Arial"/>
                <a:cs typeface="Arial"/>
              </a:rPr>
              <a:t>Self-</a:t>
            </a:r>
            <a:r>
              <a:rPr dirty="0" b="1">
                <a:latin typeface="Arial"/>
                <a:cs typeface="Arial"/>
              </a:rPr>
              <a:t>Service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Provisioning</a:t>
            </a:r>
          </a:p>
          <a:p>
            <a:pPr algn="just" lvl="1" marL="755015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501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4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can’t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discuss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key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characteristics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without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endParaRPr sz="1800">
              <a:latin typeface="Microsoft Sans Serif"/>
              <a:cs typeface="Microsoft Sans Serif"/>
            </a:endParaRPr>
          </a:p>
          <a:p>
            <a:pPr algn="just" marL="756285">
              <a:lnSpc>
                <a:spcPct val="100000"/>
              </a:lnSpc>
              <a:spcBef>
                <a:spcPts val="5"/>
              </a:spcBef>
            </a:pPr>
            <a:r>
              <a:rPr dirty="0"/>
              <a:t>imperative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10"/>
              <a:t>self-service.</a:t>
            </a:r>
          </a:p>
          <a:p>
            <a:pPr algn="just" lvl="1" marL="754380" marR="508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banking</a:t>
            </a:r>
            <a:r>
              <a:rPr dirty="0" sz="1800" spc="48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ATM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8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great</a:t>
            </a:r>
            <a:r>
              <a:rPr dirty="0" sz="1800" spc="48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800" spc="48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value</a:t>
            </a:r>
            <a:r>
              <a:rPr dirty="0" sz="1800" spc="4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self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service.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Without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availability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self-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ATM,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banks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would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required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costly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activities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customers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745">
                <a:solidFill>
                  <a:srgbClr val="663300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even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most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repetitive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tasks.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3745" marR="5715" indent="-284480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ATM,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repetitive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tasks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handled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easily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self-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interface.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makes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direct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request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perform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routine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that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conform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predefined business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rules.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6055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How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can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Utilized?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127760"/>
            <a:ext cx="8992235" cy="499237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following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salient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examples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how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utilized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enterprise: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Enterprise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 infrastructure:</a:t>
            </a:r>
            <a:endParaRPr sz="1800">
              <a:latin typeface="Arial"/>
              <a:cs typeface="Arial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0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internal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networks,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such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clouds</a:t>
            </a:r>
            <a:r>
              <a:rPr dirty="0" sz="1800" spc="4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local</a:t>
            </a:r>
            <a:r>
              <a:rPr dirty="0" sz="1800" spc="4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area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networks,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utilize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pooled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networking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a 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run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they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operate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day-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to-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day.</a:t>
            </a:r>
            <a:endParaRPr sz="1800">
              <a:latin typeface="Microsoft Sans Serif"/>
              <a:cs typeface="Microsoft Sans Serif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Expanding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scale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accordance</a:t>
            </a:r>
            <a:r>
              <a:rPr dirty="0" sz="1800" spc="45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their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growth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whilst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clouds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(accessible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only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itself)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protect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transfer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sensitive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required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handle.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Cloud</a:t>
            </a:r>
            <a:r>
              <a:rPr dirty="0" sz="1800" spc="-5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hosting:</a:t>
            </a:r>
            <a:endParaRPr sz="1800">
              <a:latin typeface="Arial"/>
              <a:cs typeface="Arial"/>
            </a:endParaRPr>
          </a:p>
          <a:p>
            <a:pPr lvl="1" marL="756285" marR="42545" indent="-287020">
              <a:lnSpc>
                <a:spcPct val="100000"/>
              </a:lnSpc>
              <a:spcBef>
                <a:spcPts val="434"/>
              </a:spcBef>
              <a:buChar char="–"/>
              <a:tabLst>
                <a:tab pos="75628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hosting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websites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founded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upon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pooled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servers.</a:t>
            </a:r>
            <a:r>
              <a:rPr dirty="0" sz="1800" spc="-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website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hosted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cloud,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benefit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redundancy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provided by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vast network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physical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scalability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deal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unexpected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placed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on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website.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6055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How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IaaS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can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Utilized?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652727"/>
            <a:ext cx="899414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Virtual</a:t>
            </a:r>
            <a:r>
              <a:rPr dirty="0" sz="1800" spc="8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Data</a:t>
            </a:r>
            <a:r>
              <a:rPr dirty="0" sz="1800" spc="6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Centers</a:t>
            </a:r>
            <a:r>
              <a:rPr dirty="0" sz="1800" spc="7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(VDC):</a:t>
            </a:r>
            <a:r>
              <a:rPr dirty="0" sz="1800" spc="80" b="1">
                <a:solidFill>
                  <a:srgbClr val="663300"/>
                </a:solidFill>
                <a:latin typeface="Arial"/>
                <a:cs typeface="Arial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interconnected</a:t>
            </a:r>
            <a:r>
              <a:rPr dirty="0" sz="18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servers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used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offer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enhanced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hosting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capabilities,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IT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integrate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these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within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either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public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implementation.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52941" y="6410045"/>
            <a:ext cx="223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Microsoft Sans Serif"/>
                <a:cs typeface="Microsoft Sans Serif"/>
              </a:rPr>
              <a:t>16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4599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Features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Benefits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74040" y="1390903"/>
            <a:ext cx="8989695" cy="5101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Scalability:</a:t>
            </a:r>
            <a:r>
              <a:rPr dirty="0" sz="1800" spc="31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3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3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needs</a:t>
            </a:r>
            <a:r>
              <a:rPr dirty="0" sz="18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3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and,</a:t>
            </a:r>
            <a:r>
              <a:rPr dirty="0" sz="1800" spc="3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therefore,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delays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expanding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capacity or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wastage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unused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capacity</a:t>
            </a:r>
            <a:endParaRPr sz="1800">
              <a:latin typeface="Microsoft Sans Serif"/>
              <a:cs typeface="Microsoft Sans Serif"/>
            </a:endParaRPr>
          </a:p>
          <a:p>
            <a:pPr marL="355600" marR="6667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No</a:t>
            </a:r>
            <a:r>
              <a:rPr dirty="0" sz="18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investment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in</a:t>
            </a:r>
            <a:r>
              <a:rPr dirty="0" sz="1800" spc="-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hardware:</a:t>
            </a:r>
            <a:r>
              <a:rPr dirty="0" sz="1800" spc="-8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supports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an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set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up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maintained by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provider,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saving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time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cost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doing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 on the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side</a:t>
            </a:r>
            <a:endParaRPr sz="1800">
              <a:latin typeface="Microsoft Sans Serif"/>
              <a:cs typeface="Microsoft Sans Serif"/>
            </a:endParaRPr>
          </a:p>
          <a:p>
            <a:pPr marL="355600" marR="39687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Utility</a:t>
            </a:r>
            <a:r>
              <a:rPr dirty="0" sz="1800" spc="-5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style costing: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 be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accessed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client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only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pays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 that they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actually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endParaRPr sz="1800">
              <a:latin typeface="Microsoft Sans Serif"/>
              <a:cs typeface="Microsoft Sans Serif"/>
            </a:endParaRPr>
          </a:p>
          <a:p>
            <a:pPr marL="355600" marR="9334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Location</a:t>
            </a:r>
            <a:r>
              <a:rPr dirty="0" sz="1800" spc="-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independence:</a:t>
            </a:r>
            <a:r>
              <a:rPr dirty="0" sz="1800" spc="-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usually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accessed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any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as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long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internet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connection 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security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protocol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allows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434340" indent="-34290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Physical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security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data</a:t>
            </a:r>
            <a:r>
              <a:rPr dirty="0" sz="1800" spc="-3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center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locations:</a:t>
            </a:r>
            <a:r>
              <a:rPr dirty="0" sz="1800" spc="-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through a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public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cloud,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externally with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provider,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benefit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the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security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afforded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hosted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within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canter</a:t>
            </a:r>
            <a:endParaRPr sz="1800">
              <a:latin typeface="Microsoft Sans Serif"/>
              <a:cs typeface="Microsoft Sans Serif"/>
            </a:endParaRPr>
          </a:p>
          <a:p>
            <a:pPr marL="355600" marR="10604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  <a:tab pos="473773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No</a:t>
            </a:r>
            <a:r>
              <a:rPr dirty="0" sz="1800" spc="-3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single</a:t>
            </a:r>
            <a:r>
              <a:rPr dirty="0" sz="18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point</a:t>
            </a:r>
            <a:r>
              <a:rPr dirty="0" sz="18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failure: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network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switch,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were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fail,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broader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would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unaffected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due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remaining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multitude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hardware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redundancy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configurations.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For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many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 if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 entire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data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center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were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go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offline,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never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mind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server,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could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still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run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6466738"/>
            <a:ext cx="1299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successfully.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352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Public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Cloud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IaaS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96518" y="1433829"/>
            <a:ext cx="8071484" cy="39547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Public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provisioned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via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publicity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accessible</a:t>
            </a:r>
            <a:r>
              <a:rPr dirty="0" sz="1900" spc="4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Web</a:t>
            </a:r>
            <a:r>
              <a:rPr dirty="0" sz="1900" spc="47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Application/</a:t>
            </a:r>
            <a:r>
              <a:rPr dirty="0" sz="1900" spc="4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Web</a:t>
            </a:r>
            <a:r>
              <a:rPr dirty="0" sz="1900" spc="4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Services(SOAP</a:t>
            </a:r>
            <a:r>
              <a:rPr dirty="0" sz="1900" spc="45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47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RESTful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interfaces)</a:t>
            </a:r>
            <a:r>
              <a:rPr dirty="0" sz="19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off-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side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third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party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providers</a:t>
            </a:r>
            <a:r>
              <a:rPr dirty="0" sz="19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who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shares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bills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fine-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grained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utility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basis,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user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pays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only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for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provisioned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time.</a:t>
            </a:r>
            <a:endParaRPr sz="19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145"/>
              </a:spcBef>
              <a:buFont typeface="Wingdings"/>
              <a:buChar char=""/>
              <a:tabLst>
                <a:tab pos="354965" algn="l"/>
                <a:tab pos="1225550" algn="l"/>
                <a:tab pos="1814195" algn="l"/>
                <a:tab pos="2642870" algn="l"/>
                <a:tab pos="3916045" algn="l"/>
                <a:tab pos="4435475" algn="l"/>
                <a:tab pos="5535930" algn="l"/>
                <a:tab pos="6217285" algn="l"/>
                <a:tab pos="7263130" algn="l"/>
              </a:tabLst>
            </a:pP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many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examples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vendors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who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publicly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endParaRPr sz="19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900" spc="-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endParaRPr sz="19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95"/>
              </a:spcBef>
              <a:buChar char="–"/>
              <a:tabLst>
                <a:tab pos="756285" algn="l"/>
              </a:tabLst>
            </a:pP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Amazon</a:t>
            </a:r>
            <a:r>
              <a:rPr dirty="0" sz="16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Elastic</a:t>
            </a:r>
            <a:r>
              <a:rPr dirty="0" sz="16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Compute</a:t>
            </a:r>
            <a:r>
              <a:rPr dirty="0" sz="16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6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(EC2)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84"/>
              </a:spcBef>
              <a:buChar char="–"/>
              <a:tabLst>
                <a:tab pos="756285" algn="l"/>
              </a:tabLst>
            </a:pP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GoGrid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80"/>
              </a:spcBef>
              <a:buChar char="–"/>
              <a:tabLst>
                <a:tab pos="756285" algn="l"/>
              </a:tabLst>
            </a:pP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Joyent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90"/>
              </a:spcBef>
              <a:buChar char="–"/>
              <a:tabLst>
                <a:tab pos="756285" algn="l"/>
              </a:tabLst>
            </a:pP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Accelerator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80"/>
              </a:spcBef>
              <a:buChar char="–"/>
              <a:tabLst>
                <a:tab pos="756285" algn="l"/>
              </a:tabLst>
            </a:pP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Rackspace</a:t>
            </a:r>
            <a:r>
              <a:rPr dirty="0" sz="16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AppNexus</a:t>
            </a:r>
            <a:r>
              <a:rPr dirty="0" sz="16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FlexiScale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</a:tabLst>
            </a:pP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Manjrasoft</a:t>
            </a:r>
            <a:r>
              <a:rPr dirty="0" sz="16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663300"/>
                </a:solidFill>
                <a:latin typeface="Microsoft Sans Serif"/>
                <a:cs typeface="Microsoft Sans Serif"/>
              </a:rPr>
              <a:t>Aneka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352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Public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Cloud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IaaS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96518" y="1433829"/>
            <a:ext cx="8253730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Amazon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EC2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reduces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time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obtaining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booting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new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server’s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instances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minutes,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thereby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allowing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quick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scalable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resources, up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down,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requirements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change.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Amazon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offers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instances’</a:t>
            </a:r>
            <a:r>
              <a:rPr dirty="0" sz="1800" spc="-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size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according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(a)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resources’</a:t>
            </a:r>
            <a:r>
              <a:rPr dirty="0" sz="18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needs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(small,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large,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extra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large),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698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(b)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high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CPU’s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needs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(medium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extra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large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high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CPU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instances),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(c)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high-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memory</a:t>
            </a:r>
            <a:r>
              <a:rPr dirty="0" sz="1800" spc="3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instances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(extra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large,</a:t>
            </a:r>
            <a:r>
              <a:rPr dirty="0" sz="18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double</a:t>
            </a:r>
            <a:r>
              <a:rPr dirty="0" sz="18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extra</a:t>
            </a:r>
            <a:r>
              <a:rPr dirty="0" sz="1800" spc="3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large,</a:t>
            </a:r>
            <a:r>
              <a:rPr dirty="0" sz="18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quadruple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extra large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instance).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16662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Private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Cloud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IaaS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0844" y="1433322"/>
            <a:ext cx="8293100" cy="428244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spcBef>
                <a:spcPts val="32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aims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providing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public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functionality,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but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private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resources,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while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maintaining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control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over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organization’s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9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meet</a:t>
            </a:r>
            <a:r>
              <a:rPr dirty="0" sz="19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security</a:t>
            </a:r>
            <a:r>
              <a:rPr dirty="0" sz="19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governance’s</a:t>
            </a:r>
            <a:r>
              <a:rPr dirty="0" sz="19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requirements</a:t>
            </a:r>
            <a:r>
              <a:rPr dirty="0" sz="19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an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organization.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exhibits</a:t>
            </a:r>
            <a:r>
              <a:rPr dirty="0" sz="1900" spc="1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highly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9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center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located</a:t>
            </a:r>
            <a:r>
              <a:rPr dirty="0" sz="19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inside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900" spc="-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organization’s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firewall.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indent="-342265">
              <a:lnSpc>
                <a:spcPts val="2165"/>
              </a:lnSpc>
              <a:spcBef>
                <a:spcPts val="91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9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may</a:t>
            </a:r>
            <a:r>
              <a:rPr dirty="0" sz="19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also</a:t>
            </a:r>
            <a:r>
              <a:rPr dirty="0" sz="19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space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dedicated</a:t>
            </a:r>
            <a:r>
              <a:rPr dirty="0" sz="19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9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company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within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endParaRPr sz="1900">
              <a:latin typeface="Microsoft Sans Serif"/>
              <a:cs typeface="Microsoft Sans Serif"/>
            </a:endParaRPr>
          </a:p>
          <a:p>
            <a:pPr algn="just" marL="355600">
              <a:lnSpc>
                <a:spcPts val="2165"/>
              </a:lnSpc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vendor’s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center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handle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organization’s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workloads.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indent="-34226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9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clouds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exhibit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following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characteristics:</a:t>
            </a:r>
            <a:endParaRPr sz="1900">
              <a:latin typeface="Microsoft Sans Serif"/>
              <a:cs typeface="Microsoft Sans Serif"/>
            </a:endParaRPr>
          </a:p>
          <a:p>
            <a:pPr lvl="1" marL="756285" marR="1466850" indent="-287020">
              <a:lnSpc>
                <a:spcPts val="2050"/>
              </a:lnSpc>
              <a:spcBef>
                <a:spcPts val="490"/>
              </a:spcBef>
              <a:buChar char="–"/>
              <a:tabLst>
                <a:tab pos="756285" algn="l"/>
                <a:tab pos="82296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	Allow</a:t>
            </a:r>
            <a:r>
              <a:rPr dirty="0" sz="19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provisioning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compute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an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organization’s</a:t>
            </a:r>
            <a:endParaRPr sz="19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200"/>
              </a:spcBef>
              <a:buChar char="–"/>
              <a:tabLst>
                <a:tab pos="75628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users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self-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manner.</a:t>
            </a:r>
            <a:endParaRPr sz="1900">
              <a:latin typeface="Microsoft Sans Serif"/>
              <a:cs typeface="Microsoft Sans Serif"/>
            </a:endParaRPr>
          </a:p>
          <a:p>
            <a:pPr lvl="1" marL="822960" indent="-353060">
              <a:lnSpc>
                <a:spcPct val="100000"/>
              </a:lnSpc>
              <a:spcBef>
                <a:spcPts val="229"/>
              </a:spcBef>
              <a:buChar char="–"/>
              <a:tabLst>
                <a:tab pos="82296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Automate</a:t>
            </a:r>
            <a:r>
              <a:rPr dirty="0" sz="19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well-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managed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virtualized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environments.</a:t>
            </a:r>
            <a:endParaRPr sz="1900">
              <a:latin typeface="Microsoft Sans Serif"/>
              <a:cs typeface="Microsoft Sans Serif"/>
            </a:endParaRPr>
          </a:p>
          <a:p>
            <a:pPr lvl="1" marL="822960" indent="-353060">
              <a:lnSpc>
                <a:spcPct val="100000"/>
              </a:lnSpc>
              <a:spcBef>
                <a:spcPts val="229"/>
              </a:spcBef>
              <a:buChar char="–"/>
              <a:tabLst>
                <a:tab pos="82296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Optimize</a:t>
            </a:r>
            <a:r>
              <a:rPr dirty="0" sz="19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resources,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servers’</a:t>
            </a:r>
            <a:r>
              <a:rPr dirty="0" sz="19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utilization.</a:t>
            </a:r>
            <a:endParaRPr sz="1900">
              <a:latin typeface="Microsoft Sans Serif"/>
              <a:cs typeface="Microsoft Sans Serif"/>
            </a:endParaRPr>
          </a:p>
          <a:p>
            <a:pPr lvl="1" marL="822960" indent="-353060">
              <a:lnSpc>
                <a:spcPct val="100000"/>
              </a:lnSpc>
              <a:spcBef>
                <a:spcPts val="225"/>
              </a:spcBef>
              <a:buChar char="–"/>
              <a:tabLst>
                <a:tab pos="82296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Support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workloads.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16662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Private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Cloud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IaaS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0844" y="1462278"/>
            <a:ext cx="8292465" cy="126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many</a:t>
            </a:r>
            <a:r>
              <a:rPr dirty="0" sz="1800" spc="2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examples</a:t>
            </a:r>
            <a:r>
              <a:rPr dirty="0" sz="1800" spc="25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vendors</a:t>
            </a:r>
            <a:r>
              <a:rPr dirty="0" sz="1800" spc="254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frameworks</a:t>
            </a:r>
            <a:r>
              <a:rPr dirty="0" sz="1800" spc="2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5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provide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private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setups.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best-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known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examples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are </a:t>
            </a:r>
            <a:r>
              <a:rPr dirty="0" sz="1800">
                <a:solidFill>
                  <a:srgbClr val="6F2F9F"/>
                </a:solidFill>
                <a:latin typeface="Microsoft Sans Serif"/>
                <a:cs typeface="Microsoft Sans Serif"/>
              </a:rPr>
              <a:t>Eucalyptus</a:t>
            </a:r>
            <a:r>
              <a:rPr dirty="0" sz="1800" spc="-5">
                <a:solidFill>
                  <a:srgbClr val="6F2F9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F2F9F"/>
                </a:solidFill>
                <a:latin typeface="Microsoft Sans Serif"/>
                <a:cs typeface="Microsoft Sans Serif"/>
              </a:rPr>
              <a:t>OpenNebula.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also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important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highlight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third</a:t>
            </a:r>
            <a:r>
              <a:rPr dirty="0" sz="18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type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setup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named</a:t>
            </a:r>
            <a:r>
              <a:rPr dirty="0" sz="18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―</a:t>
            </a:r>
            <a:r>
              <a:rPr dirty="0" sz="1800" spc="-10">
                <a:solidFill>
                  <a:srgbClr val="6F2F9F"/>
                </a:solidFill>
                <a:latin typeface="Microsoft Sans Serif"/>
                <a:cs typeface="Microsoft Sans Serif"/>
              </a:rPr>
              <a:t>hybrid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3744" y="2696971"/>
            <a:ext cx="7948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3919" algn="l"/>
                <a:tab pos="1252855" algn="l"/>
                <a:tab pos="2021205" algn="l"/>
                <a:tab pos="2334895" algn="l"/>
                <a:tab pos="3754120" algn="l"/>
                <a:tab pos="4132579" algn="l"/>
                <a:tab pos="5819775" algn="l"/>
                <a:tab pos="6388100" algn="l"/>
                <a:tab pos="7388225" algn="l"/>
              </a:tabLst>
            </a:pPr>
            <a:r>
              <a:rPr dirty="0" sz="1800" spc="-10">
                <a:solidFill>
                  <a:srgbClr val="6F2F9F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,‖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combination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private/internal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external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0844" y="2834365"/>
            <a:ext cx="8294370" cy="112331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175"/>
              </a:spcBef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Hybrid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cloud’s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main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function is to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release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public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handle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sudden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demand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usage,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called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5">
                <a:solidFill>
                  <a:srgbClr val="663300"/>
                </a:solidFill>
                <a:latin typeface="Microsoft Sans Serif"/>
                <a:cs typeface="Microsoft Sans Serif"/>
              </a:rPr>
              <a:t>―</a:t>
            </a:r>
            <a:r>
              <a:rPr dirty="0" sz="1800" spc="-55" i="1">
                <a:solidFill>
                  <a:srgbClr val="6F2F9F"/>
                </a:solidFill>
                <a:latin typeface="Arial"/>
                <a:cs typeface="Arial"/>
              </a:rPr>
              <a:t>cloud</a:t>
            </a:r>
            <a:r>
              <a:rPr dirty="0" sz="1800" spc="-40" i="1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6F2F9F"/>
                </a:solidFill>
                <a:latin typeface="Arial"/>
                <a:cs typeface="Arial"/>
              </a:rPr>
              <a:t>bursting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.‖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9547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Virtualization</a:t>
            </a:r>
            <a:r>
              <a:rPr dirty="0" spc="-6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Technology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94" y="1505344"/>
            <a:ext cx="6871261" cy="400090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849626" y="5998565"/>
            <a:ext cx="47358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layered</a:t>
            </a:r>
            <a:r>
              <a:rPr dirty="0" sz="18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virtualization</a:t>
            </a:r>
            <a:r>
              <a:rPr dirty="0" sz="18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technology</a:t>
            </a:r>
            <a:r>
              <a:rPr dirty="0" sz="1800" spc="-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architecture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948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Provisioning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Manageability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37717" y="1581404"/>
            <a:ext cx="8538210" cy="3645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965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VM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its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major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possible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states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operation,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make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management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automation</a:t>
            </a:r>
            <a:r>
              <a:rPr dirty="0" sz="19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VMs</a:t>
            </a:r>
            <a:r>
              <a:rPr dirty="0" sz="19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3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9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environments</a:t>
            </a:r>
            <a:r>
              <a:rPr dirty="0" sz="1900" spc="3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easier</a:t>
            </a:r>
            <a:r>
              <a:rPr dirty="0" sz="1900" spc="3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in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traditional</a:t>
            </a:r>
            <a:r>
              <a:rPr dirty="0" sz="1900" spc="-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1900" spc="-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environments.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marR="7620" indent="-3429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VM</a:t>
            </a:r>
            <a:r>
              <a:rPr dirty="0" sz="19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cycle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starts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9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3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request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delivered</a:t>
            </a:r>
            <a:r>
              <a:rPr dirty="0" sz="19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900" spc="3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department,</a:t>
            </a:r>
            <a:r>
              <a:rPr dirty="0" sz="1900" spc="3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stating</a:t>
            </a:r>
            <a:r>
              <a:rPr dirty="0" sz="1900" spc="3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creating a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new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marR="7620" indent="-3429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request</a:t>
            </a:r>
            <a:r>
              <a:rPr dirty="0" sz="19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being</a:t>
            </a:r>
            <a:r>
              <a:rPr dirty="0" sz="19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processed</a:t>
            </a:r>
            <a:r>
              <a:rPr dirty="0" sz="19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administration</a:t>
            </a:r>
            <a:r>
              <a:rPr dirty="0" sz="1900" spc="1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start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seeing</a:t>
            </a:r>
            <a:r>
              <a:rPr dirty="0" sz="19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servers’</a:t>
            </a:r>
            <a:r>
              <a:rPr dirty="0" sz="1900" spc="3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</a:t>
            </a:r>
            <a:r>
              <a:rPr dirty="0" sz="19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pool,</a:t>
            </a:r>
            <a:r>
              <a:rPr dirty="0" sz="19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matching</a:t>
            </a:r>
            <a:r>
              <a:rPr dirty="0" sz="19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these</a:t>
            </a:r>
            <a:r>
              <a:rPr dirty="0" sz="1900" spc="40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r>
              <a:rPr dirty="0" sz="19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4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4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requirements,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starting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provision of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needed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machine.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marR="8255" indent="-342900">
              <a:lnSpc>
                <a:spcPct val="100000"/>
              </a:lnSpc>
              <a:spcBef>
                <a:spcPts val="114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Once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provisioned</a:t>
            </a:r>
            <a:r>
              <a:rPr dirty="0" sz="19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started,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ready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9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according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SLA,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time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period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after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being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released;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free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resources,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case,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won’t be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needed.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948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Provisioning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Manageability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010" y="1557007"/>
            <a:ext cx="4467032" cy="44664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755897" y="6182969"/>
            <a:ext cx="2659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Life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Cycle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73406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Virtual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Machine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Provisioning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Process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7717" y="1381505"/>
            <a:ext cx="8535035" cy="3065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965" marR="6985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Firstly,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 you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 select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pool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 available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(physical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servers</a:t>
            </a:r>
            <a:r>
              <a:rPr dirty="0" sz="19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enough</a:t>
            </a:r>
            <a:r>
              <a:rPr dirty="0" sz="19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capacity)</a:t>
            </a:r>
            <a:r>
              <a:rPr dirty="0" sz="19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along</a:t>
            </a:r>
            <a:r>
              <a:rPr dirty="0" sz="19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appropriate</a:t>
            </a:r>
            <a:r>
              <a:rPr dirty="0" sz="19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OS</a:t>
            </a:r>
            <a:r>
              <a:rPr dirty="0" sz="19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template</a:t>
            </a:r>
            <a:r>
              <a:rPr dirty="0" sz="19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provision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machine.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marR="6985" indent="-3429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Secondly,</a:t>
            </a:r>
            <a:r>
              <a:rPr dirty="0" sz="19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load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appropriate</a:t>
            </a:r>
            <a:r>
              <a:rPr dirty="0" sz="19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(operating</a:t>
            </a:r>
            <a:r>
              <a:rPr dirty="0" sz="19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system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selected</a:t>
            </a:r>
            <a:r>
              <a:rPr dirty="0" sz="19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previous</a:t>
            </a:r>
            <a:r>
              <a:rPr dirty="0" sz="19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step,</a:t>
            </a:r>
            <a:r>
              <a:rPr dirty="0" sz="19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device</a:t>
            </a:r>
            <a:r>
              <a:rPr dirty="0" sz="19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drivers,</a:t>
            </a:r>
            <a:r>
              <a:rPr dirty="0" sz="19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middleware,</a:t>
            </a:r>
            <a:r>
              <a:rPr dirty="0" sz="19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1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needed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required).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marR="5080" indent="-3429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Thirdly,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customize</a:t>
            </a:r>
            <a:r>
              <a:rPr dirty="0" sz="19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configure</a:t>
            </a:r>
            <a:r>
              <a:rPr dirty="0" sz="19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(e.g.,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IP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address,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Gateway)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configure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network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resources.</a:t>
            </a:r>
            <a:endParaRPr sz="19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14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Finally,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ready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start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its</a:t>
            </a:r>
            <a:r>
              <a:rPr dirty="0" sz="19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newly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loaded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software.</a:t>
            </a:r>
            <a:endParaRPr sz="19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4419663"/>
            <a:ext cx="8263001" cy="223037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176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Virtual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Machine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Migration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Service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96264" y="1436878"/>
            <a:ext cx="8771255" cy="293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VM</a:t>
            </a:r>
            <a:r>
              <a:rPr dirty="0" sz="1900" spc="2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Migration</a:t>
            </a:r>
            <a:r>
              <a:rPr dirty="0" sz="1900" spc="2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service:</a:t>
            </a:r>
            <a:r>
              <a:rPr dirty="0" sz="1900" spc="229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context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25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machines,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900" spc="2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900" spc="2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of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moving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 from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host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server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another.</a:t>
            </a:r>
            <a:endParaRPr sz="19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VM</a:t>
            </a:r>
            <a:r>
              <a:rPr dirty="0" sz="19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9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techniques</a:t>
            </a:r>
            <a:endParaRPr sz="19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</a:tabLst>
            </a:pP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Hot/life</a:t>
            </a:r>
            <a:r>
              <a:rPr dirty="0" sz="16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380"/>
              </a:spcBef>
              <a:buChar char="–"/>
              <a:tabLst>
                <a:tab pos="756285" algn="l"/>
              </a:tabLst>
            </a:pP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Cold/regular</a:t>
            </a:r>
            <a:r>
              <a:rPr dirty="0" sz="16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endParaRPr sz="1600">
              <a:latin typeface="Microsoft Sans Serif"/>
              <a:cs typeface="Microsoft Sans Serif"/>
            </a:endParaRPr>
          </a:p>
          <a:p>
            <a:pPr lvl="1" marL="756285" indent="-286385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</a:tabLst>
            </a:pP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6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6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6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endParaRPr sz="1600">
              <a:latin typeface="Microsoft Sans Serif"/>
              <a:cs typeface="Microsoft Sans Serif"/>
            </a:endParaRPr>
          </a:p>
          <a:p>
            <a:pPr algn="just" marL="354330" marR="5715" indent="-342265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All</a:t>
            </a:r>
            <a:r>
              <a:rPr dirty="0" sz="19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key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machines’</a:t>
            </a:r>
            <a:r>
              <a:rPr dirty="0" sz="19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components,</a:t>
            </a:r>
            <a:r>
              <a:rPr dirty="0" sz="19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such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900" spc="1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CPU,</a:t>
            </a:r>
            <a:r>
              <a:rPr dirty="0" sz="19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9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disks,</a:t>
            </a:r>
            <a:r>
              <a:rPr dirty="0" sz="1900" spc="1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networking,</a:t>
            </a:r>
            <a:r>
              <a:rPr dirty="0" sz="19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and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memory,</a:t>
            </a:r>
            <a:r>
              <a:rPr dirty="0" sz="19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900" spc="3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completely</a:t>
            </a:r>
            <a:r>
              <a:rPr dirty="0" sz="19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virtualized,</a:t>
            </a:r>
            <a:r>
              <a:rPr dirty="0" sz="19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thereby</a:t>
            </a:r>
            <a:r>
              <a:rPr dirty="0" sz="19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facilitating</a:t>
            </a:r>
            <a:r>
              <a:rPr dirty="0" sz="19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entire</a:t>
            </a:r>
            <a:r>
              <a:rPr dirty="0" sz="19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state</a:t>
            </a:r>
            <a:r>
              <a:rPr dirty="0" sz="19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a </a:t>
            </a:r>
            <a:r>
              <a:rPr dirty="0" sz="1900" spc="-5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captured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set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easily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moved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files.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Migrations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Techniques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96264" y="1299718"/>
            <a:ext cx="8773160" cy="441579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Live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Migration</a:t>
            </a:r>
            <a:r>
              <a:rPr dirty="0" sz="1800" spc="-5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and</a:t>
            </a:r>
            <a:r>
              <a:rPr dirty="0" sz="1800" spc="-3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High</a:t>
            </a:r>
            <a:r>
              <a:rPr dirty="0" sz="1800" spc="-114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Availability(Hot</a:t>
            </a:r>
            <a:r>
              <a:rPr dirty="0" sz="1800" spc="1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and</a:t>
            </a:r>
            <a:r>
              <a:rPr dirty="0" sz="1800" spc="-40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real-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time</a:t>
            </a:r>
            <a:r>
              <a:rPr dirty="0" sz="18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migration):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defined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movement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1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1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physical</a:t>
            </a:r>
            <a:r>
              <a:rPr dirty="0" sz="1800" spc="1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</a:t>
            </a:r>
            <a:r>
              <a:rPr dirty="0" sz="1800" spc="1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another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while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being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powered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6350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properly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carried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out,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takes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place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without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any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noticeable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effect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 the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end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user’s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point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view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(a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matter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milliseconds).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5080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most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significant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advantages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fact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facilitates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proactive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maintenance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case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failure,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because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potential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problem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be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resolved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before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disruption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occurs.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5715" indent="-34226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also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used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load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balancing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work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shared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among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computers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order to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optimize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utilization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 of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CPU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resources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5080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2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26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Vendor</a:t>
            </a:r>
            <a:r>
              <a:rPr dirty="0" sz="1800" spc="2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Implementations</a:t>
            </a:r>
            <a:r>
              <a:rPr dirty="0" sz="1800" spc="254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Examples.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2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2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lots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6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VM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2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provisioning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tools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r>
              <a:rPr dirty="0" sz="1800" spc="2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2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2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2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VM</a:t>
            </a:r>
            <a:r>
              <a:rPr dirty="0" sz="1800" spc="229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facility,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two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F2F9F"/>
                </a:solidFill>
                <a:latin typeface="Microsoft Sans Serif"/>
                <a:cs typeface="Microsoft Sans Serif"/>
              </a:rPr>
              <a:t>VMware</a:t>
            </a:r>
            <a:r>
              <a:rPr dirty="0" sz="1800" spc="20">
                <a:solidFill>
                  <a:srgbClr val="6F2F9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F2F9F"/>
                </a:solidFill>
                <a:latin typeface="Microsoft Sans Serif"/>
                <a:cs typeface="Microsoft Sans Serif"/>
              </a:rPr>
              <a:t>VMotion</a:t>
            </a:r>
            <a:r>
              <a:rPr dirty="0" sz="1800" spc="-30">
                <a:solidFill>
                  <a:srgbClr val="6F2F9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Citrix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XenServer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F2F9F"/>
                </a:solidFill>
                <a:latin typeface="Microsoft Sans Serif"/>
                <a:cs typeface="Microsoft Sans Serif"/>
              </a:rPr>
              <a:t>―XenMotion.‖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301" y="1160526"/>
            <a:ext cx="6716649" cy="513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Migrations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Techniques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67918" y="2461005"/>
            <a:ext cx="1660525" cy="894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Live</a:t>
            </a:r>
            <a:r>
              <a:rPr dirty="0" sz="19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663300"/>
                </a:solidFill>
                <a:latin typeface="Arial"/>
                <a:cs typeface="Arial"/>
              </a:rPr>
              <a:t>Migration </a:t>
            </a:r>
            <a:r>
              <a:rPr dirty="0" sz="1900" spc="-20" b="1">
                <a:solidFill>
                  <a:srgbClr val="663300"/>
                </a:solidFill>
                <a:latin typeface="Arial"/>
                <a:cs typeface="Arial"/>
              </a:rPr>
              <a:t>Anatomy,</a:t>
            </a:r>
            <a:r>
              <a:rPr dirty="0" sz="19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663300"/>
                </a:solidFill>
                <a:latin typeface="Arial"/>
                <a:cs typeface="Arial"/>
              </a:rPr>
              <a:t>Xen </a:t>
            </a:r>
            <a:r>
              <a:rPr dirty="0" sz="1900" spc="-10" b="1">
                <a:solidFill>
                  <a:srgbClr val="663300"/>
                </a:solidFill>
                <a:latin typeface="Arial"/>
                <a:cs typeface="Arial"/>
              </a:rPr>
              <a:t>Hypervisor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Migrations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Techniques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96264" y="1299718"/>
            <a:ext cx="8773160" cy="497205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627505" algn="l"/>
              </a:tabLst>
            </a:pP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Regular/</a:t>
            </a:r>
            <a:r>
              <a:rPr dirty="0" sz="1800" spc="-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663300"/>
                </a:solidFill>
                <a:latin typeface="Arial"/>
                <a:cs typeface="Arial"/>
              </a:rPr>
              <a:t>Cold</a:t>
            </a:r>
            <a:r>
              <a:rPr dirty="0" sz="1800" b="1">
                <a:solidFill>
                  <a:srgbClr val="663300"/>
                </a:solidFill>
                <a:latin typeface="Arial"/>
                <a:cs typeface="Arial"/>
              </a:rPr>
              <a:t>	</a:t>
            </a:r>
            <a:r>
              <a:rPr dirty="0" sz="1800" spc="-10" b="1">
                <a:solidFill>
                  <a:srgbClr val="663300"/>
                </a:solidFill>
                <a:latin typeface="Arial"/>
                <a:cs typeface="Arial"/>
              </a:rPr>
              <a:t>migration:</a:t>
            </a:r>
            <a:endParaRPr sz="1800">
              <a:latin typeface="Arial"/>
              <a:cs typeface="Arial"/>
            </a:endParaRPr>
          </a:p>
          <a:p>
            <a:pPr algn="just" marL="354330" marR="6350" indent="-342265">
              <a:lnSpc>
                <a:spcPct val="89900"/>
              </a:lnSpc>
              <a:spcBef>
                <a:spcPts val="108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Cold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powered-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off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machine.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cold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migration,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option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moving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disks</a:t>
            </a:r>
            <a:r>
              <a:rPr dirty="0" sz="1800" spc="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store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another</a:t>
            </a:r>
            <a:endParaRPr sz="1900">
              <a:latin typeface="Microsoft Sans Serif"/>
              <a:cs typeface="Microsoft Sans Serif"/>
            </a:endParaRPr>
          </a:p>
          <a:p>
            <a:pPr algn="just" marL="354965" indent="-34226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machines are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9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shared</a:t>
            </a:r>
            <a:r>
              <a:rPr dirty="0" sz="19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storage.</a:t>
            </a:r>
            <a:endParaRPr sz="1900">
              <a:latin typeface="Microsoft Sans Serif"/>
              <a:cs typeface="Microsoft Sans Serif"/>
            </a:endParaRPr>
          </a:p>
          <a:p>
            <a:pPr algn="just" marL="354330" marR="5080" indent="-342265">
              <a:lnSpc>
                <a:spcPct val="90000"/>
              </a:lnSpc>
              <a:spcBef>
                <a:spcPts val="108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needs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shared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machines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server’s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pool,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but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cold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does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not;</a:t>
            </a:r>
            <a:r>
              <a:rPr dirty="0" sz="1800" spc="1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also,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live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between</a:t>
            </a:r>
            <a:r>
              <a:rPr dirty="0" sz="1800" spc="1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two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hosts,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would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certain</a:t>
            </a:r>
            <a:r>
              <a:rPr dirty="0" sz="1800" spc="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CPU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compatibility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checks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applied;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while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cold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checks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apply.</a:t>
            </a:r>
            <a:r>
              <a:rPr dirty="0" sz="1800" spc="4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cold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5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simple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to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(as the case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VMware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product).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6350" indent="-342265">
              <a:lnSpc>
                <a:spcPts val="1939"/>
              </a:lnSpc>
              <a:spcBef>
                <a:spcPts val="111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configuration</a:t>
            </a:r>
            <a:r>
              <a:rPr dirty="0" sz="1800" spc="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files,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including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NVRAM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file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(BIOS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settings),</a:t>
            </a:r>
            <a:r>
              <a:rPr dirty="0" sz="1800" spc="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log</a:t>
            </a:r>
            <a:r>
              <a:rPr dirty="0" sz="1800" spc="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files,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well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disks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machine,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moved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4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source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</a:t>
            </a:r>
            <a:r>
              <a:rPr dirty="0" sz="1800" spc="3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3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destination</a:t>
            </a:r>
            <a:r>
              <a:rPr dirty="0" sz="1800" spc="-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host’s</a:t>
            </a:r>
            <a:r>
              <a:rPr dirty="0" sz="1800" spc="-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18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storage</a:t>
            </a:r>
            <a:r>
              <a:rPr dirty="0" sz="1800" spc="-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area.</a:t>
            </a:r>
            <a:endParaRPr sz="1800">
              <a:latin typeface="Microsoft Sans Serif"/>
              <a:cs typeface="Microsoft Sans Serif"/>
            </a:endParaRPr>
          </a:p>
          <a:p>
            <a:pPr algn="just" marL="354965" indent="-342265">
              <a:lnSpc>
                <a:spcPct val="100000"/>
              </a:lnSpc>
              <a:spcBef>
                <a:spcPts val="844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registered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new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host.</a:t>
            </a:r>
            <a:endParaRPr sz="1800">
              <a:latin typeface="Microsoft Sans Serif"/>
              <a:cs typeface="Microsoft Sans Serif"/>
            </a:endParaRPr>
          </a:p>
          <a:p>
            <a:pPr algn="just" marL="354330" marR="6350" indent="-342265">
              <a:lnSpc>
                <a:spcPts val="1939"/>
              </a:lnSpc>
              <a:spcBef>
                <a:spcPts val="111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After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completed,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old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version</a:t>
            </a:r>
            <a:r>
              <a:rPr dirty="0" sz="1800" spc="1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16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deleted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source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host.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Arial"/>
                <a:cs typeface="Arial"/>
              </a:rPr>
              <a:t>VM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Migrations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Techniques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96264" y="1291488"/>
            <a:ext cx="8771890" cy="147383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Live</a:t>
            </a:r>
            <a:r>
              <a:rPr dirty="0" sz="1900" spc="-2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663300"/>
                </a:solidFill>
                <a:latin typeface="Arial"/>
                <a:cs typeface="Arial"/>
              </a:rPr>
              <a:t>Storage</a:t>
            </a:r>
            <a:r>
              <a:rPr dirty="0" sz="1900" spc="-45" b="1">
                <a:solidFill>
                  <a:srgbClr val="66330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663300"/>
                </a:solidFill>
                <a:latin typeface="Arial"/>
                <a:cs typeface="Arial"/>
              </a:rPr>
              <a:t>Migration:</a:t>
            </a:r>
            <a:endParaRPr sz="1900">
              <a:latin typeface="Arial"/>
              <a:cs typeface="Arial"/>
            </a:endParaRPr>
          </a:p>
          <a:p>
            <a:pPr algn="just" marL="354330" marR="5080" indent="-342265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kind</a:t>
            </a:r>
            <a:r>
              <a:rPr dirty="0" sz="1900" spc="11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migration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constitutes</a:t>
            </a:r>
            <a:r>
              <a:rPr dirty="0" sz="19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moving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1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disks</a:t>
            </a:r>
            <a:r>
              <a:rPr dirty="0" sz="1900" spc="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1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configuration</a:t>
            </a:r>
            <a:r>
              <a:rPr dirty="0" sz="1900" spc="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file </a:t>
            </a:r>
            <a:r>
              <a:rPr dirty="0" sz="1900" spc="-2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running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new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900" spc="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store</a:t>
            </a:r>
            <a:r>
              <a:rPr dirty="0" sz="1900" spc="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without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any</a:t>
            </a:r>
            <a:r>
              <a:rPr dirty="0" sz="1900" spc="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interruption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900" spc="-25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availability</a:t>
            </a:r>
            <a:r>
              <a:rPr dirty="0" sz="19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virtual</a:t>
            </a:r>
            <a:r>
              <a:rPr dirty="0" sz="19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663300"/>
                </a:solidFill>
                <a:latin typeface="Microsoft Sans Serif"/>
                <a:cs typeface="Microsoft Sans Serif"/>
              </a:rPr>
              <a:t>machine’s</a:t>
            </a:r>
            <a:r>
              <a:rPr dirty="0" sz="19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663300"/>
                </a:solidFill>
                <a:latin typeface="Microsoft Sans Serif"/>
                <a:cs typeface="Microsoft Sans Serif"/>
              </a:rPr>
              <a:t>service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306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latin typeface="Arial"/>
                <a:cs typeface="Arial"/>
              </a:rPr>
              <a:t>Example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253743"/>
            <a:ext cx="7277734" cy="414083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DigitalOcean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Linode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Rackspace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Amazon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Web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Services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(AWS)</a:t>
            </a:r>
            <a:r>
              <a:rPr dirty="0" sz="1800" spc="-3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EC2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S3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Cisco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Metapod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Microsoft</a:t>
            </a:r>
            <a:r>
              <a:rPr dirty="0" sz="1800" spc="-5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Azure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Google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Compute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Engine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(GCE)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some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popular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examples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Iaas.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Aneka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  <a:tab pos="1040765" algn="l"/>
              </a:tabLst>
            </a:pP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Open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Nebula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Eucalyptus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Infrastructure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/>
              <a:t>Service</a:t>
            </a:r>
            <a:r>
              <a:rPr dirty="0" spc="-25"/>
              <a:t> </a:t>
            </a:r>
            <a:r>
              <a:rPr dirty="0"/>
              <a:t>(IaaS)</a:t>
            </a:r>
            <a:r>
              <a:rPr dirty="0" spc="-10"/>
              <a:t> Advantages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3547" rIns="0" bIns="0" rtlCol="0" vert="horz">
            <a:spAutoFit/>
          </a:bodyPr>
          <a:lstStyle/>
          <a:p>
            <a:pPr algn="just" marL="355600" marR="635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Various</a:t>
            </a:r>
            <a:r>
              <a:rPr dirty="0" spc="200"/>
              <a:t> </a:t>
            </a:r>
            <a:r>
              <a:rPr dirty="0"/>
              <a:t>pricing</a:t>
            </a:r>
            <a:r>
              <a:rPr dirty="0" spc="195"/>
              <a:t> </a:t>
            </a:r>
            <a:r>
              <a:rPr dirty="0"/>
              <a:t>models</a:t>
            </a:r>
            <a:r>
              <a:rPr dirty="0" spc="190"/>
              <a:t> </a:t>
            </a:r>
            <a:r>
              <a:rPr dirty="0"/>
              <a:t>may</a:t>
            </a:r>
            <a:r>
              <a:rPr dirty="0" spc="195"/>
              <a:t> </a:t>
            </a:r>
            <a:r>
              <a:rPr dirty="0"/>
              <a:t>allow</a:t>
            </a:r>
            <a:r>
              <a:rPr dirty="0" spc="175"/>
              <a:t> </a:t>
            </a:r>
            <a:r>
              <a:rPr dirty="0"/>
              <a:t>paying</a:t>
            </a:r>
            <a:r>
              <a:rPr dirty="0" spc="190"/>
              <a:t> </a:t>
            </a:r>
            <a:r>
              <a:rPr dirty="0"/>
              <a:t>only</a:t>
            </a:r>
            <a:r>
              <a:rPr dirty="0" spc="185"/>
              <a:t> </a:t>
            </a:r>
            <a:r>
              <a:rPr dirty="0"/>
              <a:t>for</a:t>
            </a:r>
            <a:r>
              <a:rPr dirty="0" spc="215"/>
              <a:t> </a:t>
            </a:r>
            <a:r>
              <a:rPr dirty="0"/>
              <a:t>what</a:t>
            </a:r>
            <a:r>
              <a:rPr dirty="0" spc="195"/>
              <a:t> </a:t>
            </a:r>
            <a:r>
              <a:rPr dirty="0"/>
              <a:t>you</a:t>
            </a:r>
            <a:r>
              <a:rPr dirty="0" spc="195"/>
              <a:t> </a:t>
            </a:r>
            <a:r>
              <a:rPr dirty="0"/>
              <a:t>use.</a:t>
            </a:r>
            <a:r>
              <a:rPr dirty="0" spc="195"/>
              <a:t> </a:t>
            </a:r>
            <a:r>
              <a:rPr dirty="0"/>
              <a:t>This,</a:t>
            </a:r>
            <a:r>
              <a:rPr dirty="0" spc="195"/>
              <a:t> </a:t>
            </a:r>
            <a:r>
              <a:rPr dirty="0"/>
              <a:t>for</a:t>
            </a:r>
            <a:r>
              <a:rPr dirty="0" spc="190"/>
              <a:t> </a:t>
            </a:r>
            <a:r>
              <a:rPr dirty="0" spc="-10"/>
              <a:t>example, </a:t>
            </a:r>
            <a:r>
              <a:rPr dirty="0"/>
              <a:t>can</a:t>
            </a:r>
            <a:r>
              <a:rPr dirty="0" spc="340"/>
              <a:t> </a:t>
            </a:r>
            <a:r>
              <a:rPr dirty="0"/>
              <a:t>allow</a:t>
            </a:r>
            <a:r>
              <a:rPr dirty="0" spc="330"/>
              <a:t> </a:t>
            </a:r>
            <a:r>
              <a:rPr dirty="0"/>
              <a:t>an</a:t>
            </a:r>
            <a:r>
              <a:rPr dirty="0" spc="345"/>
              <a:t> </a:t>
            </a:r>
            <a:r>
              <a:rPr dirty="0"/>
              <a:t>individual</a:t>
            </a:r>
            <a:r>
              <a:rPr dirty="0" spc="350"/>
              <a:t> </a:t>
            </a:r>
            <a:r>
              <a:rPr dirty="0"/>
              <a:t>or</a:t>
            </a:r>
            <a:r>
              <a:rPr dirty="0" spc="355"/>
              <a:t> </a:t>
            </a:r>
            <a:r>
              <a:rPr dirty="0"/>
              <a:t>a</a:t>
            </a:r>
            <a:r>
              <a:rPr dirty="0" spc="340"/>
              <a:t> </a:t>
            </a:r>
            <a:r>
              <a:rPr dirty="0"/>
              <a:t>small</a:t>
            </a:r>
            <a:r>
              <a:rPr dirty="0" spc="350"/>
              <a:t> </a:t>
            </a:r>
            <a:r>
              <a:rPr dirty="0"/>
              <a:t>organization</a:t>
            </a:r>
            <a:r>
              <a:rPr dirty="0" spc="345"/>
              <a:t> </a:t>
            </a:r>
            <a:r>
              <a:rPr dirty="0"/>
              <a:t>to</a:t>
            </a:r>
            <a:r>
              <a:rPr dirty="0" spc="350"/>
              <a:t> </a:t>
            </a:r>
            <a:r>
              <a:rPr dirty="0"/>
              <a:t>use</a:t>
            </a:r>
            <a:r>
              <a:rPr dirty="0" spc="345"/>
              <a:t> </a:t>
            </a:r>
            <a:r>
              <a:rPr dirty="0"/>
              <a:t>sophisticated</a:t>
            </a:r>
            <a:r>
              <a:rPr dirty="0" spc="345"/>
              <a:t> </a:t>
            </a:r>
            <a:r>
              <a:rPr dirty="0" spc="-10"/>
              <a:t>development </a:t>
            </a:r>
            <a:r>
              <a:rPr dirty="0"/>
              <a:t>software</a:t>
            </a:r>
            <a:r>
              <a:rPr dirty="0" spc="10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/>
              <a:t>they</a:t>
            </a:r>
            <a:r>
              <a:rPr dirty="0" spc="-15"/>
              <a:t> </a:t>
            </a:r>
            <a:r>
              <a:rPr dirty="0"/>
              <a:t>could</a:t>
            </a:r>
            <a:r>
              <a:rPr dirty="0" spc="-10"/>
              <a:t> </a:t>
            </a:r>
            <a:r>
              <a:rPr dirty="0"/>
              <a:t>not</a:t>
            </a:r>
            <a:r>
              <a:rPr dirty="0" spc="-15"/>
              <a:t> </a:t>
            </a:r>
            <a:r>
              <a:rPr dirty="0"/>
              <a:t>afford</a:t>
            </a:r>
            <a:r>
              <a:rPr dirty="0" spc="-20"/>
              <a:t> </a:t>
            </a:r>
            <a:r>
              <a:rPr dirty="0"/>
              <a:t>if</a:t>
            </a:r>
            <a:r>
              <a:rPr dirty="0" spc="-15"/>
              <a:t> </a:t>
            </a:r>
            <a:r>
              <a:rPr dirty="0"/>
              <a:t>it</a:t>
            </a:r>
            <a:r>
              <a:rPr dirty="0" spc="-15"/>
              <a:t> </a:t>
            </a:r>
            <a:r>
              <a:rPr dirty="0"/>
              <a:t>was</a:t>
            </a:r>
            <a:r>
              <a:rPr dirty="0" spc="10"/>
              <a:t> </a:t>
            </a:r>
            <a:r>
              <a:rPr dirty="0"/>
              <a:t>installed on</a:t>
            </a:r>
            <a:r>
              <a:rPr dirty="0" spc="-20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internal, dedicated</a:t>
            </a:r>
            <a:r>
              <a:rPr dirty="0" spc="5"/>
              <a:t> </a:t>
            </a:r>
            <a:r>
              <a:rPr dirty="0" spc="-10"/>
              <a:t>server.</a:t>
            </a:r>
          </a:p>
          <a:p>
            <a:pPr algn="just" marL="355600" marR="762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Some</a:t>
            </a:r>
            <a:r>
              <a:rPr dirty="0" spc="340"/>
              <a:t> </a:t>
            </a:r>
            <a:r>
              <a:rPr dirty="0"/>
              <a:t>IaaS</a:t>
            </a:r>
            <a:r>
              <a:rPr dirty="0" spc="345"/>
              <a:t> </a:t>
            </a:r>
            <a:r>
              <a:rPr dirty="0"/>
              <a:t>Providers</a:t>
            </a:r>
            <a:r>
              <a:rPr dirty="0" spc="355"/>
              <a:t> </a:t>
            </a:r>
            <a:r>
              <a:rPr dirty="0"/>
              <a:t>provide</a:t>
            </a:r>
            <a:r>
              <a:rPr dirty="0" spc="345"/>
              <a:t> </a:t>
            </a:r>
            <a:r>
              <a:rPr dirty="0"/>
              <a:t>development</a:t>
            </a:r>
            <a:r>
              <a:rPr dirty="0" spc="365"/>
              <a:t> </a:t>
            </a:r>
            <a:r>
              <a:rPr dirty="0"/>
              <a:t>options</a:t>
            </a:r>
            <a:r>
              <a:rPr dirty="0" spc="340"/>
              <a:t> </a:t>
            </a:r>
            <a:r>
              <a:rPr dirty="0"/>
              <a:t>for</a:t>
            </a:r>
            <a:r>
              <a:rPr dirty="0" spc="345"/>
              <a:t> </a:t>
            </a:r>
            <a:r>
              <a:rPr dirty="0"/>
              <a:t>multiple</a:t>
            </a:r>
            <a:r>
              <a:rPr dirty="0" spc="345"/>
              <a:t> </a:t>
            </a:r>
            <a:r>
              <a:rPr dirty="0"/>
              <a:t>platforms:</a:t>
            </a:r>
            <a:r>
              <a:rPr dirty="0" spc="345"/>
              <a:t> </a:t>
            </a:r>
            <a:r>
              <a:rPr dirty="0" spc="-10"/>
              <a:t>mobile, </a:t>
            </a:r>
            <a:r>
              <a:rPr dirty="0"/>
              <a:t>browser,</a:t>
            </a:r>
            <a:r>
              <a:rPr dirty="0" spc="75"/>
              <a:t> </a:t>
            </a:r>
            <a:r>
              <a:rPr dirty="0"/>
              <a:t>and</a:t>
            </a:r>
            <a:r>
              <a:rPr dirty="0" spc="60"/>
              <a:t> </a:t>
            </a:r>
            <a:r>
              <a:rPr dirty="0"/>
              <a:t>so</a:t>
            </a:r>
            <a:r>
              <a:rPr dirty="0" spc="60"/>
              <a:t> </a:t>
            </a:r>
            <a:r>
              <a:rPr dirty="0"/>
              <a:t>on.</a:t>
            </a:r>
            <a:r>
              <a:rPr dirty="0" spc="75"/>
              <a:t> </a:t>
            </a:r>
            <a:r>
              <a:rPr dirty="0"/>
              <a:t>If</a:t>
            </a:r>
            <a:r>
              <a:rPr dirty="0" spc="70"/>
              <a:t> </a:t>
            </a:r>
            <a:r>
              <a:rPr dirty="0"/>
              <a:t>you</a:t>
            </a:r>
            <a:r>
              <a:rPr dirty="0" spc="60"/>
              <a:t> </a:t>
            </a:r>
            <a:r>
              <a:rPr dirty="0"/>
              <a:t>or</a:t>
            </a:r>
            <a:r>
              <a:rPr dirty="0" spc="70"/>
              <a:t> </a:t>
            </a:r>
            <a:r>
              <a:rPr dirty="0"/>
              <a:t>your</a:t>
            </a:r>
            <a:r>
              <a:rPr dirty="0" spc="65"/>
              <a:t> </a:t>
            </a:r>
            <a:r>
              <a:rPr dirty="0"/>
              <a:t>organization</a:t>
            </a:r>
            <a:r>
              <a:rPr dirty="0" spc="85"/>
              <a:t> </a:t>
            </a:r>
            <a:r>
              <a:rPr dirty="0"/>
              <a:t>want</a:t>
            </a:r>
            <a:r>
              <a:rPr dirty="0" spc="70"/>
              <a:t> </a:t>
            </a:r>
            <a:r>
              <a:rPr dirty="0"/>
              <a:t>to</a:t>
            </a:r>
            <a:r>
              <a:rPr dirty="0" spc="65"/>
              <a:t> </a:t>
            </a:r>
            <a:r>
              <a:rPr dirty="0"/>
              <a:t>develop</a:t>
            </a:r>
            <a:r>
              <a:rPr dirty="0" spc="60"/>
              <a:t> </a:t>
            </a:r>
            <a:r>
              <a:rPr dirty="0"/>
              <a:t>software</a:t>
            </a:r>
            <a:r>
              <a:rPr dirty="0" spc="60"/>
              <a:t> </a:t>
            </a:r>
            <a:r>
              <a:rPr dirty="0"/>
              <a:t>that</a:t>
            </a:r>
            <a:r>
              <a:rPr dirty="0" spc="70"/>
              <a:t> </a:t>
            </a:r>
            <a:r>
              <a:rPr dirty="0"/>
              <a:t>can</a:t>
            </a:r>
            <a:r>
              <a:rPr dirty="0" spc="60"/>
              <a:t> </a:t>
            </a:r>
            <a:r>
              <a:rPr dirty="0" spc="-25"/>
              <a:t>be </a:t>
            </a:r>
            <a:r>
              <a:rPr dirty="0"/>
              <a:t>accessed from</a:t>
            </a:r>
            <a:r>
              <a:rPr dirty="0" spc="-5"/>
              <a:t> </a:t>
            </a:r>
            <a:r>
              <a:rPr dirty="0"/>
              <a:t>multiple</a:t>
            </a:r>
            <a:r>
              <a:rPr dirty="0" spc="5"/>
              <a:t> </a:t>
            </a:r>
            <a:r>
              <a:rPr dirty="0"/>
              <a:t>platforms, this</a:t>
            </a:r>
            <a:r>
              <a:rPr dirty="0" spc="-10"/>
              <a:t> </a:t>
            </a:r>
            <a:r>
              <a:rPr dirty="0"/>
              <a:t>might</a:t>
            </a:r>
            <a:r>
              <a:rPr dirty="0" spc="-5"/>
              <a:t> </a:t>
            </a:r>
            <a:r>
              <a:rPr dirty="0"/>
              <a:t>be an</a:t>
            </a:r>
            <a:r>
              <a:rPr dirty="0" spc="-5"/>
              <a:t> </a:t>
            </a:r>
            <a:r>
              <a:rPr dirty="0"/>
              <a:t>easy</a:t>
            </a:r>
            <a:r>
              <a:rPr dirty="0" spc="-5"/>
              <a:t> </a:t>
            </a:r>
            <a:r>
              <a:rPr dirty="0"/>
              <a:t>way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make that</a:t>
            </a:r>
            <a:r>
              <a:rPr dirty="0" spc="-15"/>
              <a:t> </a:t>
            </a:r>
            <a:r>
              <a:rPr dirty="0" spc="-10"/>
              <a:t>happen.</a:t>
            </a:r>
          </a:p>
          <a:p>
            <a:pPr algn="just" marL="355600" marR="635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If</a:t>
            </a:r>
            <a:r>
              <a:rPr dirty="0" spc="310"/>
              <a:t> </a:t>
            </a:r>
            <a:r>
              <a:rPr dirty="0"/>
              <a:t>you</a:t>
            </a:r>
            <a:r>
              <a:rPr dirty="0" spc="300"/>
              <a:t> </a:t>
            </a:r>
            <a:r>
              <a:rPr dirty="0"/>
              <a:t>have</a:t>
            </a:r>
            <a:r>
              <a:rPr dirty="0" spc="300"/>
              <a:t> </a:t>
            </a:r>
            <a:r>
              <a:rPr dirty="0"/>
              <a:t>events</a:t>
            </a:r>
            <a:r>
              <a:rPr dirty="0" spc="315"/>
              <a:t> </a:t>
            </a:r>
            <a:r>
              <a:rPr dirty="0"/>
              <a:t>such</a:t>
            </a:r>
            <a:r>
              <a:rPr dirty="0" spc="300"/>
              <a:t> </a:t>
            </a:r>
            <a:r>
              <a:rPr dirty="0"/>
              <a:t>as</a:t>
            </a:r>
            <a:r>
              <a:rPr dirty="0" spc="310"/>
              <a:t> </a:t>
            </a:r>
            <a:r>
              <a:rPr dirty="0"/>
              <a:t>high</a:t>
            </a:r>
            <a:r>
              <a:rPr dirty="0" spc="300"/>
              <a:t> </a:t>
            </a:r>
            <a:r>
              <a:rPr dirty="0"/>
              <a:t>seasonal</a:t>
            </a:r>
            <a:r>
              <a:rPr dirty="0" spc="310"/>
              <a:t> </a:t>
            </a:r>
            <a:r>
              <a:rPr dirty="0"/>
              <a:t>sales</a:t>
            </a:r>
            <a:r>
              <a:rPr dirty="0" spc="305"/>
              <a:t> </a:t>
            </a:r>
            <a:r>
              <a:rPr dirty="0"/>
              <a:t>activity,</a:t>
            </a:r>
            <a:r>
              <a:rPr dirty="0" spc="320"/>
              <a:t> </a:t>
            </a:r>
            <a:r>
              <a:rPr dirty="0"/>
              <a:t>then</a:t>
            </a:r>
            <a:r>
              <a:rPr dirty="0" spc="305"/>
              <a:t> </a:t>
            </a:r>
            <a:r>
              <a:rPr dirty="0"/>
              <a:t>the</a:t>
            </a:r>
            <a:r>
              <a:rPr dirty="0" spc="305"/>
              <a:t> </a:t>
            </a:r>
            <a:r>
              <a:rPr dirty="0" u="sng">
                <a:uFill>
                  <a:solidFill>
                    <a:srgbClr val="663300"/>
                  </a:solidFill>
                </a:uFill>
                <a:hlinkClick r:id="rId2"/>
              </a:rPr>
              <a:t>elasticit</a:t>
            </a:r>
            <a:r>
              <a:rPr dirty="0" u="sng">
                <a:uFill>
                  <a:solidFill>
                    <a:srgbClr val="663300"/>
                  </a:solidFill>
                </a:uFill>
                <a:hlinkClick r:id="rId2"/>
              </a:rPr>
              <a:t>y</a:t>
            </a:r>
            <a:r>
              <a:rPr dirty="0" u="sng" spc="290">
                <a:uFill>
                  <a:solidFill>
                    <a:srgbClr val="663300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663300"/>
                  </a:solidFill>
                </a:uFill>
                <a:hlinkClick r:id="rId2"/>
              </a:rPr>
              <a:t>o</a:t>
            </a:r>
            <a:r>
              <a:rPr dirty="0" u="sng">
                <a:uFill>
                  <a:solidFill>
                    <a:srgbClr val="663300"/>
                  </a:solidFill>
                </a:uFill>
                <a:hlinkClick r:id="rId2"/>
              </a:rPr>
              <a:t>f</a:t>
            </a:r>
            <a:r>
              <a:rPr dirty="0" u="sng" spc="315">
                <a:uFill>
                  <a:solidFill>
                    <a:srgbClr val="663300"/>
                  </a:solidFill>
                </a:uFill>
              </a:rPr>
              <a:t> </a:t>
            </a:r>
            <a:r>
              <a:rPr dirty="0" u="sng" spc="-25">
                <a:uFill>
                  <a:solidFill>
                    <a:srgbClr val="663300"/>
                  </a:solidFill>
                </a:uFill>
                <a:hlinkClick r:id="rId2"/>
              </a:rPr>
              <a:t>the</a:t>
            </a:r>
            <a:r>
              <a:rPr dirty="0" spc="-25"/>
              <a:t> </a:t>
            </a:r>
            <a:r>
              <a:rPr dirty="0" u="sng">
                <a:uFill>
                  <a:solidFill>
                    <a:srgbClr val="663300"/>
                  </a:solidFill>
                </a:uFill>
                <a:hlinkClick r:id="rId2"/>
              </a:rPr>
              <a:t>Cloud</a:t>
            </a:r>
            <a:r>
              <a:rPr dirty="0" spc="-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IaaS</a:t>
            </a:r>
            <a:r>
              <a:rPr dirty="0" spc="-25"/>
              <a:t> </a:t>
            </a:r>
            <a:r>
              <a:rPr dirty="0"/>
              <a:t>might</a:t>
            </a:r>
            <a:r>
              <a:rPr dirty="0" spc="-15"/>
              <a:t> </a:t>
            </a:r>
            <a:r>
              <a:rPr dirty="0"/>
              <a:t>provide</a:t>
            </a:r>
            <a:r>
              <a:rPr dirty="0" spc="-15"/>
              <a:t> </a:t>
            </a:r>
            <a:r>
              <a:rPr dirty="0"/>
              <a:t>an</a:t>
            </a:r>
            <a:r>
              <a:rPr dirty="0" spc="-10"/>
              <a:t> opportunity.</a:t>
            </a:r>
          </a:p>
          <a:p>
            <a:pPr algn="just" marL="355600" marR="5080" indent="-34290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The</a:t>
            </a:r>
            <a:r>
              <a:rPr dirty="0" spc="355"/>
              <a:t> </a:t>
            </a:r>
            <a:r>
              <a:rPr dirty="0"/>
              <a:t>IaaS</a:t>
            </a:r>
            <a:r>
              <a:rPr dirty="0" spc="365"/>
              <a:t> </a:t>
            </a:r>
            <a:r>
              <a:rPr dirty="0"/>
              <a:t>Cloud</a:t>
            </a:r>
            <a:r>
              <a:rPr dirty="0" spc="365"/>
              <a:t> </a:t>
            </a:r>
            <a:r>
              <a:rPr dirty="0"/>
              <a:t>Provider</a:t>
            </a:r>
            <a:r>
              <a:rPr dirty="0" spc="370"/>
              <a:t> </a:t>
            </a:r>
            <a:r>
              <a:rPr dirty="0"/>
              <a:t>may</a:t>
            </a:r>
            <a:r>
              <a:rPr dirty="0" spc="360"/>
              <a:t> </a:t>
            </a:r>
            <a:r>
              <a:rPr dirty="0"/>
              <a:t>provide</a:t>
            </a:r>
            <a:r>
              <a:rPr dirty="0" spc="370"/>
              <a:t> </a:t>
            </a:r>
            <a:r>
              <a:rPr dirty="0"/>
              <a:t>better</a:t>
            </a:r>
            <a:r>
              <a:rPr dirty="0" spc="370"/>
              <a:t> </a:t>
            </a:r>
            <a:r>
              <a:rPr dirty="0"/>
              <a:t>security</a:t>
            </a:r>
            <a:r>
              <a:rPr dirty="0" spc="345"/>
              <a:t> </a:t>
            </a:r>
            <a:r>
              <a:rPr dirty="0"/>
              <a:t>than</a:t>
            </a:r>
            <a:r>
              <a:rPr dirty="0" spc="380"/>
              <a:t> </a:t>
            </a:r>
            <a:r>
              <a:rPr dirty="0"/>
              <a:t>your</a:t>
            </a:r>
            <a:r>
              <a:rPr dirty="0" spc="370"/>
              <a:t> </a:t>
            </a:r>
            <a:r>
              <a:rPr dirty="0"/>
              <a:t>existing</a:t>
            </a:r>
            <a:r>
              <a:rPr dirty="0" spc="370"/>
              <a:t> </a:t>
            </a:r>
            <a:r>
              <a:rPr dirty="0" spc="-10"/>
              <a:t>software </a:t>
            </a:r>
            <a:r>
              <a:rPr dirty="0" spc="70"/>
              <a:t>(security—</a:t>
            </a:r>
            <a:r>
              <a:rPr dirty="0"/>
              <a:t>or</a:t>
            </a:r>
            <a:r>
              <a:rPr dirty="0" spc="90"/>
              <a:t> </a:t>
            </a:r>
            <a:r>
              <a:rPr dirty="0"/>
              <a:t>inadequate</a:t>
            </a:r>
            <a:r>
              <a:rPr dirty="0" spc="90"/>
              <a:t> </a:t>
            </a:r>
            <a:r>
              <a:rPr dirty="0" spc="75"/>
              <a:t>security—</a:t>
            </a:r>
            <a:r>
              <a:rPr dirty="0"/>
              <a:t>can</a:t>
            </a:r>
            <a:r>
              <a:rPr dirty="0" spc="90"/>
              <a:t> </a:t>
            </a:r>
            <a:r>
              <a:rPr dirty="0"/>
              <a:t>also</a:t>
            </a:r>
            <a:r>
              <a:rPr dirty="0" spc="95"/>
              <a:t> </a:t>
            </a:r>
            <a:r>
              <a:rPr dirty="0"/>
              <a:t>be</a:t>
            </a:r>
            <a:r>
              <a:rPr dirty="0" spc="90"/>
              <a:t> </a:t>
            </a:r>
            <a:r>
              <a:rPr dirty="0"/>
              <a:t>a</a:t>
            </a:r>
            <a:r>
              <a:rPr dirty="0" spc="85"/>
              <a:t> </a:t>
            </a:r>
            <a:r>
              <a:rPr dirty="0"/>
              <a:t>disadvantage).</a:t>
            </a:r>
            <a:r>
              <a:rPr dirty="0" spc="95"/>
              <a:t> </a:t>
            </a:r>
            <a:r>
              <a:rPr dirty="0"/>
              <a:t>Better</a:t>
            </a:r>
            <a:r>
              <a:rPr dirty="0" spc="85"/>
              <a:t> </a:t>
            </a:r>
            <a:r>
              <a:rPr dirty="0"/>
              <a:t>security</a:t>
            </a:r>
            <a:r>
              <a:rPr dirty="0" spc="75"/>
              <a:t> </a:t>
            </a:r>
            <a:r>
              <a:rPr dirty="0" spc="-25"/>
              <a:t>may </a:t>
            </a:r>
            <a:r>
              <a:rPr dirty="0"/>
              <a:t>come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/>
              <a:t>part</a:t>
            </a:r>
            <a:r>
              <a:rPr dirty="0" spc="20"/>
              <a:t> </a:t>
            </a:r>
            <a:r>
              <a:rPr dirty="0"/>
              <a:t>because</a:t>
            </a:r>
            <a:r>
              <a:rPr dirty="0" spc="15"/>
              <a:t> </a:t>
            </a:r>
            <a:r>
              <a:rPr dirty="0"/>
              <a:t>it</a:t>
            </a:r>
            <a:r>
              <a:rPr dirty="0" spc="20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/>
              <a:t>critical</a:t>
            </a:r>
            <a:r>
              <a:rPr dirty="0" spc="15"/>
              <a:t> </a:t>
            </a:r>
            <a:r>
              <a:rPr dirty="0"/>
              <a:t>for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IaaS</a:t>
            </a:r>
            <a:r>
              <a:rPr dirty="0" spc="15"/>
              <a:t> </a:t>
            </a:r>
            <a:r>
              <a:rPr dirty="0"/>
              <a:t>Cloud</a:t>
            </a:r>
            <a:r>
              <a:rPr dirty="0" spc="15"/>
              <a:t> </a:t>
            </a:r>
            <a:r>
              <a:rPr dirty="0"/>
              <a:t>Provider</a:t>
            </a:r>
            <a:r>
              <a:rPr dirty="0" spc="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/>
              <a:t>part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/>
              <a:t>their</a:t>
            </a:r>
            <a:r>
              <a:rPr dirty="0" spc="15"/>
              <a:t> </a:t>
            </a:r>
            <a:r>
              <a:rPr dirty="0" spc="-20"/>
              <a:t>main </a:t>
            </a:r>
            <a:r>
              <a:rPr dirty="0"/>
              <a:t>business.</a:t>
            </a:r>
            <a:r>
              <a:rPr dirty="0" spc="320"/>
              <a:t> </a:t>
            </a:r>
            <a:r>
              <a:rPr dirty="0" spc="-10"/>
              <a:t>In-</a:t>
            </a:r>
            <a:r>
              <a:rPr dirty="0"/>
              <a:t>house</a:t>
            </a:r>
            <a:r>
              <a:rPr dirty="0" spc="310"/>
              <a:t> </a:t>
            </a:r>
            <a:r>
              <a:rPr dirty="0"/>
              <a:t>security,</a:t>
            </a:r>
            <a:r>
              <a:rPr dirty="0" spc="335"/>
              <a:t> </a:t>
            </a:r>
            <a:r>
              <a:rPr dirty="0"/>
              <a:t>on</a:t>
            </a:r>
            <a:r>
              <a:rPr dirty="0" spc="310"/>
              <a:t> </a:t>
            </a:r>
            <a:r>
              <a:rPr dirty="0"/>
              <a:t>the</a:t>
            </a:r>
            <a:r>
              <a:rPr dirty="0" spc="310"/>
              <a:t> </a:t>
            </a:r>
            <a:r>
              <a:rPr dirty="0"/>
              <a:t>other</a:t>
            </a:r>
            <a:r>
              <a:rPr dirty="0" spc="315"/>
              <a:t> </a:t>
            </a:r>
            <a:r>
              <a:rPr dirty="0"/>
              <a:t>hand,</a:t>
            </a:r>
            <a:r>
              <a:rPr dirty="0" spc="315"/>
              <a:t> </a:t>
            </a:r>
            <a:r>
              <a:rPr dirty="0"/>
              <a:t>is</a:t>
            </a:r>
            <a:r>
              <a:rPr dirty="0" spc="315"/>
              <a:t> </a:t>
            </a:r>
            <a:r>
              <a:rPr dirty="0"/>
              <a:t>not</a:t>
            </a:r>
            <a:r>
              <a:rPr dirty="0" spc="325"/>
              <a:t> </a:t>
            </a:r>
            <a:r>
              <a:rPr dirty="0"/>
              <a:t>usually</a:t>
            </a:r>
            <a:r>
              <a:rPr dirty="0" spc="310"/>
              <a:t> </a:t>
            </a:r>
            <a:r>
              <a:rPr dirty="0"/>
              <a:t>an</a:t>
            </a:r>
            <a:r>
              <a:rPr dirty="0" spc="310"/>
              <a:t> </a:t>
            </a:r>
            <a:r>
              <a:rPr dirty="0"/>
              <a:t>individual's</a:t>
            </a:r>
            <a:r>
              <a:rPr dirty="0" spc="320"/>
              <a:t> </a:t>
            </a:r>
            <a:r>
              <a:rPr dirty="0"/>
              <a:t>or</a:t>
            </a:r>
            <a:r>
              <a:rPr dirty="0" spc="315"/>
              <a:t> </a:t>
            </a:r>
            <a:r>
              <a:rPr dirty="0" spc="-50"/>
              <a:t>a </a:t>
            </a:r>
            <a:r>
              <a:rPr dirty="0"/>
              <a:t>organization's</a:t>
            </a:r>
            <a:r>
              <a:rPr dirty="0" spc="135"/>
              <a:t> </a:t>
            </a:r>
            <a:r>
              <a:rPr dirty="0"/>
              <a:t>main</a:t>
            </a:r>
            <a:r>
              <a:rPr dirty="0" spc="145"/>
              <a:t> </a:t>
            </a:r>
            <a:r>
              <a:rPr dirty="0"/>
              <a:t>business</a:t>
            </a:r>
            <a:r>
              <a:rPr dirty="0" spc="155"/>
              <a:t> </a:t>
            </a:r>
            <a:r>
              <a:rPr dirty="0"/>
              <a:t>and,</a:t>
            </a:r>
            <a:r>
              <a:rPr dirty="0" spc="150"/>
              <a:t> </a:t>
            </a:r>
            <a:r>
              <a:rPr dirty="0"/>
              <a:t>therefore,</a:t>
            </a:r>
            <a:r>
              <a:rPr dirty="0" spc="150"/>
              <a:t> </a:t>
            </a:r>
            <a:r>
              <a:rPr dirty="0"/>
              <a:t>may</a:t>
            </a:r>
            <a:r>
              <a:rPr dirty="0" spc="114"/>
              <a:t> </a:t>
            </a:r>
            <a:r>
              <a:rPr dirty="0"/>
              <a:t>not</a:t>
            </a:r>
            <a:r>
              <a:rPr dirty="0" spc="150"/>
              <a:t> </a:t>
            </a:r>
            <a:r>
              <a:rPr dirty="0"/>
              <a:t>be</a:t>
            </a:r>
            <a:r>
              <a:rPr dirty="0" spc="145"/>
              <a:t> </a:t>
            </a:r>
            <a:r>
              <a:rPr dirty="0"/>
              <a:t>as</a:t>
            </a:r>
            <a:r>
              <a:rPr dirty="0" spc="145"/>
              <a:t> </a:t>
            </a:r>
            <a:r>
              <a:rPr dirty="0"/>
              <a:t>good</a:t>
            </a:r>
            <a:r>
              <a:rPr dirty="0" spc="145"/>
              <a:t> </a:t>
            </a:r>
            <a:r>
              <a:rPr dirty="0"/>
              <a:t>as</a:t>
            </a:r>
            <a:r>
              <a:rPr dirty="0" spc="145"/>
              <a:t> </a:t>
            </a:r>
            <a:r>
              <a:rPr dirty="0"/>
              <a:t>that</a:t>
            </a:r>
            <a:r>
              <a:rPr dirty="0" spc="155"/>
              <a:t> </a:t>
            </a:r>
            <a:r>
              <a:rPr dirty="0"/>
              <a:t>offered</a:t>
            </a:r>
            <a:r>
              <a:rPr dirty="0" spc="145"/>
              <a:t> </a:t>
            </a:r>
            <a:r>
              <a:rPr dirty="0" spc="-25"/>
              <a:t>by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IaaS</a:t>
            </a:r>
            <a:r>
              <a:rPr dirty="0" spc="-5"/>
              <a:t> </a:t>
            </a:r>
            <a:r>
              <a:rPr dirty="0"/>
              <a:t>Cloud</a:t>
            </a:r>
            <a:r>
              <a:rPr dirty="0" spc="-5"/>
              <a:t> </a:t>
            </a:r>
            <a:r>
              <a:rPr dirty="0" spc="-10"/>
              <a:t>Provider.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Infrastructure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/>
              <a:t>Service</a:t>
            </a:r>
            <a:r>
              <a:rPr dirty="0" spc="-25"/>
              <a:t> </a:t>
            </a:r>
            <a:r>
              <a:rPr dirty="0"/>
              <a:t>(IaaS)</a:t>
            </a:r>
            <a:r>
              <a:rPr dirty="0" spc="-10"/>
              <a:t> Advantages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390903"/>
            <a:ext cx="8990330" cy="290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762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10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new</a:t>
            </a:r>
            <a:r>
              <a:rPr dirty="0" sz="1800" spc="9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releases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development</a:t>
            </a:r>
            <a:r>
              <a:rPr dirty="0" sz="1800" spc="10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or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software.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handled by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Provider.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center.</a:t>
            </a:r>
            <a:r>
              <a:rPr dirty="0" sz="1800" spc="2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2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1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handled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1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0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Cloud Provider.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Usually,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backups.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handled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26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Cloud Provider.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28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supports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failover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should</a:t>
            </a:r>
            <a:r>
              <a:rPr dirty="0" sz="1800" spc="27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27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(for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database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management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software)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 the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center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become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unavailable,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failover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 a concern of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do not need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plan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it.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Infrastructure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/>
              <a:t>Service</a:t>
            </a:r>
            <a:r>
              <a:rPr dirty="0" spc="-25"/>
              <a:t> </a:t>
            </a:r>
            <a:r>
              <a:rPr dirty="0"/>
              <a:t>(IaaS)</a:t>
            </a:r>
            <a:r>
              <a:rPr dirty="0" spc="-10"/>
              <a:t> Disadvantages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1390903"/>
            <a:ext cx="8990965" cy="263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0"/>
              </a:spcBef>
              <a:buFont typeface="Wingdings"/>
              <a:buChar char="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4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mandatory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5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type</a:t>
            </a:r>
            <a:r>
              <a:rPr dirty="0" sz="1800" spc="44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modified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support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deployed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application.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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There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may</a:t>
            </a:r>
            <a:r>
              <a:rPr dirty="0" sz="1800" spc="28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legal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reasons</a:t>
            </a:r>
            <a:r>
              <a:rPr dirty="0" sz="1800" spc="3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preclude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29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30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off-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premise</a:t>
            </a:r>
            <a:r>
              <a:rPr dirty="0" sz="1800" spc="29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30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out-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of-counry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storage.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"/>
              <a:tabLst>
                <a:tab pos="354965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Security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features of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800" spc="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may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-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adequate for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needs.</a:t>
            </a:r>
            <a:endParaRPr sz="1800">
              <a:latin typeface="Microsoft Sans Serif"/>
              <a:cs typeface="Microsoft Sans Serif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1080"/>
              </a:spcBef>
              <a:buFont typeface="Wingdings"/>
              <a:buChar char=""/>
              <a:tabLst>
                <a:tab pos="355600" algn="l"/>
              </a:tabLst>
            </a:pP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43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4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need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high-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speed</a:t>
            </a:r>
            <a:r>
              <a:rPr dirty="0" sz="1800" spc="4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interaction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between</a:t>
            </a:r>
            <a:r>
              <a:rPr dirty="0" sz="1800" spc="44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internal</a:t>
            </a:r>
            <a:r>
              <a:rPr dirty="0" sz="1800" spc="434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42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663300"/>
                </a:solidFill>
                <a:latin typeface="Microsoft Sans Serif"/>
                <a:cs typeface="Microsoft Sans Serif"/>
              </a:rPr>
              <a:t>or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another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IaaS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Cloud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Provider,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relying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25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20">
                <a:solidFill>
                  <a:srgbClr val="663300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Internet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connection may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provide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speed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-15">
                <a:solidFill>
                  <a:srgbClr val="663300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3300"/>
                </a:solidFill>
                <a:latin typeface="Microsoft Sans Serif"/>
                <a:cs typeface="Microsoft Sans Serif"/>
              </a:rPr>
              <a:t>you </a:t>
            </a:r>
            <a:r>
              <a:rPr dirty="0" sz="1800" spc="-10">
                <a:solidFill>
                  <a:srgbClr val="663300"/>
                </a:solidFill>
                <a:latin typeface="Microsoft Sans Serif"/>
                <a:cs typeface="Microsoft Sans Serif"/>
              </a:rPr>
              <a:t>need.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33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George Coulouris</dc:creator>
  <dc:title>Figure 15.1 A distributed multimedia system</dc:title>
  <dcterms:created xsi:type="dcterms:W3CDTF">2026-03-29T18:35:16Z</dcterms:created>
  <dcterms:modified xsi:type="dcterms:W3CDTF">2026-03-29T18:35:16Z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2026-03-29T00:00:00Z</vt:filetime>
  </property>
  <property fmtid="{D5CDD505-2E9C-101B-9397-08002B2CF9AE}" pid="5" name="Producer">
    <vt:lpwstr>Microsoft® PowerPoint® 2010</vt:lpwstr>
  </property>
</Properties>
</file>