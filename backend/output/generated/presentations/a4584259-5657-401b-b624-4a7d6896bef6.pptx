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pPr>
            <a:r>
              <a:t>Infrastructure as a Service (IaaS)</a:t>
            </a:r>
          </a:p>
        </p:txBody>
      </p:sp>
      <p:sp>
        <p:nvSpPr>
          <p:cNvPr id="3" name="TextBox 2"/>
          <p:cNvSpPr txBox="1"/>
          <p:nvPr/>
        </p:nvSpPr>
        <p:spPr>
          <a:xfrm>
            <a:off x="731520" y="1554480"/>
            <a:ext cx="10789920" cy="548640"/>
          </a:xfrm>
          <a:prstGeom prst="rect">
            <a:avLst/>
          </a:prstGeom>
          <a:noFill/>
        </p:spPr>
        <p:txBody>
          <a:bodyPr wrap="none">
            <a:spAutoFit/>
          </a:bodyPr>
          <a:lstStyle/>
          <a:p>
            <a:pPr>
              <a:defRPr sz="2400"/>
            </a:pPr>
            <a:r>
              <a:t>Core Concepts, Architecture, and Deployment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pPr>
            <a:r>
              <a:t>What is IaaS?</a:t>
            </a:r>
          </a:p>
        </p:txBody>
      </p:sp>
      <p:sp>
        <p:nvSpPr>
          <p:cNvPr id="3" name="TextBox 2"/>
          <p:cNvSpPr txBox="1"/>
          <p:nvPr/>
        </p:nvSpPr>
        <p:spPr>
          <a:xfrm>
            <a:off x="822960" y="1554480"/>
            <a:ext cx="10424160" cy="1280160"/>
          </a:xfrm>
          <a:prstGeom prst="rect">
            <a:avLst/>
          </a:prstGeom>
          <a:noFill/>
        </p:spPr>
        <p:txBody>
          <a:bodyPr wrap="none">
            <a:spAutoFit/>
          </a:bodyPr>
          <a:lstStyle/>
          <a:p>
            <a:pPr>
              <a:defRPr sz="1800"/>
            </a:pPr>
            <a:r>
              <a:t>IaaS provides virtualized computing resources over the internet. Physically, hardware resources are pulled from servers and networks distributed across multiple data centers—maintained by the cloud provider. Clients access virtualized components to build their own IT platforms.</a:t>
            </a:r>
          </a:p>
        </p:txBody>
      </p:sp>
      <p:sp>
        <p:nvSpPr>
          <p:cNvPr id="4" name="TextBox 3"/>
          <p:cNvSpPr txBox="1"/>
          <p:nvPr/>
        </p:nvSpPr>
        <p:spPr>
          <a:xfrm>
            <a:off x="822960" y="3017520"/>
            <a:ext cx="10424160" cy="1234440"/>
          </a:xfrm>
          <a:prstGeom prst="rect">
            <a:avLst/>
          </a:prstGeom>
          <a:noFill/>
        </p:spPr>
        <p:txBody>
          <a:bodyPr wrap="none">
            <a:spAutoFit/>
          </a:bodyPr>
          <a:lstStyle/>
          <a:p>
            <a:pPr>
              <a:defRPr sz="2000"/>
            </a:pPr>
            <a:r>
              <a:t>Dynamically provisioned via public web services (REST/SOAP)</a:t>
            </a:r>
          </a:p>
          <a:p>
            <a:pPr>
              <a:defRPr sz="2000"/>
            </a:pPr>
            <a:r>
              <a:t>Utility billing: users pay only for used capacity at a given time</a:t>
            </a:r>
          </a:p>
          <a:p>
            <a:pPr>
              <a:defRPr sz="2000"/>
            </a:pPr>
            <a:r>
              <a:t>Provider manages hardware; user manages OS, middleware, apps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pPr>
            <a:r>
              <a:t>Key Characteristics of IaaS</a:t>
            </a:r>
          </a:p>
        </p:txBody>
      </p:sp>
      <p:sp>
        <p:nvSpPr>
          <p:cNvPr id="3" name="TextBox 2"/>
          <p:cNvSpPr txBox="1"/>
          <p:nvPr/>
        </p:nvSpPr>
        <p:spPr>
          <a:xfrm>
            <a:off x="822960" y="1554480"/>
            <a:ext cx="10424160" cy="2057400"/>
          </a:xfrm>
          <a:prstGeom prst="rect">
            <a:avLst/>
          </a:prstGeom>
          <a:noFill/>
        </p:spPr>
        <p:txBody>
          <a:bodyPr wrap="none">
            <a:spAutoFit/>
          </a:bodyPr>
          <a:lstStyle/>
          <a:p>
            <a:pPr>
              <a:defRPr sz="2000"/>
            </a:pPr>
            <a:r>
              <a:t>On-demand self-service provisioning</a:t>
            </a:r>
          </a:p>
          <a:p>
            <a:pPr>
              <a:defRPr sz="2000"/>
            </a:pPr>
            <a:r>
              <a:t>Broad network access (e.g., via REST APIs)</a:t>
            </a:r>
          </a:p>
          <a:p>
            <a:pPr>
              <a:defRPr sz="2000"/>
            </a:pPr>
            <a:r>
              <a:t>Resource pooling and multi-tenancy</a:t>
            </a:r>
          </a:p>
          <a:p>
            <a:pPr>
              <a:defRPr sz="2000"/>
            </a:pPr>
            <a:r>
              <a:t>Rapid elasticity (scaling up/down)</a:t>
            </a:r>
          </a:p>
          <a:p>
            <a:pPr>
              <a:defRPr sz="2000"/>
            </a:pPr>
            <a:r>
              <a:t>Measured service (pay-per-use)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pPr>
            <a:r>
              <a:t>Public Cloud IaaS Providers</a:t>
            </a:r>
          </a:p>
        </p:txBody>
      </p:sp>
      <p:sp>
        <p:nvSpPr>
          <p:cNvPr id="3" name="TextBox 2"/>
          <p:cNvSpPr txBox="1"/>
          <p:nvPr/>
        </p:nvSpPr>
        <p:spPr>
          <a:xfrm>
            <a:off x="822960" y="1554480"/>
            <a:ext cx="10424160" cy="2880360"/>
          </a:xfrm>
          <a:prstGeom prst="rect">
            <a:avLst/>
          </a:prstGeom>
          <a:noFill/>
        </p:spPr>
        <p:txBody>
          <a:bodyPr wrap="none">
            <a:spAutoFit/>
          </a:bodyPr>
          <a:lstStyle/>
          <a:p>
            <a:pPr>
              <a:defRPr sz="2000"/>
            </a:pPr>
            <a:r>
              <a:t>Amazon Elastic Compute Cloud (EC2)</a:t>
            </a:r>
          </a:p>
          <a:p>
            <a:pPr>
              <a:defRPr sz="2000"/>
            </a:pPr>
            <a:r>
              <a:t>GoGrid</a:t>
            </a:r>
          </a:p>
          <a:p>
            <a:pPr>
              <a:defRPr sz="2000"/>
            </a:pPr>
            <a:r>
              <a:t>Joyent</a:t>
            </a:r>
          </a:p>
          <a:p>
            <a:pPr>
              <a:defRPr sz="2000"/>
            </a:pPr>
            <a:r>
              <a:t>Accelerator</a:t>
            </a:r>
          </a:p>
          <a:p>
            <a:pPr>
              <a:defRPr sz="2000"/>
            </a:pPr>
            <a:r>
              <a:t>Rackspace</a:t>
            </a:r>
          </a:p>
          <a:p>
            <a:pPr>
              <a:defRPr sz="2000"/>
            </a:pPr>
            <a:r>
              <a:t>AppNexus FlexiScale</a:t>
            </a:r>
          </a:p>
          <a:p>
            <a:pPr>
              <a:defRPr sz="2000"/>
            </a:pPr>
            <a:r>
              <a:t>Manjrasoft Aneka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pPr>
            <a:r>
              <a:t>Private &amp; Hybrid Cloud IaaS</a:t>
            </a:r>
          </a:p>
        </p:txBody>
      </p:sp>
      <p:sp>
        <p:nvSpPr>
          <p:cNvPr id="3" name="TextBox 2"/>
          <p:cNvSpPr txBox="1"/>
          <p:nvPr/>
        </p:nvSpPr>
        <p:spPr>
          <a:xfrm>
            <a:off x="822960" y="1554480"/>
            <a:ext cx="10424160" cy="1234440"/>
          </a:xfrm>
          <a:prstGeom prst="rect">
            <a:avLst/>
          </a:prstGeom>
          <a:noFill/>
        </p:spPr>
        <p:txBody>
          <a:bodyPr wrap="none">
            <a:spAutoFit/>
          </a:bodyPr>
          <a:lstStyle/>
          <a:p>
            <a:pPr>
              <a:defRPr sz="2000"/>
            </a:pPr>
            <a:r>
              <a:t>Private IaaS: Eucalyptus, OpenNebula</a:t>
            </a:r>
          </a:p>
          <a:p>
            <a:pPr>
              <a:defRPr sz="2000"/>
            </a:pPr>
            <a:r>
              <a:t>Hybrid cloud: Combines private and public resources</a:t>
            </a:r>
          </a:p>
          <a:p>
            <a:pPr>
              <a:defRPr sz="2000"/>
            </a:pPr>
            <a:r>
              <a:t>Cloud bursting: Uses public cloud to handle sudden demand spikes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pPr>
            <a:r>
              <a:t>Virtual Machine Provisioning Process</a:t>
            </a:r>
          </a:p>
        </p:txBody>
      </p:sp>
      <p:sp>
        <p:nvSpPr>
          <p:cNvPr id="3" name="TextBox 2"/>
          <p:cNvSpPr txBox="1"/>
          <p:nvPr/>
        </p:nvSpPr>
        <p:spPr>
          <a:xfrm>
            <a:off x="822960" y="1554480"/>
            <a:ext cx="10424160" cy="1645920"/>
          </a:xfrm>
          <a:prstGeom prst="rect">
            <a:avLst/>
          </a:prstGeom>
          <a:noFill/>
        </p:spPr>
        <p:txBody>
          <a:bodyPr wrap="none">
            <a:spAutoFit/>
          </a:bodyPr>
          <a:lstStyle/>
          <a:p>
            <a:pPr>
              <a:defRPr sz="2000"/>
            </a:pPr>
            <a:r>
              <a:t>Select a physical server with sufficient capacity and an OS template</a:t>
            </a:r>
          </a:p>
          <a:p>
            <a:pPr>
              <a:defRPr sz="2000"/>
            </a:pPr>
            <a:r>
              <a:t>Load OS, drivers, middleware, and required applications</a:t>
            </a:r>
          </a:p>
          <a:p>
            <a:pPr>
              <a:defRPr sz="2000"/>
            </a:pPr>
            <a:r>
              <a:t>Customize configuration (IP, gateway, network, storage)</a:t>
            </a:r>
          </a:p>
          <a:p>
            <a:pPr>
              <a:defRPr sz="2000"/>
            </a:pPr>
            <a:r>
              <a:t>Deploy and start the virtual server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pPr>
            <a:r>
              <a:t>VM Migration Techniques</a:t>
            </a:r>
          </a:p>
        </p:txBody>
      </p:sp>
      <p:sp>
        <p:nvSpPr>
          <p:cNvPr id="3" name="TextBox 2"/>
          <p:cNvSpPr txBox="1"/>
          <p:nvPr/>
        </p:nvSpPr>
        <p:spPr>
          <a:xfrm>
            <a:off x="822960" y="1554480"/>
            <a:ext cx="10424160" cy="1234440"/>
          </a:xfrm>
          <a:prstGeom prst="rect">
            <a:avLst/>
          </a:prstGeom>
          <a:noFill/>
        </p:spPr>
        <p:txBody>
          <a:bodyPr wrap="none">
            <a:spAutoFit/>
          </a:bodyPr>
          <a:lstStyle/>
          <a:p>
            <a:pPr>
              <a:defRPr sz="2000"/>
            </a:pPr>
            <a:r>
              <a:t>Hot / Live migration: VM remains running during move</a:t>
            </a:r>
          </a:p>
          <a:p>
            <a:pPr>
              <a:defRPr sz="2000"/>
            </a:pPr>
            <a:r>
              <a:t>Cold / Regular migration: VM is powered off during move</a:t>
            </a:r>
          </a:p>
          <a:p>
            <a:pPr>
              <a:defRPr sz="2000"/>
            </a:pPr>
            <a:r>
              <a:t>Live storage migration: Move storage while VM runs</a:t>
            </a:r>
          </a:p>
        </p:txBody>
      </p:sp>
      <p:sp>
        <p:nvSpPr>
          <p:cNvPr id="4" name="TextBox 3"/>
          <p:cNvSpPr txBox="1"/>
          <p:nvPr/>
        </p:nvSpPr>
        <p:spPr>
          <a:xfrm>
            <a:off x="822960" y="2971800"/>
            <a:ext cx="10424160" cy="1280160"/>
          </a:xfrm>
          <a:prstGeom prst="rect">
            <a:avLst/>
          </a:prstGeom>
          <a:noFill/>
        </p:spPr>
        <p:txBody>
          <a:bodyPr wrap="none">
            <a:spAutoFit/>
          </a:bodyPr>
          <a:lstStyle/>
          <a:p>
            <a:pPr>
              <a:defRPr sz="1800"/>
            </a:pPr>
            <a:r>
              <a:t>All VM components (CPU, memory, storage, networking) are virtualized, enabling full state capture as portable data files.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pPr>
            <a:r>
              <a:t>Virtual Data Centers (VDC)</a:t>
            </a:r>
          </a:p>
        </p:txBody>
      </p:sp>
      <p:sp>
        <p:nvSpPr>
          <p:cNvPr id="3" name="TextBox 2"/>
          <p:cNvSpPr txBox="1"/>
          <p:nvPr/>
        </p:nvSpPr>
        <p:spPr>
          <a:xfrm>
            <a:off x="822960" y="1554480"/>
            <a:ext cx="10424160" cy="1234440"/>
          </a:xfrm>
          <a:prstGeom prst="rect">
            <a:avLst/>
          </a:prstGeom>
          <a:noFill/>
        </p:spPr>
        <p:txBody>
          <a:bodyPr wrap="none">
            <a:spAutoFit/>
          </a:bodyPr>
          <a:lstStyle/>
          <a:p>
            <a:pPr>
              <a:defRPr sz="2000"/>
            </a:pPr>
            <a:r>
              <a:t>A virtualized network of interconnected virtual servers</a:t>
            </a:r>
          </a:p>
          <a:p>
            <a:pPr>
              <a:defRPr sz="2000"/>
            </a:pPr>
            <a:r>
              <a:t>Used for enhanced cloud hosting, enterprise IT infrastructure</a:t>
            </a:r>
          </a:p>
          <a:p>
            <a:pPr>
              <a:defRPr sz="2000"/>
            </a:pPr>
            <a:r>
              <a:t>Deployable in private, public, or hybrid cloud environments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