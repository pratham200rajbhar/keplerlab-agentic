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752990" cy="975299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Distributed Systems &amp; 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D6EFD"/>
                </a:solidFill>
              </a:defRPr>
            </a:pPr>
            <a:r>
              <a:t>From RPC to Web Services to Cloud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Distributed systems: independent computers appearing as a single coherent system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Middleware: software layer masking heterogeneity and enabling distributed programming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Cloud computing: utility-based delivery of virtualized computing resources over the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Understanding distributed computing foundations is essential to grasp how cloud computing evolved and how modern web services operate.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Conceptual diagram showing multiple computers connected via network, with a transparent software layer (middleware) above OS and below applications, and a cloud icon representing cloud computing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Distributed System Properties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Hides distribution from users; system perceived as single entity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Interoperability across heterogeneous platforms via standard interfaces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Remains effective with significant increases in users and resources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Manages simultaneous access to shared resources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Heterogeneity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Enables interoperation across different OS, hardware, languages, and security models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Fault Tolerance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Continues operation despite component failures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Modular diagram with seven interconnected nodes labeled with each property, connected to a central 'Distributed System' core, with icons representing hardware, network, and software layers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Remote Procedure Call (RPC)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RPC enables a process to call a subroutine in a different address space, typically on another machine, using stubs and network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Client stub marshals parameters and sends message over network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Server stub unmarshals parameters and invokes target procedure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Network routines handle message transmission between stubs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Stubs act as proxies, making remote calls appear local to developers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Side-by-side diagram showing client and server machines with processes, stubs, and network routines; arrows illustrate data flow from client call through stub, network, server stub, to server procedure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RPC Execution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RPC involves 10 distinct steps from client invocation to result return, ensuring transparent remote execution despite network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1. Client calls stub with local procedure semantics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2. Stub builds message and sends via network routines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3. Message transmitted across network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4. Server OS delivers message to server stub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5. Server stub unmarshals parameters and calls server function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6. Server function executes and returns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7. Server stub marshals return value and sends response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8. Client stub receives and unmarshals response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9. Client stub returns result to client code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10. Client resumes execution with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8638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Sequential numbered flowchart with 10 steps showing message flow between client stub, network, server stub, and server process; each step annotated with key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Distributed Object Technologies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Language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Key Characteristics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CORBA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Language-independent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Complex, uses IDL, supports multiple languages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Simpler, Java-to-Java only, Java-specific serialization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Microsoft 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Windows-centric, COM extension for distributed use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0040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Distributed objects enable method calls across hosts via remote methods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Client processes invoke methods on remote objects as if local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All use stubs/skeletons to abstract network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Three-column comparison diagram showing CORBA (multi-language arrows), RMI (Java-only arrows), and DCOM (Windows ecosystem arrows), each with IDL or Java interface icons and network connection 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Web Services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Web services are self-contained, platform-independent, and loosely coupled software components accessible over the Internet.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Machine-oriented (unlike websites for humans); designed for application-to-application communication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Use standard protocols: HTTP, XML, SOAP, REST, WSDL, UDDI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Solve interoperability, firewall traversal, and complexity issues of earlier distributed systems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66344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Solution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Interoperability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Standard XML-based messaging across platforms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Firewall Traversal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 HTTP port 80, widely allowed through firewalls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Developer-friendly with standardized interfaces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Three-panel illustration: left shows legacy systems with proprietary protocols and firewall blocks; center shows XML message passing through HTTP; right shows web service registry with WSDL descriptions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SOAP vs REST Web Services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Architectural style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XML, JSON, HTML, Plain text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Built-in WS-Security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Inherits from transport (e.g., HTTPS)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Higher (XML overhead)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Lower, more efficient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Strict standards (WS-* stack)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Minimal standards, flexible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JAX-WS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JAX-RS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SOAP: Protocol-based, XML-only, heavier but more standardized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REST: Style-based, format-flexible, lighter and more widely adopted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Two-column comparison with SOAP icon (envelope with XML tags) and REST icon (URL bar with JSON/HTML snippets); arrows show message structures and data formats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Web Services Architecture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Web services rely on XML-based technologies for messaging, description, and discovery—forming a layered architecture for service interaction.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XML Messaging: SOAP messages as XML streams over HTTP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WSDL: XML-based interface definition for service requester-provider interaction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UDDI: Registry for publishing and discovering web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Three-layer vertical stack: bottom layer XML (messaging), middle layer WSDL (description), top layer UDDI (registry); arrows show flow from discovery to invocation to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Web Services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A web service operation follows three core phases: publish, find, and bind—enabling dynamic service discovery and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Publish: Service provider registers WSDL in UDDI registry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Find: Client queries registry to locate suitable service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Bind: Client uses WSDL to invoke service and exchange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Circular workflow diagram with three labeled nodes: 'Publish' (provider writing to registry), 'Find' (client querying registry), 'Bind' (client invoking service via WSDL); arrows connect in sequence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Cloud Computing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Cloud computing delivers services in three primary models: IaaS, PaaS, and SaaS—each abstracting different infrastructure layers.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10896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What You 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Key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Example Services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Virtualized infrastructure (VMs, storage, networking)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Developers, 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AWS EC2, Azure VMs, Google Compute Engine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Runtime, middleware, databases, development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Google App Engine, Heroku, AWS Elastic Beanstalk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Pre-configured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End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Gmail, Salesforce, Google Docs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Three-tiered pyramid: bottom IaaS (server rack icon), middle PaaS (code editor + database icons), top SaaS (laptop with app icons); arrows show upward abstraction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IaaS Characteristics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Infrastructure as a Service provides virtualized computing resources over the internet with dynamic scaling, utility pricing, and self-service provisioning.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Dynamic Scaling: Resources automatically scale based on demand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Rental Model: Pay-per-use pricing without owning physical hardware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Self-Service Provisioning: Users provision resources via web interfaces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No Hardware Investment: Provider manages physical infrastructure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Location Independence: Accessible from anywhere with internet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No Single Point of Failure: Redundancy across data centers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Cloud icon with arrows pointing to four labeled boxes: 'Dynamic Scaling', 'Rental Model', 'Self-Service', 'No Hardware Investment'; background shows data center rack and user laptop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Virtualization in Cloud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Virtualization decouples OS from hardware, enabling efficient resource pooling, migration, and isolation—core to cloud elasticity.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Server Virtualization: Multiple VMs run on one physical server via hypervisor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Hypervisor Types: Type 1 (bare-metal, e.g., ESXi) vs Type 2 (hosted, e.g., VirtualBox)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Full Virtualization: Unmodified guest OS (e.g., VMware), uses binary translation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Para-Virtualization: Modified guest OS for performance (e.g., Xen)</a:t>
            </a:r>
          </a:p>
          <a:p>
            <a:pPr>
              <a:spcAft>
                <a:spcPts val="1000"/>
              </a:spcAft>
              <a:defRPr sz="2000">
                <a:solidFill>
                  <a:srgbClr val="6C757D"/>
                </a:solidFill>
              </a:defRPr>
            </a:pPr>
            <a:r>
              <a:t>  •  Live Migration: Move running VMs between hosts with minimal downtime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Visual suggested: Layered architecture diagram: hardware at bottom, hypervisor layer, then multiple VMs with OS and apps; arrows show migration between VMs on different hosts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