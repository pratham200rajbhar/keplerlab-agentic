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400" b="1" i="0">
                <a:solidFill>
                  <a:srgbClr val="E2E8F0"/>
                </a:solidFill>
                <a:latin typeface="Inter"/>
              </a:defRPr>
            </a:pPr>
            <a:r>
              <a:t>Distributed &amp; Cloud Computing Fundamentals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 i="0">
                <a:solidFill>
                  <a:srgbClr val="38BDF8"/>
                </a:solidFill>
                <a:latin typeface="Inter"/>
              </a:defRPr>
            </a:pPr>
            <a:r>
              <a:t>Core Concepts, Architectures, and Service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920240"/>
            <a:ext cx="1098468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 i="0">
                <a:solidFill>
                  <a:srgbClr val="E2E8F0"/>
                </a:solidFill>
                <a:latin typeface="Inter"/>
              </a:defRPr>
            </a:pPr>
            <a:r>
              <a:t>• Distributed systems: interconnected stand-alone computers working cooperatively as a single resource [Buyya]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23744"/>
            <a:ext cx="1109441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>
                <a:solidFill>
                  <a:srgbClr val="E2E8F0"/>
                </a:solidFill>
                <a:latin typeface="Inter"/>
              </a:defRPr>
            </a:pPr>
            <a:r>
              <a:t>Cloud computing delivers computing, storage, and software as utilities over the internet, based on service-level agreements [Buyya].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182112"/>
            <a:ext cx="11094415" cy="2377440"/>
          </a:xfrm>
          <a:prstGeom prst="roundRect">
            <a:avLst/>
          </a:prstGeom>
          <a:solidFill>
            <a:srgbClr val="F7F9FC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 i="1">
                <a:solidFill>
                  <a:srgbClr val="E2E8F0"/>
                </a:solidFill>
                <a:latin typeface="Inter"/>
              </a:defRPr>
            </a:pPr>
            <a:r>
              <a:t>A diagram showing multiple interconnected computers forming a unified cloud resource, with arrows indicating cooperative data flow and shared services; background gradient from dark blue to cyan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400" b="1" i="0">
                <a:solidFill>
                  <a:srgbClr val="E2E8F0"/>
                </a:solidFill>
                <a:latin typeface="Inter"/>
              </a:defRPr>
            </a:pPr>
            <a:r>
              <a:t>Key Dimensions of Distributed Systems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10984687" cy="1956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 i="0">
                <a:solidFill>
                  <a:srgbClr val="E2E8F0"/>
                </a:solidFill>
                <a:latin typeface="Inter"/>
              </a:defRPr>
            </a:pPr>
            <a:r>
              <a:t>• Operating systems: Multi-node OS support, resource management across nodes, fault tolerance mechanisms</a:t>
            </a:r>
          </a:p>
          <a:p>
            <a:pPr>
              <a:spcAft>
                <a:spcPts val="600"/>
              </a:spcAft>
              <a:defRPr sz="1800" b="0" i="0">
                <a:solidFill>
                  <a:srgbClr val="E2E8F0"/>
                </a:solidFill>
                <a:latin typeface="Inter"/>
              </a:defRPr>
            </a:pPr>
            <a:r>
              <a:t>• Hardware architectures: Heterogeneous compute (CPU/GPU/FPGA), network topologies (e.g., fat-tree, torus), latency-aware placement</a:t>
            </a:r>
          </a:p>
          <a:p>
            <a:pPr>
              <a:spcAft>
                <a:spcPts val="600"/>
              </a:spcAft>
              <a:defRPr sz="1800" b="0" i="0">
                <a:solidFill>
                  <a:srgbClr val="E2E8F0"/>
                </a:solidFill>
                <a:latin typeface="Inter"/>
              </a:defRPr>
            </a:pPr>
            <a:r>
              <a:t>• Communication architectures: Protocols (e.g., gRPC, REST, MPI), consistency models (e.g., eventual, strong), QoS guarantees</a:t>
            </a:r>
          </a:p>
          <a:p>
            <a:pPr>
              <a:spcAft>
                <a:spcPts val="600"/>
              </a:spcAft>
              <a:defRPr sz="1800" b="0" i="0">
                <a:solidFill>
                  <a:srgbClr val="E2E8F0"/>
                </a:solidFill>
                <a:latin typeface="Inter"/>
              </a:defRPr>
            </a:pPr>
            <a:r>
              <a:t>• Programming languages: Language runtime support for concurrency, serialization frameworks, distributed libraries (e.g., Akka, Ray)</a:t>
            </a:r>
          </a:p>
          <a:p>
            <a:pPr>
              <a:spcAft>
                <a:spcPts val="600"/>
              </a:spcAft>
              <a:defRPr sz="1800" b="0" i="0">
                <a:solidFill>
                  <a:srgbClr val="E2E8F0"/>
                </a:solidFill>
                <a:latin typeface="Inter"/>
              </a:defRPr>
            </a:pPr>
            <a:r>
              <a:t>• Software interfaces: APIs (e.g., REST, GraphQL), service discovery, load balancing strategies</a:t>
            </a:r>
          </a:p>
          <a:p>
            <a:pPr>
              <a:spcAft>
                <a:spcPts val="600"/>
              </a:spcAft>
              <a:defRPr sz="1800" b="0" i="0">
                <a:solidFill>
                  <a:srgbClr val="E2E8F0"/>
                </a:solidFill>
                <a:latin typeface="Inter"/>
              </a:defRPr>
            </a:pPr>
            <a:r>
              <a:t>• Security measures: Authentication (e.g., OAuth, mTLS), encryption (in transit/at rest), zero-trust architectures</a:t>
            </a:r>
          </a:p>
          <a:p>
            <a:pPr>
              <a:spcAft>
                <a:spcPts val="600"/>
              </a:spcAft>
              <a:defRPr sz="1800" b="0" i="0">
                <a:solidFill>
                  <a:srgbClr val="E2E8F0"/>
                </a:solidFill>
                <a:latin typeface="Inter"/>
              </a:defRPr>
            </a:pPr>
            <a:r>
              <a:t>• Information representation: Data formats (e.g., Protobuf, Avro), schema evolution, data partitioning and sharding strategies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410712"/>
            <a:ext cx="11094415" cy="694944"/>
          </a:xfrm>
          <a:prstGeom prst="roundRect">
            <a:avLst/>
          </a:prstGeom>
          <a:solidFill>
            <a:srgbClr val="F5F7F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0" i="0">
                <a:solidFill>
                  <a:srgbClr val="E2E8F0"/>
                </a:solidFill>
                <a:latin typeface="Inter"/>
              </a:defRPr>
            </a:pPr>
            <a:r>
              <a:t>Each dimension introduces critical trade-offs—such as consistency vs. availability, performance vs. complexity—that must be carefully balanced during design and deployment.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400" b="1" i="0">
                <a:solidFill>
                  <a:srgbClr val="E2E8F0"/>
                </a:solidFill>
                <a:latin typeface="Inter"/>
              </a:defRPr>
            </a:pPr>
            <a:r>
              <a:t>Transparency in Distributed Systems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25880"/>
          <a:ext cx="11094414" cy="29169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7207"/>
                <a:gridCol w="5547207"/>
              </a:tblGrid>
              <a:tr h="364617">
                <a:tc>
                  <a:txBody>
                    <a:bodyPr wrap="square"/>
                    <a:lstStyle/>
                    <a:p>
                      <a:pPr>
                        <a:defRPr sz="1400" b="1" i="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Transparency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1" i="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</a:tr>
              <a:tr h="364617"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E2E8F0"/>
                          </a:solidFill>
                          <a:latin typeface="Inter"/>
                        </a:defRPr>
                      </a:pPr>
                      <a:r>
                        <a:t>Access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E2E8F0"/>
                          </a:solidFill>
                          <a:latin typeface="Inter"/>
                        </a:defRPr>
                      </a:pPr>
                      <a:r>
                        <a:t>Hide differences in data representation and how a resource is accessed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364617"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E2E8F0"/>
                          </a:solidFill>
                          <a:latin typeface="Inter"/>
                        </a:defRPr>
                      </a:pPr>
                      <a:r>
                        <a:t>Location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E2E8F0"/>
                          </a:solidFill>
                          <a:latin typeface="Inter"/>
                        </a:defRPr>
                      </a:pPr>
                      <a:r>
                        <a:t>Hide where a resource is located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364617"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E2E8F0"/>
                          </a:solidFill>
                          <a:latin typeface="Inter"/>
                        </a:defRPr>
                      </a:pPr>
                      <a:r>
                        <a:t>Migration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E2E8F0"/>
                          </a:solidFill>
                          <a:latin typeface="Inter"/>
                        </a:defRPr>
                      </a:pPr>
                      <a:r>
                        <a:t>Hide that a resource may move to another location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364617"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E2E8F0"/>
                          </a:solidFill>
                          <a:latin typeface="Inter"/>
                        </a:defRPr>
                      </a:pPr>
                      <a:r>
                        <a:t>Replication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E2E8F0"/>
                          </a:solidFill>
                          <a:latin typeface="Inter"/>
                        </a:defRPr>
                      </a:pPr>
                      <a:r>
                        <a:t>Hide that a resource is replicated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364617"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E2E8F0"/>
                          </a:solidFill>
                          <a:latin typeface="Inter"/>
                        </a:defRPr>
                      </a:pPr>
                      <a:r>
                        <a:t>Concurrency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E2E8F0"/>
                          </a:solidFill>
                          <a:latin typeface="Inter"/>
                        </a:defRPr>
                      </a:pPr>
                      <a:r>
                        <a:t>Hide that a resource may be shared by several competitive users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364617"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E2E8F0"/>
                          </a:solidFill>
                          <a:latin typeface="Inter"/>
                        </a:defRPr>
                      </a:pPr>
                      <a:r>
                        <a:t>Failure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E2E8F0"/>
                          </a:solidFill>
                          <a:latin typeface="Inter"/>
                        </a:defRPr>
                      </a:pPr>
                      <a:r>
                        <a:t>Hide the failure and recovery of a resource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364617"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E2E8F0"/>
                          </a:solidFill>
                          <a:latin typeface="Inter"/>
                        </a:defRPr>
                      </a:pPr>
                      <a:r>
                        <a:t>Persistence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E2E8F0"/>
                          </a:solidFill>
                          <a:latin typeface="Inter"/>
                        </a:defRPr>
                      </a:pPr>
                      <a:r>
                        <a:t>Hide whether a (software) resource is in memory or on disk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4389120"/>
            <a:ext cx="11094415" cy="530352"/>
          </a:xfrm>
          <a:prstGeom prst="roundRect">
            <a:avLst/>
          </a:prstGeom>
          <a:solidFill>
            <a:srgbClr val="F5F7F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0" i="0">
                <a:solidFill>
                  <a:srgbClr val="E2E8F0"/>
                </a:solidFill>
                <a:latin typeface="Inter"/>
              </a:defRPr>
            </a:pPr>
            <a:r>
              <a:t>Transparencies mask heterogeneity and complexity, enabling seamless interaction across distributed components.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400" b="1" i="0">
                <a:solidFill>
                  <a:srgbClr val="E2E8F0"/>
                </a:solidFill>
                <a:latin typeface="Inter"/>
              </a:defRPr>
            </a:pPr>
            <a:r>
              <a:t>Service-Oriented Computing (SOC)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10984687" cy="2203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 i="0">
                <a:solidFill>
                  <a:srgbClr val="E2E8F0"/>
                </a:solidFill>
                <a:latin typeface="Inter"/>
              </a:defRPr>
            </a:pPr>
            <a:r>
              <a:t>• Service orientation is the core reference model for cloud computing systems</a:t>
            </a:r>
          </a:p>
          <a:p>
            <a:pPr>
              <a:spcAft>
                <a:spcPts val="600"/>
              </a:spcAft>
              <a:defRPr sz="1800" b="0" i="0">
                <a:solidFill>
                  <a:srgbClr val="E2E8F0"/>
                </a:solidFill>
                <a:latin typeface="Inter"/>
              </a:defRPr>
            </a:pPr>
            <a:r>
              <a:t>• Supports rapid, low-cost, flexible, interoperable, and evolvable systems</a:t>
            </a:r>
          </a:p>
          <a:p>
            <a:pPr>
              <a:spcAft>
                <a:spcPts val="600"/>
              </a:spcAft>
              <a:defRPr sz="1800" b="0" i="0">
                <a:solidFill>
                  <a:srgbClr val="E2E8F0"/>
                </a:solidFill>
                <a:latin typeface="Inter"/>
              </a:defRPr>
            </a:pPr>
            <a:r>
              <a:t>• Services are the main building blocks of application and system development</a:t>
            </a:r>
          </a:p>
          <a:p>
            <a:pPr>
              <a:spcAft>
                <a:spcPts val="600"/>
              </a:spcAft>
              <a:defRPr sz="1800" b="0" i="0">
                <a:solidFill>
                  <a:srgbClr val="E2E8F0"/>
                </a:solidFill>
                <a:latin typeface="Inter"/>
              </a:defRPr>
            </a:pPr>
            <a:r>
              <a:t>• Services are self-contained and loosely coupled components</a:t>
            </a:r>
          </a:p>
          <a:p>
            <a:pPr>
              <a:spcAft>
                <a:spcPts val="600"/>
              </a:spcAft>
              <a:defRPr sz="1800" b="0" i="0">
                <a:solidFill>
                  <a:srgbClr val="E2E8F0"/>
                </a:solidFill>
                <a:latin typeface="Inter"/>
              </a:defRPr>
            </a:pPr>
            <a:r>
              <a:t>• Enables composition and reuse of existing services to build new applications</a:t>
            </a:r>
          </a:p>
          <a:p>
            <a:pPr>
              <a:spcAft>
                <a:spcPts val="600"/>
              </a:spcAft>
              <a:defRPr sz="1800" b="0" i="0">
                <a:solidFill>
                  <a:srgbClr val="E2E8F0"/>
                </a:solidFill>
                <a:latin typeface="Inter"/>
              </a:defRPr>
            </a:pPr>
            <a:r>
              <a:t>• Supports platform independence through standardized interfaces (e.g., SOAP, REST)</a:t>
            </a:r>
          </a:p>
          <a:p>
            <a:pPr>
              <a:spcAft>
                <a:spcPts val="600"/>
              </a:spcAft>
              <a:defRPr sz="1800" b="0" i="0">
                <a:solidFill>
                  <a:srgbClr val="E2E8F0"/>
                </a:solidFill>
                <a:latin typeface="Inter"/>
              </a:defRPr>
            </a:pPr>
            <a:r>
              <a:t>• Facilitates scalability and fault tolerance via distributed service deployment</a:t>
            </a:r>
          </a:p>
          <a:p>
            <a:pPr>
              <a:spcAft>
                <a:spcPts val="600"/>
              </a:spcAft>
              <a:defRPr sz="1800" b="0" i="0">
                <a:solidFill>
                  <a:srgbClr val="E2E8F0"/>
                </a:solidFill>
                <a:latin typeface="Inter"/>
              </a:defRPr>
            </a:pPr>
            <a:r>
              <a:t>• Promotes business agility by enabling quick adaptation to changing requirements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657600"/>
            <a:ext cx="11094415" cy="365760"/>
          </a:xfrm>
          <a:prstGeom prst="roundRect">
            <a:avLst/>
          </a:prstGeom>
          <a:solidFill>
            <a:srgbClr val="F5F7F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0" i="1">
                <a:solidFill>
                  <a:srgbClr val="E2E8F0"/>
                </a:solidFill>
                <a:latin typeface="Inter"/>
              </a:defRPr>
            </a:pPr>
            <a:r>
              <a:t>Service orientation is the core reference model for cloud computing systems.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400" b="1" i="0">
                <a:solidFill>
                  <a:srgbClr val="E2E8F0"/>
                </a:solidFill>
                <a:latin typeface="Inter"/>
              </a:defRPr>
            </a:pPr>
            <a:r>
              <a:t>Web Services Architecture (WSDL Elements)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10984687" cy="1956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 i="0">
                <a:solidFill>
                  <a:srgbClr val="E2E8F0"/>
                </a:solidFill>
                <a:latin typeface="Inter"/>
              </a:defRPr>
            </a:pPr>
            <a:r>
              <a:t>• &lt;types&gt;: Provides data type definitions</a:t>
            </a:r>
          </a:p>
          <a:p>
            <a:pPr>
              <a:spcAft>
                <a:spcPts val="600"/>
              </a:spcAft>
              <a:defRPr sz="1800" b="0" i="0">
                <a:solidFill>
                  <a:srgbClr val="E2E8F0"/>
                </a:solidFill>
                <a:latin typeface="Inter"/>
              </a:defRPr>
            </a:pPr>
            <a:r>
              <a:t>• &lt;service&gt;: Aggregates a set of related ports</a:t>
            </a:r>
          </a:p>
          <a:p>
            <a:pPr>
              <a:spcAft>
                <a:spcPts val="600"/>
              </a:spcAft>
              <a:defRPr sz="1800" b="0" i="0">
                <a:solidFill>
                  <a:srgbClr val="E2E8F0"/>
                </a:solidFill>
                <a:latin typeface="Inter"/>
              </a:defRPr>
            </a:pPr>
            <a:r>
              <a:t>• &lt;serviceType&gt;: Mechanism to aggregate portTypes</a:t>
            </a:r>
          </a:p>
          <a:p>
            <a:pPr>
              <a:spcAft>
                <a:spcPts val="600"/>
              </a:spcAft>
              <a:defRPr sz="1800" b="0" i="0">
                <a:solidFill>
                  <a:srgbClr val="E2E8F0"/>
                </a:solidFill>
                <a:latin typeface="Inter"/>
              </a:defRPr>
            </a:pPr>
            <a:r>
              <a:t>• &lt;message&gt;: Represents the abstract definition of data being transmitted</a:t>
            </a:r>
          </a:p>
          <a:p>
            <a:pPr>
              <a:spcAft>
                <a:spcPts val="600"/>
              </a:spcAft>
              <a:defRPr sz="1800" b="0" i="0">
                <a:solidFill>
                  <a:srgbClr val="E2E8F0"/>
                </a:solidFill>
                <a:latin typeface="Inter"/>
              </a:defRPr>
            </a:pPr>
            <a:r>
              <a:t>• &lt;portType&gt;: Defines a set of abstract operations</a:t>
            </a:r>
          </a:p>
          <a:p>
            <a:pPr>
              <a:spcAft>
                <a:spcPts val="600"/>
              </a:spcAft>
              <a:defRPr sz="1800" b="0" i="0">
                <a:solidFill>
                  <a:srgbClr val="E2E8F0"/>
                </a:solidFill>
                <a:latin typeface="Inter"/>
              </a:defRPr>
            </a:pPr>
            <a:r>
              <a:t>• &lt;binding&gt;: Specifies concrete protocol and data format specifications for operations</a:t>
            </a:r>
          </a:p>
          <a:p>
            <a:pPr>
              <a:spcAft>
                <a:spcPts val="600"/>
              </a:spcAft>
              <a:defRPr sz="1800" b="0" i="0">
                <a:solidFill>
                  <a:srgbClr val="E2E8F0"/>
                </a:solidFill>
                <a:latin typeface="Inter"/>
              </a:defRPr>
            </a:pPr>
            <a:r>
              <a:t>• &lt;port&gt;: Specifies an address for a binding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410712"/>
            <a:ext cx="11094415" cy="530352"/>
          </a:xfrm>
          <a:prstGeom prst="roundRect">
            <a:avLst/>
          </a:prstGeom>
          <a:solidFill>
            <a:srgbClr val="F5F7F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0" i="0">
                <a:solidFill>
                  <a:srgbClr val="E2E8F0"/>
                </a:solidFill>
                <a:latin typeface="Inter"/>
              </a:defRPr>
            </a:pPr>
            <a:r>
              <a:t>WSDL defines the interface of a Web service, enabling interaction between requester and provider [Excerpt 15].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400" b="1" i="0">
                <a:solidFill>
                  <a:srgbClr val="E2E8F0"/>
                </a:solidFill>
                <a:latin typeface="Inter"/>
              </a:defRPr>
            </a:pPr>
            <a:r>
              <a:t>XML vs HTML: Purpose &amp;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25880"/>
          <a:ext cx="11094414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8"/>
              </a:tblGrid>
              <a:tr h="402336">
                <a:tc>
                  <a:txBody>
                    <a:bodyPr wrap="square"/>
                    <a:lstStyle/>
                    <a:p>
                      <a:pPr>
                        <a:defRPr sz="1400" b="1" i="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1" i="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XML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1" i="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HTML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E2E8F0"/>
                          </a:solidFill>
                          <a:latin typeface="Inter"/>
                        </a:defRPr>
                      </a:pPr>
                      <a:r>
                        <a:t>Tags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E2E8F0"/>
                          </a:solidFill>
                          <a:latin typeface="Inter"/>
                        </a:defRPr>
                      </a:pPr>
                      <a:r>
                        <a:t>Extensible: user-defined meaning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E2E8F0"/>
                          </a:solidFill>
                          <a:latin typeface="Inter"/>
                        </a:defRPr>
                      </a:pPr>
                      <a:r>
                        <a:t>Fixed: pre-determined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E2E8F0"/>
                          </a:solidFill>
                          <a:latin typeface="Inter"/>
                        </a:defRPr>
                      </a:pPr>
                      <a:r>
                        <a:t>Orientation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E2E8F0"/>
                          </a:solidFill>
                          <a:latin typeface="Inter"/>
                        </a:defRPr>
                      </a:pPr>
                      <a:r>
                        <a:t>Content-oriented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E2E8F0"/>
                          </a:solidFill>
                          <a:latin typeface="Inter"/>
                        </a:defRPr>
                      </a:pPr>
                      <a:r>
                        <a:t>Presentation-oriented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E2E8F0"/>
                          </a:solidFill>
                          <a:latin typeface="Inter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E2E8F0"/>
                          </a:solidFill>
                          <a:latin typeface="Inter"/>
                        </a:defRPr>
                      </a:pPr>
                      <a:r>
                        <a:t>Transport and store data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E2E8F0"/>
                          </a:solidFill>
                          <a:latin typeface="Inter"/>
                        </a:defRPr>
                      </a:pPr>
                      <a:r>
                        <a:t>Display data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E2E8F0"/>
                          </a:solidFill>
                          <a:latin typeface="Inter"/>
                        </a:defRPr>
                      </a:pPr>
                      <a:r>
                        <a:t>Validation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E2E8F0"/>
                          </a:solidFill>
                          <a:latin typeface="Inter"/>
                        </a:defRPr>
                      </a:pPr>
                      <a:r>
                        <a:t>Supports data validation via schema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E2E8F0"/>
                          </a:solidFill>
                          <a:latin typeface="Inter"/>
                        </a:defRPr>
                      </a:pPr>
                      <a:r>
                        <a:t>No data validation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3483864"/>
            <a:ext cx="11094415" cy="365760"/>
          </a:xfrm>
          <a:prstGeom prst="roundRect">
            <a:avLst/>
          </a:prstGeom>
          <a:solidFill>
            <a:srgbClr val="F5F7F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0" i="0">
                <a:solidFill>
                  <a:srgbClr val="E2E8F0"/>
                </a:solidFill>
                <a:latin typeface="Inter"/>
              </a:defRPr>
            </a:pPr>
            <a:r>
              <a:t>XML is for computers; HTML is for humans [Excerpt 8].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400" b="1" i="0">
                <a:solidFill>
                  <a:srgbClr val="E2E8F0"/>
                </a:solidFill>
                <a:latin typeface="Inter"/>
              </a:defRPr>
            </a:pPr>
            <a:r>
              <a:t>XML Document Validity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10984687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 i="0">
                <a:solidFill>
                  <a:srgbClr val="E2E8F0"/>
                </a:solidFill>
                <a:latin typeface="Inter"/>
              </a:defRPr>
            </a:pPr>
            <a:r>
              <a:t>1. Well-formed: Syntax is correct (all tags opened and closed)</a:t>
            </a:r>
          </a:p>
          <a:p>
            <a:pPr>
              <a:spcAft>
                <a:spcPts val="600"/>
              </a:spcAft>
              <a:defRPr sz="1800" b="0" i="0">
                <a:solidFill>
                  <a:srgbClr val="E2E8F0"/>
                </a:solidFill>
                <a:latin typeface="Inter"/>
              </a:defRPr>
            </a:pPr>
            <a:r>
              <a:t>2. Valid: All elements match definitions in the schema (xsd)</a:t>
            </a:r>
          </a:p>
          <a:p>
            <a:pPr>
              <a:spcAft>
                <a:spcPts val="600"/>
              </a:spcAft>
              <a:defRPr sz="1800" b="0" i="0">
                <a:solidFill>
                  <a:srgbClr val="E2E8F0"/>
                </a:solidFill>
                <a:latin typeface="Inter"/>
              </a:defRPr>
            </a:pPr>
            <a:r>
              <a:t>3. XML Instance Document (xml) == XML Instances of the Schema (xsd)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423160"/>
            <a:ext cx="11094415" cy="365760"/>
          </a:xfrm>
          <a:prstGeom prst="roundRect">
            <a:avLst/>
          </a:prstGeom>
          <a:solidFill>
            <a:srgbClr val="F5F7F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0" i="0">
                <a:solidFill>
                  <a:srgbClr val="E2E8F0"/>
                </a:solidFill>
                <a:latin typeface="Inter"/>
              </a:defRPr>
            </a:pPr>
            <a:r>
              <a:t>Well-formedness is syntactic; validity is semantic and schema-conformant.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400" b="1" i="0">
                <a:solidFill>
                  <a:srgbClr val="E2E8F0"/>
                </a:solidFill>
                <a:latin typeface="Inter"/>
              </a:defRPr>
            </a:pPr>
            <a:r>
              <a:t>Middleware: Definition &amp; Role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11094415" cy="694944"/>
          </a:xfrm>
          <a:prstGeom prst="roundRect">
            <a:avLst/>
          </a:prstGeom>
          <a:solidFill>
            <a:srgbClr val="F5F7F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0" i="1">
                <a:solidFill>
                  <a:srgbClr val="E2E8F0"/>
                </a:solidFill>
                <a:latin typeface="Inter"/>
              </a:defRPr>
            </a:pPr>
            <a:r>
              <a:t>A software layer between applications and the OS whose purpose is to mask heterogeneity of the underlying components and to provide a convenient programming model to application programmers.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148840"/>
            <a:ext cx="10984687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 i="0">
                <a:solidFill>
                  <a:srgbClr val="E2E8F0"/>
                </a:solidFill>
                <a:latin typeface="Inter"/>
              </a:defRPr>
            </a:pPr>
            <a:r>
              <a:t>• Manages complexity and heterogeneity in distributed systems</a:t>
            </a:r>
          </a:p>
          <a:p>
            <a:pPr>
              <a:spcAft>
                <a:spcPts val="600"/>
              </a:spcAft>
              <a:defRPr sz="1800" b="0" i="0">
                <a:solidFill>
                  <a:srgbClr val="E2E8F0"/>
                </a:solidFill>
                <a:latin typeface="Inter"/>
              </a:defRPr>
            </a:pPr>
            <a:r>
              <a:t>• Provides common programming abstraction across distributed systems</a:t>
            </a:r>
          </a:p>
          <a:p>
            <a:pPr>
              <a:spcAft>
                <a:spcPts val="600"/>
              </a:spcAft>
              <a:defRPr sz="1800" b="0" i="0">
                <a:solidFill>
                  <a:srgbClr val="E2E8F0"/>
                </a:solidFill>
                <a:latin typeface="Inter"/>
              </a:defRPr>
            </a:pPr>
            <a:r>
              <a:t>• Resides above OS but below application programs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246120"/>
            <a:ext cx="11094415" cy="365760"/>
          </a:xfrm>
          <a:prstGeom prst="roundRect">
            <a:avLst/>
          </a:prstGeom>
          <a:solidFill>
            <a:srgbClr val="F5F7F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0" i="0">
                <a:solidFill>
                  <a:srgbClr val="E2E8F0"/>
                </a:solidFill>
                <a:latin typeface="Inter"/>
              </a:defRPr>
            </a:pPr>
            <a:r>
              <a:t>Middleware enables seamless integration across heterogeneous platforms.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400" b="1" i="0">
                <a:solidFill>
                  <a:srgbClr val="E2E8F0"/>
                </a:solidFill>
                <a:latin typeface="Inter"/>
              </a:defRPr>
            </a:pPr>
            <a:r>
              <a:t>Cloud Service Models: IaaS, PaaS, SaaS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25880"/>
          <a:ext cx="11094414" cy="1709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9069"/>
                <a:gridCol w="1849069"/>
                <a:gridCol w="1849069"/>
                <a:gridCol w="1849069"/>
                <a:gridCol w="1849069"/>
                <a:gridCol w="1849069"/>
              </a:tblGrid>
              <a:tr h="427482">
                <a:tc>
                  <a:txBody>
                    <a:bodyPr wrap="square"/>
                    <a:lstStyle/>
                    <a:p>
                      <a:pPr>
                        <a:defRPr sz="1400" b="1" i="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1" i="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What You Get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1" i="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Deals With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1" i="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Technical Difficulty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1" i="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Target Users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1" i="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Examples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</a:tr>
              <a:tr h="427482"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E2E8F0"/>
                          </a:solidFill>
                          <a:latin typeface="Inter"/>
                        </a:defRPr>
                      </a:pPr>
                      <a:r>
                        <a:t>IaaS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E2E8F0"/>
                          </a:solidFill>
                          <a:latin typeface="Inter"/>
                        </a:defRPr>
                      </a:pPr>
                      <a:r>
                        <a:t>Infrastructure (VMs, storage, servers)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E2E8F0"/>
                          </a:solidFill>
                          <a:latin typeface="Inter"/>
                        </a:defRPr>
                      </a:pPr>
                      <a:r>
                        <a:t>Virtual Machines, Storage, Network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E2E8F0"/>
                          </a:solidFill>
                          <a:latin typeface="Inter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E2E8F0"/>
                          </a:solidFill>
                          <a:latin typeface="Inter"/>
                        </a:defRPr>
                      </a:pPr>
                      <a:r>
                        <a:t>Skilled developers/researchers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E2E8F0"/>
                          </a:solidFill>
                          <a:latin typeface="Inter"/>
                        </a:defRPr>
                      </a:pPr>
                      <a:r>
                        <a:t>AWS EC2, Azure VMs, Google Compute Engine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427482"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E2E8F0"/>
                          </a:solidFill>
                          <a:latin typeface="Inter"/>
                        </a:defRPr>
                      </a:pPr>
                      <a:r>
                        <a:t>PaaS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E2E8F0"/>
                          </a:solidFill>
                          <a:latin typeface="Inter"/>
                        </a:defRPr>
                      </a:pPr>
                      <a:r>
                        <a:t>Platform (runtimes, databases, web servers)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E2E8F0"/>
                          </a:solidFill>
                          <a:latin typeface="Inter"/>
                        </a:defRPr>
                      </a:pPr>
                      <a:r>
                        <a:t>Runtimes, Databases, Web Servers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E2E8F0"/>
                          </a:solidFill>
                          <a:latin typeface="Inter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E2E8F0"/>
                          </a:solidFill>
                          <a:latin typeface="Inter"/>
                        </a:defRPr>
                      </a:pPr>
                      <a:r>
                        <a:t>Developers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E2E8F0"/>
                          </a:solidFill>
                          <a:latin typeface="Inter"/>
                        </a:defRPr>
                      </a:pPr>
                      <a:r>
                        <a:t>Heroku, Google App Engine, Azure App Service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427482"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E2E8F0"/>
                          </a:solidFill>
                          <a:latin typeface="Inter"/>
                        </a:defRPr>
                      </a:pPr>
                      <a:r>
                        <a:t>SaaS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E2E8F0"/>
                          </a:solidFill>
                          <a:latin typeface="Inter"/>
                        </a:defRPr>
                      </a:pPr>
                      <a:r>
                        <a:t>Pre-configured applications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E2E8F0"/>
                          </a:solidFill>
                          <a:latin typeface="Inter"/>
                        </a:defRPr>
                      </a:pPr>
                      <a:r>
                        <a:t>Email, Social Networking, File Sharing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E2E8F0"/>
                          </a:solidFill>
                          <a:latin typeface="Inter"/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E2E8F0"/>
                          </a:solidFill>
                          <a:latin typeface="Inter"/>
                        </a:defRPr>
                      </a:pPr>
                      <a:r>
                        <a:t>End users/companies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E2E8F0"/>
                          </a:solidFill>
                          <a:latin typeface="Inter"/>
                        </a:defRPr>
                      </a:pPr>
                      <a:r>
                        <a:t>Gmail, Salesforce, Dropbox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3182112"/>
            <a:ext cx="11094415" cy="694944"/>
          </a:xfrm>
          <a:prstGeom prst="roundRect">
            <a:avLst/>
          </a:prstGeom>
          <a:solidFill>
            <a:srgbClr val="F5F7F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0" i="0">
                <a:solidFill>
                  <a:srgbClr val="E2E8F0"/>
                </a:solidFill>
                <a:latin typeface="Inter"/>
              </a:defRPr>
            </a:pPr>
            <a:r>
              <a:t>IaaS is the foundational layer; SaaS is the topmost, most user-friendly layer. PaaS sits in between, abstracting infrastructure management to accelerate development.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005072"/>
            <a:ext cx="11094415" cy="530352"/>
          </a:xfrm>
          <a:prstGeom prst="roundRect">
            <a:avLst/>
          </a:prstGeom>
          <a:solidFill>
            <a:srgbClr val="F5F7F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0" i="0">
                <a:solidFill>
                  <a:srgbClr val="E2E8F0"/>
                </a:solidFill>
                <a:latin typeface="Inter"/>
              </a:defRPr>
            </a:pPr>
            <a:r>
              <a:t>Key Trend: Moving up the stack (IaaS → PaaS → SaaS) reduces operational overhead but increases vendor lock-in risk.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400" b="1" i="0">
                <a:solidFill>
                  <a:srgbClr val="E2E8F0"/>
                </a:solidFill>
                <a:latin typeface="Inter"/>
              </a:defRPr>
            </a:pPr>
            <a:r>
              <a:t>Cloud Computing Characteristics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10984687" cy="2203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 i="0">
                <a:solidFill>
                  <a:srgbClr val="E2E8F0"/>
                </a:solidFill>
                <a:latin typeface="Inter"/>
              </a:defRPr>
            </a:pPr>
            <a:r>
              <a:t>• Loose Coupling: Systems interact via well-defined interfaces without tight dependencies</a:t>
            </a:r>
          </a:p>
          <a:p>
            <a:pPr>
              <a:spcAft>
                <a:spcPts val="600"/>
              </a:spcAft>
              <a:defRPr sz="1800" b="0" i="0">
                <a:solidFill>
                  <a:srgbClr val="E2E8F0"/>
                </a:solidFill>
                <a:latin typeface="Inter"/>
              </a:defRPr>
            </a:pPr>
            <a:r>
              <a:t>• Standard-Based (interoperability): Adheres to open standards for cross-platform compatibility</a:t>
            </a:r>
          </a:p>
          <a:p>
            <a:pPr>
              <a:spcAft>
                <a:spcPts val="600"/>
              </a:spcAft>
              <a:defRPr sz="1800" b="0" i="0">
                <a:solidFill>
                  <a:srgbClr val="E2E8F0"/>
                </a:solidFill>
                <a:latin typeface="Inter"/>
              </a:defRPr>
            </a:pPr>
            <a:r>
              <a:t>• Flexibility: Adapts to varying workloads and usage patterns dynamically</a:t>
            </a:r>
          </a:p>
          <a:p>
            <a:pPr>
              <a:spcAft>
                <a:spcPts val="600"/>
              </a:spcAft>
              <a:defRPr sz="1800" b="0" i="0">
                <a:solidFill>
                  <a:srgbClr val="E2E8F0"/>
                </a:solidFill>
                <a:latin typeface="Inter"/>
              </a:defRPr>
            </a:pPr>
            <a:r>
              <a:t>• Reusability: Components and services can be reused across applications and domains</a:t>
            </a:r>
          </a:p>
          <a:p>
            <a:pPr>
              <a:spcAft>
                <a:spcPts val="600"/>
              </a:spcAft>
              <a:defRPr sz="1800" b="0" i="0">
                <a:solidFill>
                  <a:srgbClr val="E2E8F0"/>
                </a:solidFill>
                <a:latin typeface="Inter"/>
              </a:defRPr>
            </a:pPr>
            <a:r>
              <a:t>• Scalability: Resources scale elastically to meet demand, both up and down</a:t>
            </a:r>
          </a:p>
          <a:p>
            <a:pPr>
              <a:spcAft>
                <a:spcPts val="600"/>
              </a:spcAft>
              <a:defRPr sz="1800" b="0" i="0">
                <a:solidFill>
                  <a:srgbClr val="E2E8F0"/>
                </a:solidFill>
                <a:latin typeface="Inter"/>
              </a:defRPr>
            </a:pPr>
            <a:r>
              <a:t>• Reduced Complexity: Abstracts infrastructure details from end users and developers</a:t>
            </a:r>
          </a:p>
          <a:p>
            <a:pPr>
              <a:spcAft>
                <a:spcPts val="600"/>
              </a:spcAft>
              <a:defRPr sz="1800" b="0" i="0">
                <a:solidFill>
                  <a:srgbClr val="E2E8F0"/>
                </a:solidFill>
                <a:latin typeface="Inter"/>
              </a:defRPr>
            </a:pPr>
            <a:r>
              <a:t>• Programmatically Accessible: APIs enable programmatic control and automation</a:t>
            </a:r>
          </a:p>
          <a:p>
            <a:pPr>
              <a:spcAft>
                <a:spcPts val="600"/>
              </a:spcAft>
              <a:defRPr sz="1800" b="0" i="0">
                <a:solidFill>
                  <a:srgbClr val="E2E8F0"/>
                </a:solidFill>
                <a:latin typeface="Inter"/>
              </a:defRPr>
            </a:pPr>
            <a:r>
              <a:t>• Application-to-Application Communication: Designed for machine-to-machine interaction, not just human interfaces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657600"/>
            <a:ext cx="11094415" cy="530352"/>
          </a:xfrm>
          <a:prstGeom prst="roundRect">
            <a:avLst/>
          </a:prstGeom>
          <a:solidFill>
            <a:srgbClr val="F5F7F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0" i="0">
                <a:solidFill>
                  <a:srgbClr val="E2E8F0"/>
                </a:solidFill>
                <a:latin typeface="Inter"/>
              </a:defRPr>
            </a:pPr>
            <a:r>
              <a:t>These characteristics enable robust, scalable, and maintainable cloud-based systems.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400" b="1" i="0">
                <a:solidFill>
                  <a:srgbClr val="E2E8F0"/>
                </a:solidFill>
                <a:latin typeface="Inter"/>
              </a:defRPr>
            </a:pPr>
            <a:r>
              <a:t>Cloud Deployment Models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25880"/>
          <a:ext cx="11094412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/>
                <a:gridCol w="2773603"/>
                <a:gridCol w="2773603"/>
                <a:gridCol w="2773603"/>
              </a:tblGrid>
              <a:tr h="402336">
                <a:tc>
                  <a:txBody>
                    <a:bodyPr wrap="square"/>
                    <a:lstStyle/>
                    <a:p>
                      <a:pPr>
                        <a:defRPr sz="1400" b="1" i="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1" i="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Ownership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1" i="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Scope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1" i="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Complexity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E2E8F0"/>
                          </a:solidFill>
                          <a:latin typeface="Inter"/>
                        </a:defRPr>
                      </a:pPr>
                      <a:r>
                        <a:t>Private Cloud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E2E8F0"/>
                          </a:solidFill>
                          <a:latin typeface="Inter"/>
                        </a:defRPr>
                      </a:pPr>
                      <a:r>
                        <a:t>Single organization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E2E8F0"/>
                          </a:solidFill>
                          <a:latin typeface="Inter"/>
                        </a:defRPr>
                      </a:pPr>
                      <a:r>
                        <a:t>Dedicated infrastructure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E2E8F0"/>
                          </a:solidFill>
                          <a:latin typeface="Inter"/>
                        </a:defRPr>
                      </a:pPr>
                      <a:r>
                        <a:t>Moderate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E2E8F0"/>
                          </a:solidFill>
                          <a:latin typeface="Inter"/>
                        </a:defRPr>
                      </a:pPr>
                      <a:r>
                        <a:t>Community Cloud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E2E8F0"/>
                          </a:solidFill>
                          <a:latin typeface="Inter"/>
                        </a:defRPr>
                      </a:pPr>
                      <a:r>
                        <a:t>Shared by specific community (e.g., security, mission)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E2E8F0"/>
                          </a:solidFill>
                          <a:latin typeface="Inter"/>
                        </a:defRPr>
                      </a:pPr>
                      <a:r>
                        <a:t>Multi-organizational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E2E8F0"/>
                          </a:solidFill>
                          <a:latin typeface="Inter"/>
                        </a:defRPr>
                      </a:pPr>
                      <a:r>
                        <a:t>Moderate–High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E2E8F0"/>
                          </a:solidFill>
                          <a:latin typeface="Inter"/>
                        </a:defRPr>
                      </a:pPr>
                      <a:r>
                        <a:t>Public Cloud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E2E8F0"/>
                          </a:solidFill>
                          <a:latin typeface="Inter"/>
                        </a:defRPr>
                      </a:pPr>
                      <a:r>
                        <a:t>Third-party provider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E2E8F0"/>
                          </a:solidFill>
                          <a:latin typeface="Inter"/>
                        </a:defRPr>
                      </a:pPr>
                      <a:r>
                        <a:t>Open to general public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E2E8F0"/>
                          </a:solidFill>
                          <a:latin typeface="Inter"/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E2E8F0"/>
                          </a:solidFill>
                          <a:latin typeface="Inter"/>
                        </a:defRPr>
                      </a:pPr>
                      <a:r>
                        <a:t>Hybrid Cloud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E2E8F0"/>
                          </a:solidFill>
                          <a:latin typeface="Inter"/>
                        </a:defRPr>
                      </a:pPr>
                      <a:r>
                        <a:t>Combination of two or more clouds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E2E8F0"/>
                          </a:solidFill>
                          <a:latin typeface="Inter"/>
                        </a:defRPr>
                      </a:pPr>
                      <a:r>
                        <a:t>Integrated private + public/community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E2E8F0"/>
                          </a:solidFill>
                          <a:latin typeface="Inter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3483864"/>
            <a:ext cx="11094415" cy="365760"/>
          </a:xfrm>
          <a:prstGeom prst="roundRect">
            <a:avLst/>
          </a:prstGeom>
          <a:solidFill>
            <a:srgbClr val="F5F7F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0" i="0">
                <a:solidFill>
                  <a:srgbClr val="E2E8F0"/>
                </a:solidFill>
                <a:latin typeface="Inter"/>
              </a:defRPr>
            </a:pPr>
            <a:r>
              <a:t>Hybrid clouds offer flexibility but require sophisticated integration.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400" b="1" i="0">
                <a:solidFill>
                  <a:srgbClr val="E2E8F0"/>
                </a:solidFill>
                <a:latin typeface="Inter"/>
              </a:defRPr>
            </a:pPr>
            <a:r>
              <a:t>Web Services Registry: UDDI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11094415" cy="530352"/>
          </a:xfrm>
          <a:prstGeom prst="roundRect">
            <a:avLst/>
          </a:prstGeom>
          <a:solidFill>
            <a:srgbClr val="F5F7F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0" i="1">
                <a:solidFill>
                  <a:srgbClr val="E2E8F0"/>
                </a:solidFill>
                <a:latin typeface="Inter"/>
              </a:defRPr>
            </a:pPr>
            <a:r>
              <a:t>UDDI serves as a 'business and service' registry essential for the widespread use of Web services [Excerpt 12].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984248"/>
            <a:ext cx="10984687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 i="0">
                <a:solidFill>
                  <a:srgbClr val="E2E8F0"/>
                </a:solidFill>
                <a:latin typeface="Inter"/>
              </a:defRPr>
            </a:pPr>
            <a:r>
              <a:t>• Universal Description, Discovery and Integration (UDDI) is the registry standard</a:t>
            </a:r>
          </a:p>
          <a:p>
            <a:pPr>
              <a:spcAft>
                <a:spcPts val="600"/>
              </a:spcAft>
              <a:defRPr sz="1800" b="0" i="0">
                <a:solidFill>
                  <a:srgbClr val="E2E8F0"/>
                </a:solidFill>
                <a:latin typeface="Inter"/>
              </a:defRPr>
            </a:pPr>
            <a:r>
              <a:t>• Enables interoperability across heterogeneous systems</a:t>
            </a:r>
          </a:p>
          <a:p>
            <a:pPr>
              <a:spcAft>
                <a:spcPts val="600"/>
              </a:spcAft>
              <a:defRPr sz="1800" b="0" i="0">
                <a:solidFill>
                  <a:srgbClr val="E2E8F0"/>
                </a:solidFill>
                <a:latin typeface="Inter"/>
              </a:defRPr>
            </a:pPr>
            <a:r>
              <a:t>• Businesses populate the registry with service descriptions</a:t>
            </a:r>
          </a:p>
          <a:p>
            <a:pPr>
              <a:spcAft>
                <a:spcPts val="600"/>
              </a:spcAft>
              <a:defRPr sz="1800" b="0" i="0">
                <a:solidFill>
                  <a:srgbClr val="E2E8F0"/>
                </a:solidFill>
                <a:latin typeface="Inter"/>
              </a:defRPr>
            </a:pPr>
            <a:r>
              <a:t>• Supports service discovery and integration over the Web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328416"/>
            <a:ext cx="11094415" cy="2377440"/>
          </a:xfrm>
          <a:prstGeom prst="roundRect">
            <a:avLst/>
          </a:prstGeom>
          <a:solidFill>
            <a:srgbClr val="F7F9FC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 i="1">
                <a:solidFill>
                  <a:srgbClr val="E2E8F0"/>
                </a:solidFill>
                <a:latin typeface="Inter"/>
              </a:defRPr>
            </a:pPr>
            <a:r>
              <a:t>A layered architecture diagram: top layer shows businesses registering services in UDDI, middle layer shows service consumers querying UDDI, bottom layer shows service providers; all connected via web protocols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400" b="1" i="0">
                <a:solidFill>
                  <a:srgbClr val="E2E8F0"/>
                </a:solidFill>
                <a:latin typeface="Inter"/>
              </a:defRPr>
            </a:pPr>
            <a:r>
              <a:t>Cloud Middleware Layers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10984687" cy="1956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 i="0">
                <a:solidFill>
                  <a:srgbClr val="E2E8F0"/>
                </a:solidFill>
                <a:latin typeface="Inter"/>
              </a:defRPr>
            </a:pPr>
            <a:r>
              <a:t>1. Software As a Service (SaaS): Fully deployed applications accessible via web browsers or APIs</a:t>
            </a:r>
          </a:p>
          <a:p>
            <a:pPr>
              <a:spcAft>
                <a:spcPts val="600"/>
              </a:spcAft>
              <a:defRPr sz="1800" b="0" i="0">
                <a:solidFill>
                  <a:srgbClr val="E2E8F0"/>
                </a:solidFill>
                <a:latin typeface="Inter"/>
              </a:defRPr>
            </a:pPr>
            <a:r>
              <a:t>2. Infrastructure As a Service (IaaS): Virtualized computing resources over the internet</a:t>
            </a:r>
          </a:p>
          <a:p>
            <a:pPr>
              <a:spcAft>
                <a:spcPts val="600"/>
              </a:spcAft>
              <a:defRPr sz="1800" b="0" i="0">
                <a:solidFill>
                  <a:srgbClr val="E2E8F0"/>
                </a:solidFill>
                <a:latin typeface="Inter"/>
              </a:defRPr>
            </a:pPr>
            <a:r>
              <a:t>3. Platform As a Service (PaaS): Development and deployment environment for applications</a:t>
            </a:r>
          </a:p>
          <a:p>
            <a:pPr>
              <a:spcAft>
                <a:spcPts val="600"/>
              </a:spcAft>
              <a:defRPr sz="1800" b="0" i="0">
                <a:solidFill>
                  <a:srgbClr val="E2E8F0"/>
                </a:solidFill>
                <a:latin typeface="Inter"/>
              </a:defRPr>
            </a:pPr>
            <a:r>
              <a:t>4. MapReduce Programming: Distributed data processing paradigm for large-scale analytics</a:t>
            </a:r>
          </a:p>
          <a:p>
            <a:pPr>
              <a:spcAft>
                <a:spcPts val="600"/>
              </a:spcAft>
              <a:defRPr sz="1800" b="0" i="0">
                <a:solidFill>
                  <a:srgbClr val="E2E8F0"/>
                </a:solidFill>
                <a:latin typeface="Inter"/>
              </a:defRPr>
            </a:pPr>
            <a:r>
              <a:t>5. Management and Monitoring: Tools for provisioning, orchestration, performance, and health monitoring</a:t>
            </a:r>
          </a:p>
          <a:p>
            <a:pPr>
              <a:spcAft>
                <a:spcPts val="600"/>
              </a:spcAft>
              <a:defRPr sz="1800" b="0" i="0">
                <a:solidFill>
                  <a:srgbClr val="E2E8F0"/>
                </a:solidFill>
                <a:latin typeface="Inter"/>
              </a:defRPr>
            </a:pPr>
            <a:r>
              <a:t>6. Security: Authentication, authorization, encryption, and compliance enforcement</a:t>
            </a:r>
          </a:p>
          <a:p>
            <a:pPr>
              <a:spcAft>
                <a:spcPts val="600"/>
              </a:spcAft>
              <a:defRPr sz="1800" b="0" i="0">
                <a:solidFill>
                  <a:srgbClr val="E2E8F0"/>
                </a:solidFill>
                <a:latin typeface="Inter"/>
              </a:defRPr>
            </a:pPr>
            <a:r>
              <a:t>7. Cloud Middleware: Unified abstraction layer enabling service composition, lifecycle management, and cross-layer integration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410712"/>
            <a:ext cx="11094415" cy="530352"/>
          </a:xfrm>
          <a:prstGeom prst="roundRect">
            <a:avLst/>
          </a:prstGeom>
          <a:solidFill>
            <a:srgbClr val="F5F7F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0" i="0">
                <a:solidFill>
                  <a:srgbClr val="E2E8F0"/>
                </a:solidFill>
                <a:latin typeface="Inter"/>
              </a:defRPr>
            </a:pPr>
            <a:r>
              <a:t>Middleware enables abstraction, orchestration, and management across all cloud service layers.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400" b="1" i="0">
                <a:solidFill>
                  <a:srgbClr val="E2E8F0"/>
                </a:solidFill>
                <a:latin typeface="Inter"/>
              </a:defRPr>
            </a:pPr>
            <a:r>
              <a:t>Cloud Computing Needs &amp; Enablers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10984687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 i="0">
                <a:solidFill>
                  <a:srgbClr val="E2E8F0"/>
                </a:solidFill>
                <a:latin typeface="Inter"/>
              </a:defRPr>
            </a:pPr>
            <a:r>
              <a:t>• Virtualization: Core enabler of resource pooling and abstraction</a:t>
            </a:r>
          </a:p>
          <a:p>
            <a:pPr>
              <a:spcAft>
                <a:spcPts val="600"/>
              </a:spcAft>
              <a:defRPr sz="1800" b="0" i="0">
                <a:solidFill>
                  <a:srgbClr val="E2E8F0"/>
                </a:solidFill>
                <a:latin typeface="Inter"/>
              </a:defRPr>
            </a:pPr>
            <a:r>
              <a:t>• Cloud Architecture: Scalable, modular design patterns</a:t>
            </a:r>
          </a:p>
          <a:p>
            <a:pPr>
              <a:spcAft>
                <a:spcPts val="600"/>
              </a:spcAft>
              <a:defRPr sz="1800" b="0" i="0">
                <a:solidFill>
                  <a:srgbClr val="E2E8F0"/>
                </a:solidFill>
                <a:latin typeface="Inter"/>
              </a:defRPr>
            </a:pPr>
            <a:r>
              <a:t>• Types of Virtualization: OS virtualization (hypervisors), hardware virtualization (ISA abstraction), network virtualization (SDN), storage virtualization (unified storage pools)</a:t>
            </a:r>
          </a:p>
          <a:p>
            <a:pPr>
              <a:spcAft>
                <a:spcPts val="600"/>
              </a:spcAft>
              <a:defRPr sz="1800" b="0" i="0">
                <a:solidFill>
                  <a:srgbClr val="E2E8F0"/>
                </a:solidFill>
                <a:latin typeface="Inter"/>
              </a:defRPr>
            </a:pPr>
            <a:r>
              <a:t>• Opportunities and Challenges: Economic trade-offs (CAPEX vs OPEX), technical challenges (latency, consistency), security and privacy concerns</a:t>
            </a:r>
          </a:p>
          <a:p>
            <a:pPr>
              <a:spcAft>
                <a:spcPts val="600"/>
              </a:spcAft>
              <a:defRPr sz="1800" b="0" i="0">
                <a:solidFill>
                  <a:srgbClr val="E2E8F0"/>
                </a:solidFill>
                <a:latin typeface="Inter"/>
              </a:defRPr>
            </a:pPr>
            <a:r>
              <a:t>• Future: Edge integration (decentralized compute), AI-native clouds (auto-scaling, intelligent scheduling), sustainability focus (energy-efficient data centers)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916936"/>
            <a:ext cx="11094415" cy="530352"/>
          </a:xfrm>
          <a:prstGeom prst="roundRect">
            <a:avLst/>
          </a:prstGeom>
          <a:solidFill>
            <a:srgbClr val="F5F7F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0" i="0">
                <a:solidFill>
                  <a:srgbClr val="E2E8F0"/>
                </a:solidFill>
                <a:latin typeface="Inter"/>
              </a:defRPr>
            </a:pPr>
            <a:r>
              <a:t>Virtualization is the foundational technology enabling cloud elasticity and scalability.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400" b="1" i="0">
                <a:solidFill>
                  <a:srgbClr val="E2E8F0"/>
                </a:solidFill>
                <a:latin typeface="Inter"/>
              </a:defRPr>
            </a:pPr>
            <a:r>
              <a:t>Interoperability Requirements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10984687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 i="0">
                <a:solidFill>
                  <a:srgbClr val="E2E8F0"/>
                </a:solidFill>
                <a:latin typeface="Inter"/>
              </a:defRPr>
            </a:pPr>
            <a:r>
              <a:t>• Systems conform to well-defined interfaces: APIs, protocols, and data formats must be standardized and documented</a:t>
            </a:r>
          </a:p>
          <a:p>
            <a:pPr>
              <a:spcAft>
                <a:spcPts val="600"/>
              </a:spcAft>
              <a:defRPr sz="1800" b="0" i="0">
                <a:solidFill>
                  <a:srgbClr val="E2E8F0"/>
                </a:solidFill>
                <a:latin typeface="Inter"/>
              </a:defRPr>
            </a:pPr>
            <a:r>
              <a:t>• Support portability of applications across environments: Applications should run consistently across different cloud providers or on-premises systems</a:t>
            </a:r>
          </a:p>
          <a:p>
            <a:pPr>
              <a:spcAft>
                <a:spcPts val="600"/>
              </a:spcAft>
              <a:defRPr sz="1800" b="0" i="0">
                <a:solidFill>
                  <a:srgbClr val="E2E8F0"/>
                </a:solidFill>
                <a:latin typeface="Inter"/>
              </a:defRPr>
            </a:pPr>
            <a:r>
              <a:t>• Enable easy interoperability with other open systems: Systems must integrate with external services, databases, and third-party tools without vendor lock-in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423160"/>
            <a:ext cx="11094415" cy="530352"/>
          </a:xfrm>
          <a:prstGeom prst="roundRect">
            <a:avLst/>
          </a:prstGeom>
          <a:solidFill>
            <a:srgbClr val="F5F7F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0" i="1">
                <a:solidFill>
                  <a:srgbClr val="E2E8F0"/>
                </a:solidFill>
                <a:latin typeface="Inter"/>
              </a:defRPr>
            </a:pPr>
            <a:r>
              <a:t>Be able to interact with services from other open systems, irrespective of the underlying environment.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