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F1F5F9"/>
                </a:solidFill>
                <a:latin typeface="Inter"/>
              </a:defRPr>
            </a:pPr>
            <a:r>
              <a:t>Infrastructure as a Service (IaaS)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38BDF8"/>
                </a:solidFill>
                <a:latin typeface="Inter"/>
              </a:defRPr>
            </a:pPr>
            <a:r>
              <a:t>Core Concepts and Architectural Foundations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11094415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0" i="1">
                <a:solidFill>
                  <a:srgbClr val="F1F5F9"/>
                </a:solidFill>
                <a:latin typeface="Open Sans"/>
              </a:defRPr>
            </a:pPr>
            <a:r>
              <a:t>‘All cloud computing services provide access to computing resources in a virtualized environment, the Cloud, across a public connection, usually the internet.’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78608"/>
            <a:ext cx="11094415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0" i="0">
                <a:solidFill>
                  <a:srgbClr val="F1F5F9"/>
                </a:solidFill>
                <a:latin typeface="Open Sans"/>
              </a:defRPr>
            </a:pPr>
            <a:r>
              <a:t>IaaS delivers virtualized hardware infrastructure—virtual machines, storage, networking—over the internet or private networks.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236976"/>
            <a:ext cx="109846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F1F5F9"/>
                </a:solidFill>
                <a:latin typeface="Open Sans"/>
              </a:defRPr>
            </a:pPr>
            <a:r>
              <a:t>• Virtualized hardware resources (CPU, memory, storage, networking)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F1F5F9"/>
                </a:solidFill>
                <a:latin typeface="Inter"/>
              </a:defRPr>
            </a:pPr>
            <a:r>
              <a:t>Key Characteristics of IaaS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38BDF8"/>
                </a:solidFill>
                <a:latin typeface="Inter"/>
              </a:defRPr>
            </a:pPr>
            <a:r>
              <a:t>Self-Service, Metering, and Dynamic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11094415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0" i="1">
                <a:solidFill>
                  <a:srgbClr val="F1F5F9"/>
                </a:solidFill>
                <a:latin typeface="Open Sans"/>
              </a:defRPr>
            </a:pPr>
            <a:r>
              <a:t>‘You can’t discuss the key characteristics of IaaS without understanding the imperative of self-service.’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78608"/>
            <a:ext cx="11094415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0" i="0">
                <a:solidFill>
                  <a:srgbClr val="F1F5F9"/>
                </a:solidFill>
                <a:latin typeface="Open Sans"/>
              </a:defRPr>
            </a:pPr>
            <a:r>
              <a:t>Self-service enables users to provision resources on-demand—like ATMs for IT infrastructure.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236976"/>
            <a:ext cx="109846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F1F5F9"/>
                </a:solidFill>
                <a:latin typeface="Open Sans"/>
              </a:defRPr>
            </a:pPr>
            <a:r>
              <a:t>• Self-service provisioning: users request and deploy resources without manual intervention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F1F5F9"/>
                </a:solidFill>
                <a:latin typeface="Inter"/>
              </a:defRPr>
            </a:pPr>
            <a:r>
              <a:t>IaaS Resource Types and Virtualization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38BDF8"/>
                </a:solidFill>
                <a:latin typeface="Inter"/>
              </a:defRPr>
            </a:pPr>
            <a:r>
              <a:t>What Users Actually Access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4414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7"/>
              </a:tblGrid>
              <a:tr h="402336">
                <a:tc>
                  <a:txBody>
                    <a:bodyPr wrap="square"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Resource Type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F1F5F9"/>
                          </a:solidFill>
                          <a:latin typeface="Open Sans"/>
                        </a:defRPr>
                      </a:pPr>
                      <a:r>
                        <a:t>Virtual Machines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F1F5F9"/>
                          </a:solidFill>
                          <a:latin typeface="Open Sans"/>
                        </a:defRPr>
                      </a:pPr>
                      <a:r>
                        <a:t>Fully configurable compute instances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F1F5F9"/>
                          </a:solidFill>
                          <a:latin typeface="Open Sans"/>
                        </a:defRPr>
                      </a:pPr>
                      <a:r>
                        <a:t>Virtual Storage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F1F5F9"/>
                          </a:solidFill>
                          <a:latin typeface="Open Sans"/>
                        </a:defRPr>
                      </a:pPr>
                      <a:r>
                        <a:t>Scalable disk storage (e.g., VM disk images)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F1F5F9"/>
                          </a:solidFill>
                          <a:latin typeface="Open Sans"/>
                        </a:defRPr>
                      </a:pPr>
                      <a:r>
                        <a:t>Virtual Networks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F1F5F9"/>
                          </a:solidFill>
                          <a:latin typeface="Open Sans"/>
                        </a:defRPr>
                      </a:pPr>
                      <a:r>
                        <a:t>VLANs, load balancers, IP addresses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F1F5F9"/>
                          </a:solidFill>
                          <a:latin typeface="Open Sans"/>
                        </a:defRPr>
                      </a:pPr>
                      <a:r>
                        <a:t>Software Bundles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F1F5F9"/>
                          </a:solidFill>
                          <a:latin typeface="Open Sans"/>
                        </a:defRPr>
                      </a:pPr>
                      <a:r>
                        <a:t>Pre-configured OS and middleware stacks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078224"/>
            <a:ext cx="1109441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F1F5F9"/>
                </a:solidFill>
                <a:latin typeface="Open Sans"/>
              </a:defRPr>
            </a:pPr>
            <a:r>
              <a:t>Resources are virtualized and pooled from underlying physical infrastructure, enabling abstraction and elasticity.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F1F5F9"/>
                </a:solidFill>
                <a:latin typeface="Inter"/>
              </a:defRPr>
            </a:pPr>
            <a:r>
              <a:t>IaaS Resource Types and Virtualization (cont.)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4415" cy="2377440"/>
          </a:xfrm>
          <a:prstGeom prst="roundRect">
            <a:avLst/>
          </a:prstGeom>
          <a:solidFill>
            <a:srgbClr val="F7F9FC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 i="1">
                <a:solidFill>
                  <a:srgbClr val="F1F5F9"/>
                </a:solidFill>
                <a:latin typeface="Open Sans"/>
              </a:defRPr>
            </a:pPr>
            <a:r>
              <a:t>Diagram showing a cloud provider’s physical server farm with pooled hardware (CPU, RAM, disks, switches), connected via virtualization layer to multiple customer VMs, storage volumes, and virtual networks—each labeled and color-coded by tenant.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F1F5F9"/>
                </a:solidFill>
                <a:latin typeface="Inter"/>
              </a:defRPr>
            </a:pPr>
            <a:r>
              <a:t>Private Cloud and Hybrid Cloud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38BDF8"/>
                </a:solidFill>
                <a:latin typeface="Inter"/>
              </a:defRPr>
            </a:pPr>
            <a:r>
              <a:t>Controlled Environments for Sensitive Workloads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11094415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0" i="0">
                <a:solidFill>
                  <a:srgbClr val="F1F5F9"/>
                </a:solidFill>
                <a:latin typeface="Open Sans"/>
              </a:defRPr>
            </a:pPr>
            <a:r>
              <a:t>Private clouds offer public-cloud functionality on private infrastructure—within firewall, with full control over data and governance.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78608"/>
            <a:ext cx="109846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F1F5F9"/>
                </a:solidFill>
                <a:latin typeface="Open Sans"/>
              </a:defRPr>
            </a:pPr>
            <a:r>
              <a:t>• Private cloud: dedicated internal environment, supports self-service provisioning and automated virtualization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F1F5F9"/>
                </a:solidFill>
                <a:latin typeface="Inter"/>
              </a:defRPr>
            </a:pPr>
            <a:r>
              <a:t>Live Migration and VM Lifecycle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38BDF8"/>
                </a:solidFill>
                <a:latin typeface="Inter"/>
              </a:defRPr>
            </a:pPr>
            <a:r>
              <a:t>Enabling Resilience and Efficiency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11094415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0" i="1">
                <a:solidFill>
                  <a:srgbClr val="F1F5F9"/>
                </a:solidFill>
                <a:latin typeface="Open Sans"/>
              </a:defRPr>
            </a:pPr>
            <a:r>
              <a:t>‘Live migration is the movement of a virtual machine from one physical host to another while powered on—without noticeable effect to the end user.’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78608"/>
            <a:ext cx="11094415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0" i="0">
                <a:solidFill>
                  <a:srgbClr val="F1F5F9"/>
                </a:solidFill>
                <a:latin typeface="Open Sans"/>
              </a:defRPr>
            </a:pPr>
            <a:r>
              <a:t>Live migration enables proactive maintenance and load balancing—critical for high-availability systems.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236976"/>
            <a:ext cx="109846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F1F5F9"/>
                </a:solidFill>
                <a:latin typeface="Open Sans"/>
              </a:defRPr>
            </a:pPr>
            <a:r>
              <a:t>1. VM state captured as portable data files (CPU, memory, disks, network)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40480"/>
            <a:ext cx="11094415" cy="2377440"/>
          </a:xfrm>
          <a:prstGeom prst="roundRect">
            <a:avLst/>
          </a:prstGeom>
          <a:solidFill>
            <a:srgbClr val="F7F9FC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 i="1">
                <a:solidFill>
                  <a:srgbClr val="F1F5F9"/>
                </a:solidFill>
                <a:latin typeface="Open Sans"/>
              </a:defRPr>
            </a:pPr>
            <a:r>
              <a:t>Animated sequence: VM running on Host A, then seamlessly transferred to Host B with network connections intact—no service interruption—while system metrics (CPU, memory) remain stable.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F1F5F9"/>
                </a:solidFill>
                <a:latin typeface="Inter"/>
              </a:defRPr>
            </a:pPr>
            <a:r>
              <a:t>IaaS Limitations and Real-World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38BDF8"/>
                </a:solidFill>
                <a:latin typeface="Inter"/>
              </a:defRPr>
            </a:pPr>
            <a:r>
              <a:t>Constraints and Industry Applications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4414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7"/>
              </a:tblGrid>
              <a:tr h="402336">
                <a:tc>
                  <a:txBody>
                    <a:bodyPr wrap="square"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Limitation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Explanation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F1F5F9"/>
                          </a:solidFill>
                          <a:latin typeface="Open Sans"/>
                        </a:defRPr>
                      </a:pPr>
                      <a:r>
                        <a:t>Hardware/Software Specificity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F1F5F9"/>
                          </a:solidFill>
                          <a:latin typeface="Open Sans"/>
                        </a:defRPr>
                      </a:pPr>
                      <a:r>
                        <a:t>Not suitable when hardware type or OS modifications are mandatory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F1F5F9"/>
                          </a:solidFill>
                          <a:latin typeface="Open Sans"/>
                        </a:defRPr>
                      </a:pPr>
                      <a:r>
                        <a:t>Legal/Compliance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F1F5F9"/>
                          </a:solidFill>
                          <a:latin typeface="Open Sans"/>
                        </a:defRPr>
                      </a:pPr>
                      <a:r>
                        <a:t>Off-premise storage prohibited by law or policy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F1F5F9"/>
                          </a:solidFill>
                          <a:latin typeface="Open Sans"/>
                        </a:defRPr>
                      </a:pPr>
                      <a:r>
                        <a:t>Security Gaps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F1F5F9"/>
                          </a:solidFill>
                          <a:latin typeface="Open Sans"/>
                        </a:defRPr>
                      </a:pPr>
                      <a:r>
                        <a:t>Provider’s security may be insufficient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F1F5F9"/>
                          </a:solidFill>
                          <a:latin typeface="Open Sans"/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F1F5F9"/>
                          </a:solidFill>
                          <a:latin typeface="Open Sans"/>
                        </a:defRPr>
                      </a:pPr>
                      <a:r>
                        <a:t>Internet-based access may not meet speed requirements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078224"/>
            <a:ext cx="11094415" cy="694944"/>
          </a:xfrm>
          <a:prstGeom prst="roundRect">
            <a:avLst/>
          </a:prstGeom>
          <a:solidFill>
            <a:srgbClr val="F5F7F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0" i="0">
                <a:solidFill>
                  <a:srgbClr val="F1F5F9"/>
                </a:solidFill>
                <a:latin typeface="Open Sans"/>
              </a:defRPr>
            </a:pPr>
            <a:r>
              <a:t>Amazon EC2 exemplifies IaaS agility: new server instances available in minutes, with scalable sizing options (small to quadruple extra large, CPU-optimized, high-memory).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901184"/>
            <a:ext cx="109846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F1F5F9"/>
                </a:solidFill>
                <a:latin typeface="Open Sans"/>
              </a:defRPr>
            </a:pPr>
            <a:r>
              <a:t>• Website hosting: benefits from redundancy and on-demand scaling across pooled servers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