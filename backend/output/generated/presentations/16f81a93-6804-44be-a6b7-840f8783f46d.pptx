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Web Services and Distributed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XML vs HTML, SOAP, and Distributed System Interoperability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XML vs HTML: Core Differences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XML: Content-oriented, extensible tags, designed to transport/store data, supports validation</a:t>
            </a:r>
          </a:p>
          <a:p>
            <a:pPr>
              <a:defRPr sz="2000"/>
            </a:pPr>
            <a:r>
              <a:t>HTML: Presentation-oriented, fixed tags, designed to display data, no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XML Document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An XML instance includes an XML declaration (e.g., &lt;?xml version="1.0" encoding="UTF-8"?&gt;), optional comments, namespace declarations (xmlns), and a hierarchical element structure. Example: &lt;books xmlns="somename" xsi:schemaLocation="..."&gt;...&lt;/books&gt;.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Distributed System Interoperability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Operating systems</a:t>
            </a:r>
          </a:p>
          <a:p>
            <a:pPr>
              <a:defRPr sz="2000"/>
            </a:pPr>
            <a:r>
              <a:t>Hardware architectures</a:t>
            </a:r>
          </a:p>
          <a:p>
            <a:pPr>
              <a:defRPr sz="2000"/>
            </a:pPr>
            <a:r>
              <a:t>Communication architectures</a:t>
            </a:r>
          </a:p>
          <a:p>
            <a:pPr>
              <a:defRPr sz="2000"/>
            </a:pPr>
            <a:r>
              <a:t>Programming languages</a:t>
            </a:r>
          </a:p>
          <a:p>
            <a:pPr>
              <a:defRPr sz="2000"/>
            </a:pPr>
            <a:r>
              <a:t>Software interfaces</a:t>
            </a:r>
          </a:p>
          <a:p>
            <a:pPr>
              <a:defRPr sz="2000"/>
            </a:pPr>
            <a:r>
              <a:t>Security measures</a:t>
            </a:r>
          </a:p>
          <a:p>
            <a:pPr>
              <a:defRPr sz="2000"/>
            </a:pPr>
            <a:r>
              <a:t>Information representation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Achieving Openness in Distributed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Independence from hardware heterogeneity</a:t>
            </a:r>
          </a:p>
          <a:p>
            <a:pPr>
              <a:defRPr sz="2000"/>
            </a:pPr>
            <a:r>
              <a:t>Independence from platform differences</a:t>
            </a:r>
          </a:p>
          <a:p>
            <a:pPr>
              <a:defRPr sz="2000"/>
            </a:pPr>
            <a:r>
              <a:t>Independence from programming language choices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Legacy Distributed Object Middleware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554480"/>
          <a:ext cx="104241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5212080"/>
              </a:tblGrid>
              <a:tr h="457200">
                <a:tc>
                  <a:txBody>
                    <a:bodyPr/>
                    <a:lstStyle/>
                    <a:p>
                      <a:r>
                        <a:t>Middleware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CORBA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Common Object Request Broker Architecture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Distributed Component Object Model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SOAP Message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Envelope: Root element defining the start/end of the message (xmlns:SOAP-ENV="http://schemas.xmlsoap.org/soap/envelope/")</a:t>
            </a:r>
          </a:p>
          <a:p>
            <a:pPr>
              <a:defRPr sz="2000"/>
            </a:pPr>
            <a:r>
              <a:t>Body: Contains the actual call/response data (e.g., &lt;m:calculateCarPayment&gt; with loanAmount, loanTerm, loanRate)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