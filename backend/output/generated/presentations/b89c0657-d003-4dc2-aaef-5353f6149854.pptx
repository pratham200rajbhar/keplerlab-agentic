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&amp; Cloud Computing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Interoperability, RPC, and Distributed Systems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Cyberpunk-style Venn diagram with glowing neon pink and cyan borders: three overlapping circles labeled 'Web Services', 'SOA', and 'Cloud Computing'. Central overlap labeled 'Interoperability Layer'. Background: dark grid with floating data packets and circuit lines. Style: high-contrast, futuristic, with subtle glitch effects.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Web Services, SOA, and Cloud Computing are interrelated but independent paradigms. Web Services act as the communication mechanism enabling SOA and Cloud Computing.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Cloud Computing is a broad term covering any Web service software, hardware, and applications.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SOA focuses primarily on software services and service-oriented architecture.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Web Services encapsulate Cloud services for network connections using standard protocols.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Remote Procedure Call (RPC)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Client-Server Communication via Stubs and Marshaling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Split-screen cyberpunk illustration: left side shows client machine with glowing neon cyan RPC client process, right side shows server machine with neon pink RPC server process. A glowing data packet travels across a network link. Stubs are depicted as translucent holographic interfaces with XML-like data streams. Background: dark grid with pulsing data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RPC enables a process on one machine to invoke a procedure on another via stub functions and network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Client calls the client stub, which marshals parameters and sends a message over the network.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Server stub unmarshals parameters and invokes the server function.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Server returns result; server stub marshals and sends response back.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Client stub unmarshals return value and returns to client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Distributed Object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CORBA vs. RMI: Language Scope and Complexity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Futuristic cyberpunk comparison chart: left side shows CORBA with glowing neon pink interface definition language (IDL) code blocks and multi-language icons (C++, Java, Python), right side shows RMI with neon cyan Java code blocks and single Java logo. Central divider: neon border labeled 'Complexity vs. Simplicity'. Background: abstract circuit board with floating object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Distributed objects allow method calls across hosts. CORBA and RMI are prominent mechanisms with distinct design philosophies.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206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Multi-language (C++, Java,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Java-only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Interface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Interface Definition Language (IDL)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(complex setup and configuration)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 (simpler Java-to-Java communication)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Vendor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Historically dominant; Microsoft transitioned to 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Java-specific, integrated with JVM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Services: SOAP vs.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Protocol vs. Architectural Style: Bandwidth, Security, and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Cyberpunk-style dual-panel comparison: left panel labeled 'SOAP' with neon pink borders, XML envelope icon, and shield icon; right panel labeled 'REST' with neon cyan borders, URI path icon, and open lock icon. Background: dark grid with XML tags and JSON objects floating. Style: high-contrast, with subtle data stream animations.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Web services solve interoperability, firewall traversal, and complexity issues. SOAP and REST represent two dominant approaches.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206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Architectural style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XML, JSON, HTML, plain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Higher (verbose XML)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 (lightweight formats)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 WS-Security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Inherits from transport (e.g., HTTPS)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 standards (JAX-WS)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Flexible, minimal constraints (JAX-RS)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Less preferred for simple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More preferred for web-scale apps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XML, WSDL, and UDDI: The Foundational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Layered cyberpunk architecture diagram: bottom layer labeled 'XML' (glowing neon cyan text), middle layer labeled 'WSDL' (neon pink), top layer labeled 'UDDI' (neon cyan). Arrows show data flow upward. Background: dark grid with floating XML tags, service registry icons, and WSDL schema fragments.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Web services rely on XML-based technologies for messaging, description, and discovery.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XML: Platform-independent, text-based data format enabling cross-platform communication.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WSDL: XML-based language defining service interface, operations, parameters, and location.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UDDI: Universal Description, Discovery, and Integration registry for publishing and discovering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Cloud Computing: Core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Essential Traits Enabling Scalable, On-Demand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Cyberpunk cloud icon with glowing neon pink outline, floating above a dark grid. Six holographic labels orbit the cloud: 'On-demand Self-Service', 'Broad Network Access', 'Resource Pooling', 'Rapid Elasticity', 'Measured Service', 'Flexible Billing'. Background: abstract server racks with pulsing data 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Cloud computing delivers on-demand resources over the network with key characteristics enabling scalability and cost-efficiency.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On-demand self-service: Users automatically acquire/release resources without provider intervention.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Broad network access: Resources available over standard networks (e.g., HTTP) via thin/thick clients.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Resource pooling: Physical/virtual resources pooled and dynamically assigned (multi-tenant model).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Rapid elasticity: Resources scale instantly and automatically to match demand (appear unlimited).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Measured service: Resource consumption monitored, controlled, and reported for optimization.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Flexible billing: Pay-as-you-go or subscription-based pricing tied to actual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IaaS: Infrastructure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Virtualized Hardware, Dynamic Scaling, and Utility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Cyberpunk-style IaaS stack: bottom layer labeled 'Physical Hardware' (neon pink), middle layer labeled 'Hypervisor' (neon cyan), top layer labeled 'Virtual Machines' (neon pink). Floating icons: VM disk, VLAN, load balancer, IP address. Background: dark grid with server racks and virtualization overlays.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IaaS provides virtualized computing resources over the internet, enabling dynamic scaling and utility-based billing.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206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Dynamic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Resources automatically scale up/down based on application requirements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Service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SLAs guarantee availability (e.g., 99.999%) and dynamic resource allocation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Rental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Pay for usage; physical hardware remains in provider’s data center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Metering &amp;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Charged per instance (CPU, memory, storage per hour); e.g., $0.02–$2.60/hour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Self-Service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Users provision resources via web interfaces without IT intervention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Virtualization: Hypervisor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Type 1 (Bare-Metal) vs. Type 2 (Hosted): Performance vs.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Split-screen cyberpunk comparison: left side labeled 'Type 1 Hypervisor' with neon pink border, bare-metal server icon, and hypervisor directly on hardware; right side labeled 'Type 2 Hypervisor' with neon cyan border, hypervisor on OS layer, and host OS icon. Background: dark grid with virtualization layer overlays.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Hypervisors enable multiple VMs on a single host. Type 1 offers higher performance; Type 2 prioritizes ease of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Type 1 (Bare-Metal): Hypervisor runs directly on hardware (e.g., VMware ESXi, Xen). Higher performance, less overhead.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Type 2 (Hosted): Hypervisor runs on host OS (e.g., VMware Workstation, Hyper-V). Easier to install, more points of failure.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Performance Trade-off: Type 1 supports more VMs per host; Type 2 has OS layer overhead reducing efficiency.</a:t>
            </a:r>
          </a:p>
          <a:p>
            <a:pPr>
              <a:spcAft>
                <a:spcPts val="1000"/>
              </a:spcAft>
              <a:defRPr sz="2200">
                <a:solidFill>
                  <a:srgbClr val="8A8A9E"/>
                </a:solidFill>
              </a:defRPr>
            </a:pPr>
            <a:r>
              <a:t>  •  Use Case: Type 1 for production clouds; Type 2 for development/testing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Distributed Systems: Core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Transparency, Scalability, and Fault Tolerance in Distributed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A8A9E"/>
                </a:solidFill>
              </a:defRPr>
            </a:pPr>
            <a:r>
              <a:t>Visual suggested: Cyberpunk-style distributed system diagram: multiple glowing nodes (servers, clients) connected by neon cyan lines. Floating holographic labels: 'Transparency', 'Scalability', 'Concurrency', 'Heterogeneity', 'Fault Tolerance'. Background: dark grid with abstract data streams and message passing icons.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A8A9E"/>
                </a:solidFill>
              </a:defRPr>
            </a:pPr>
            <a:r>
              <a:t>Distributed systems must achieve transparency, scalability, and resilience despite heterogeneity and failures.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206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Hides distribution: access, location, migration, replication, concurrency, failure, persistence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Effective with significant increases in users/resources (size, geography, administration)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Manages shared resources via fair scheduling, dependency preservation, deadlock avoidance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Heterogeneity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Enables interoperability across OS, hardware, languages, and security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Fault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Continues operation despite component faults (failure = non-compliance; fault = cause)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